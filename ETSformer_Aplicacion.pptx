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8" r:id="rId6"/>
    <p:sldId id="269" r:id="rId7"/>
    <p:sldId id="270" r:id="rId8"/>
    <p:sldId id="271" r:id="rId9"/>
    <p:sldId id="272" r:id="rId10"/>
    <p:sldId id="273" r:id="rId11"/>
    <p:sldId id="274" r:id="rId12"/>
    <p:sldId id="275" r:id="rId13"/>
    <p:sldId id="276" r:id="rId14"/>
    <p:sldId id="277" r:id="rId15"/>
    <p:sldId id="278" r:id="rId16"/>
    <p:sldId id="279" r:id="rId17"/>
    <p:sldId id="260" r:id="rId18"/>
    <p:sldId id="261" r:id="rId19"/>
    <p:sldId id="262" r:id="rId20"/>
    <p:sldId id="263" r:id="rId21"/>
    <p:sldId id="264" r:id="rId22"/>
    <p:sldId id="265" r:id="rId23"/>
    <p:sldId id="266"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860B"/>
    <a:srgbClr val="1E27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lineChart>
        <c:grouping val="standard"/>
        <c:varyColors val="0"/>
        <c:ser>
          <c:idx val="0"/>
          <c:order val="0"/>
          <c:tx>
            <c:strRef>
              <c:f>Sheet1!$B$1</c:f>
              <c:strCache>
                <c:ptCount val="1"/>
                <c:pt idx="0">
                  <c:v>Consumo (kW)</c:v>
                </c:pt>
              </c:strCache>
            </c:strRef>
          </c:tx>
          <c:spPr>
            <a:ln w="19050" cap="flat">
              <a:solidFill>
                <a:srgbClr val="1E2761"/>
              </a:solidFill>
              <a:prstDash val="solid"/>
              <a:round/>
            </a:ln>
            <a:effectLst/>
          </c:spPr>
          <c:marker>
            <c:symbol val="circle"/>
            <c:size val="6"/>
            <c:spPr>
              <a:solidFill>
                <a:srgbClr val="1E2761"/>
              </a:solidFill>
              <a:ln w="9525" cap="flat">
                <a:solidFill>
                  <a:srgbClr val="1E2761"/>
                </a:solidFill>
                <a:prstDash val="solid"/>
                <a:round/>
              </a:ln>
              <a:effectLst/>
            </c:spPr>
          </c:marker>
          <c:cat>
            <c:strRef>
              <c:f>Sheet1!$A$2:$A$169</c:f>
              <c:strCache>
                <c:ptCount val="168"/>
              </c:strCache>
            </c:strRef>
          </c:cat>
          <c:val>
            <c:numRef>
              <c:f>Sheet1!$B$2:$B$169</c:f>
              <c:numCache>
                <c:formatCode>General</c:formatCode>
                <c:ptCount val="168"/>
                <c:pt idx="0">
                  <c:v>0.1</c:v>
                </c:pt>
                <c:pt idx="1">
                  <c:v>0.1</c:v>
                </c:pt>
                <c:pt idx="2">
                  <c:v>0.1</c:v>
                </c:pt>
                <c:pt idx="3">
                  <c:v>0.1</c:v>
                </c:pt>
                <c:pt idx="4">
                  <c:v>0.1</c:v>
                </c:pt>
                <c:pt idx="5">
                  <c:v>0.159</c:v>
                </c:pt>
                <c:pt idx="6">
                  <c:v>0.34300000000000003</c:v>
                </c:pt>
                <c:pt idx="7">
                  <c:v>0.47499999999999998</c:v>
                </c:pt>
                <c:pt idx="8">
                  <c:v>0.54500000000000004</c:v>
                </c:pt>
                <c:pt idx="9">
                  <c:v>0.60899999999999999</c:v>
                </c:pt>
                <c:pt idx="10">
                  <c:v>0.71099999999999997</c:v>
                </c:pt>
                <c:pt idx="11">
                  <c:v>0.81799999999999995</c:v>
                </c:pt>
                <c:pt idx="12">
                  <c:v>0.85399999999999998</c:v>
                </c:pt>
                <c:pt idx="13">
                  <c:v>0.79500000000000004</c:v>
                </c:pt>
                <c:pt idx="14">
                  <c:v>0.69499999999999995</c:v>
                </c:pt>
                <c:pt idx="15">
                  <c:v>0.623</c:v>
                </c:pt>
                <c:pt idx="16">
                  <c:v>0.57499999999999996</c:v>
                </c:pt>
                <c:pt idx="17">
                  <c:v>0.48699999999999999</c:v>
                </c:pt>
                <c:pt idx="18">
                  <c:v>0.32800000000000001</c:v>
                </c:pt>
                <c:pt idx="19">
                  <c:v>0.14299999999999999</c:v>
                </c:pt>
                <c:pt idx="20">
                  <c:v>0.1</c:v>
                </c:pt>
                <c:pt idx="21">
                  <c:v>0.1</c:v>
                </c:pt>
                <c:pt idx="22">
                  <c:v>0.1</c:v>
                </c:pt>
                <c:pt idx="23">
                  <c:v>0.1</c:v>
                </c:pt>
                <c:pt idx="24">
                  <c:v>0.1</c:v>
                </c:pt>
                <c:pt idx="25">
                  <c:v>0.1</c:v>
                </c:pt>
                <c:pt idx="26">
                  <c:v>0.1</c:v>
                </c:pt>
                <c:pt idx="27">
                  <c:v>0.1</c:v>
                </c:pt>
                <c:pt idx="28">
                  <c:v>0.104</c:v>
                </c:pt>
                <c:pt idx="29">
                  <c:v>0.17199999999999999</c:v>
                </c:pt>
                <c:pt idx="30">
                  <c:v>0.26500000000000001</c:v>
                </c:pt>
                <c:pt idx="31">
                  <c:v>0.42</c:v>
                </c:pt>
                <c:pt idx="32">
                  <c:v>0.59699999999999998</c:v>
                </c:pt>
                <c:pt idx="33">
                  <c:v>0.71699999999999997</c:v>
                </c:pt>
                <c:pt idx="34">
                  <c:v>0.751</c:v>
                </c:pt>
                <c:pt idx="35">
                  <c:v>0.754</c:v>
                </c:pt>
                <c:pt idx="36">
                  <c:v>0.78200000000000003</c:v>
                </c:pt>
                <c:pt idx="37">
                  <c:v>0.82099999999999995</c:v>
                </c:pt>
                <c:pt idx="38">
                  <c:v>0.80100000000000005</c:v>
                </c:pt>
                <c:pt idx="39">
                  <c:v>0.68799999999999994</c:v>
                </c:pt>
                <c:pt idx="40">
                  <c:v>0.53100000000000003</c:v>
                </c:pt>
                <c:pt idx="41">
                  <c:v>0.40500000000000003</c:v>
                </c:pt>
                <c:pt idx="42">
                  <c:v>0.32700000000000001</c:v>
                </c:pt>
                <c:pt idx="43">
                  <c:v>0.24</c:v>
                </c:pt>
                <c:pt idx="44">
                  <c:v>0.1</c:v>
                </c:pt>
                <c:pt idx="45">
                  <c:v>0.1</c:v>
                </c:pt>
                <c:pt idx="46">
                  <c:v>0.1</c:v>
                </c:pt>
                <c:pt idx="47">
                  <c:v>0.1</c:v>
                </c:pt>
                <c:pt idx="48">
                  <c:v>0.1</c:v>
                </c:pt>
                <c:pt idx="49">
                  <c:v>0.1</c:v>
                </c:pt>
                <c:pt idx="50">
                  <c:v>0.1</c:v>
                </c:pt>
                <c:pt idx="51">
                  <c:v>0.1</c:v>
                </c:pt>
                <c:pt idx="52">
                  <c:v>0.1</c:v>
                </c:pt>
                <c:pt idx="53">
                  <c:v>0.23100000000000001</c:v>
                </c:pt>
                <c:pt idx="54">
                  <c:v>0.372</c:v>
                </c:pt>
                <c:pt idx="55">
                  <c:v>0.45400000000000001</c:v>
                </c:pt>
                <c:pt idx="56">
                  <c:v>0.53</c:v>
                </c:pt>
                <c:pt idx="57">
                  <c:v>0.64800000000000002</c:v>
                </c:pt>
                <c:pt idx="58">
                  <c:v>0.78400000000000003</c:v>
                </c:pt>
                <c:pt idx="59">
                  <c:v>0.86099999999999999</c:v>
                </c:pt>
                <c:pt idx="60">
                  <c:v>0.84099999999999997</c:v>
                </c:pt>
                <c:pt idx="61">
                  <c:v>0.77200000000000002</c:v>
                </c:pt>
                <c:pt idx="62">
                  <c:v>0.72099999999999997</c:v>
                </c:pt>
                <c:pt idx="63">
                  <c:v>0.69399999999999995</c:v>
                </c:pt>
                <c:pt idx="64">
                  <c:v>0.63</c:v>
                </c:pt>
                <c:pt idx="65">
                  <c:v>0.48599999999999999</c:v>
                </c:pt>
                <c:pt idx="66">
                  <c:v>0.30099999999999999</c:v>
                </c:pt>
                <c:pt idx="67">
                  <c:v>0.155</c:v>
                </c:pt>
                <c:pt idx="68">
                  <c:v>0.1</c:v>
                </c:pt>
                <c:pt idx="69">
                  <c:v>0.1</c:v>
                </c:pt>
                <c:pt idx="70">
                  <c:v>0.1</c:v>
                </c:pt>
                <c:pt idx="71">
                  <c:v>0.1</c:v>
                </c:pt>
                <c:pt idx="72">
                  <c:v>0.1</c:v>
                </c:pt>
                <c:pt idx="73">
                  <c:v>0.1</c:v>
                </c:pt>
                <c:pt idx="74">
                  <c:v>0.1</c:v>
                </c:pt>
                <c:pt idx="75">
                  <c:v>0.1</c:v>
                </c:pt>
                <c:pt idx="76">
                  <c:v>0.1</c:v>
                </c:pt>
                <c:pt idx="77">
                  <c:v>0.159</c:v>
                </c:pt>
                <c:pt idx="78">
                  <c:v>0.307</c:v>
                </c:pt>
                <c:pt idx="79">
                  <c:v>0.49299999999999999</c:v>
                </c:pt>
                <c:pt idx="80">
                  <c:v>0.63700000000000001</c:v>
                </c:pt>
                <c:pt idx="81">
                  <c:v>0.70199999999999996</c:v>
                </c:pt>
                <c:pt idx="82">
                  <c:v>0.73</c:v>
                </c:pt>
                <c:pt idx="83">
                  <c:v>0.78200000000000003</c:v>
                </c:pt>
                <c:pt idx="84">
                  <c:v>0.85299999999999998</c:v>
                </c:pt>
                <c:pt idx="85">
                  <c:v>0.873</c:v>
                </c:pt>
                <c:pt idx="86">
                  <c:v>0.79700000000000004</c:v>
                </c:pt>
                <c:pt idx="87">
                  <c:v>0.66200000000000003</c:v>
                </c:pt>
                <c:pt idx="88">
                  <c:v>0.54500000000000004</c:v>
                </c:pt>
                <c:pt idx="89">
                  <c:v>0.47099999999999997</c:v>
                </c:pt>
                <c:pt idx="90">
                  <c:v>0.38900000000000001</c:v>
                </c:pt>
                <c:pt idx="91">
                  <c:v>0.248</c:v>
                </c:pt>
                <c:pt idx="92">
                  <c:v>0.1</c:v>
                </c:pt>
                <c:pt idx="93">
                  <c:v>0.1</c:v>
                </c:pt>
                <c:pt idx="94">
                  <c:v>0.1</c:v>
                </c:pt>
                <c:pt idx="95">
                  <c:v>0.1</c:v>
                </c:pt>
                <c:pt idx="96">
                  <c:v>0.1</c:v>
                </c:pt>
                <c:pt idx="97">
                  <c:v>0.1</c:v>
                </c:pt>
                <c:pt idx="98">
                  <c:v>0.1</c:v>
                </c:pt>
                <c:pt idx="99">
                  <c:v>0.1</c:v>
                </c:pt>
                <c:pt idx="100">
                  <c:v>0.127</c:v>
                </c:pt>
                <c:pt idx="101">
                  <c:v>0.26700000000000002</c:v>
                </c:pt>
                <c:pt idx="102">
                  <c:v>0.35499999999999998</c:v>
                </c:pt>
                <c:pt idx="103">
                  <c:v>0.434</c:v>
                </c:pt>
                <c:pt idx="104">
                  <c:v>0.56200000000000006</c:v>
                </c:pt>
                <c:pt idx="105">
                  <c:v>0.72</c:v>
                </c:pt>
                <c:pt idx="106">
                  <c:v>0.83299999999999996</c:v>
                </c:pt>
                <c:pt idx="107">
                  <c:v>0.85399999999999998</c:v>
                </c:pt>
                <c:pt idx="108">
                  <c:v>0.81599999999999995</c:v>
                </c:pt>
                <c:pt idx="109">
                  <c:v>0.78900000000000003</c:v>
                </c:pt>
                <c:pt idx="110">
                  <c:v>0.78800000000000003</c:v>
                </c:pt>
                <c:pt idx="111">
                  <c:v>0.754</c:v>
                </c:pt>
                <c:pt idx="112">
                  <c:v>0.63500000000000001</c:v>
                </c:pt>
                <c:pt idx="113">
                  <c:v>0.45900000000000002</c:v>
                </c:pt>
                <c:pt idx="114">
                  <c:v>0.30499999999999999</c:v>
                </c:pt>
                <c:pt idx="115">
                  <c:v>0.214</c:v>
                </c:pt>
                <c:pt idx="116">
                  <c:v>0.14599999999999999</c:v>
                </c:pt>
                <c:pt idx="117">
                  <c:v>0.1</c:v>
                </c:pt>
                <c:pt idx="118">
                  <c:v>0.1</c:v>
                </c:pt>
                <c:pt idx="119">
                  <c:v>0.1</c:v>
                </c:pt>
                <c:pt idx="120">
                  <c:v>0.1</c:v>
                </c:pt>
                <c:pt idx="121">
                  <c:v>0.1</c:v>
                </c:pt>
                <c:pt idx="122">
                  <c:v>0.1</c:v>
                </c:pt>
                <c:pt idx="123">
                  <c:v>0.1</c:v>
                </c:pt>
                <c:pt idx="124">
                  <c:v>0.1</c:v>
                </c:pt>
                <c:pt idx="125">
                  <c:v>0.19400000000000001</c:v>
                </c:pt>
                <c:pt idx="126">
                  <c:v>0.38</c:v>
                </c:pt>
                <c:pt idx="127">
                  <c:v>0.54</c:v>
                </c:pt>
                <c:pt idx="128">
                  <c:v>0.628</c:v>
                </c:pt>
                <c:pt idx="129">
                  <c:v>0.67700000000000005</c:v>
                </c:pt>
                <c:pt idx="130">
                  <c:v>0.751</c:v>
                </c:pt>
                <c:pt idx="131">
                  <c:v>0.85099999999999998</c:v>
                </c:pt>
                <c:pt idx="132">
                  <c:v>0.91100000000000003</c:v>
                </c:pt>
                <c:pt idx="133">
                  <c:v>0.875</c:v>
                </c:pt>
                <c:pt idx="134">
                  <c:v>0.76900000000000002</c:v>
                </c:pt>
                <c:pt idx="135">
                  <c:v>0.66900000000000004</c:v>
                </c:pt>
                <c:pt idx="136">
                  <c:v>0.60699999999999998</c:v>
                </c:pt>
                <c:pt idx="137">
                  <c:v>0.53800000000000003</c:v>
                </c:pt>
                <c:pt idx="138">
                  <c:v>0.40500000000000003</c:v>
                </c:pt>
                <c:pt idx="139">
                  <c:v>0.222</c:v>
                </c:pt>
                <c:pt idx="140">
                  <c:v>0.1</c:v>
                </c:pt>
                <c:pt idx="141">
                  <c:v>0.1</c:v>
                </c:pt>
                <c:pt idx="142">
                  <c:v>0.1</c:v>
                </c:pt>
                <c:pt idx="143">
                  <c:v>0.1</c:v>
                </c:pt>
                <c:pt idx="144">
                  <c:v>0.1</c:v>
                </c:pt>
                <c:pt idx="145">
                  <c:v>0.1</c:v>
                </c:pt>
                <c:pt idx="146">
                  <c:v>0.1</c:v>
                </c:pt>
                <c:pt idx="147">
                  <c:v>0.1</c:v>
                </c:pt>
                <c:pt idx="148">
                  <c:v>0.17</c:v>
                </c:pt>
                <c:pt idx="149">
                  <c:v>0.255</c:v>
                </c:pt>
                <c:pt idx="150">
                  <c:v>0.33100000000000002</c:v>
                </c:pt>
                <c:pt idx="151">
                  <c:v>0.45900000000000002</c:v>
                </c:pt>
                <c:pt idx="152">
                  <c:v>0.63200000000000001</c:v>
                </c:pt>
                <c:pt idx="153">
                  <c:v>0.77600000000000002</c:v>
                </c:pt>
                <c:pt idx="154">
                  <c:v>0.83299999999999996</c:v>
                </c:pt>
                <c:pt idx="155">
                  <c:v>0.82699999999999996</c:v>
                </c:pt>
                <c:pt idx="156">
                  <c:v>0.82599999999999996</c:v>
                </c:pt>
                <c:pt idx="157">
                  <c:v>0.85299999999999998</c:v>
                </c:pt>
                <c:pt idx="158">
                  <c:v>0.85299999999999998</c:v>
                </c:pt>
                <c:pt idx="159">
                  <c:v>0.76600000000000001</c:v>
                </c:pt>
                <c:pt idx="160">
                  <c:v>0.60799999999999998</c:v>
                </c:pt>
                <c:pt idx="161">
                  <c:v>0.45600000000000002</c:v>
                </c:pt>
                <c:pt idx="162">
                  <c:v>0.35899999999999999</c:v>
                </c:pt>
                <c:pt idx="163">
                  <c:v>0.28499999999999998</c:v>
                </c:pt>
                <c:pt idx="164">
                  <c:v>0.17299999999999999</c:v>
                </c:pt>
                <c:pt idx="165">
                  <c:v>0.1</c:v>
                </c:pt>
                <c:pt idx="166">
                  <c:v>0.1</c:v>
                </c:pt>
                <c:pt idx="167">
                  <c:v>0.1</c:v>
                </c:pt>
              </c:numCache>
            </c:numRef>
          </c:val>
          <c:smooth val="1"/>
          <c:extLst>
            <c:ext xmlns:c16="http://schemas.microsoft.com/office/drawing/2014/chart" uri="{C3380CC4-5D6E-409C-BE32-E72D297353CC}">
              <c16:uniqueId val="{00000000-7D15-45F7-9F74-90B71F64142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 b="0" i="0" u="none" strike="noStrike">
                <a:solidFill>
                  <a:srgbClr val="FFFFFF"/>
                </a:solidFill>
                <a:latin typeface="Arial"/>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Arial"/>
              </a:defRPr>
            </a:pPr>
            <a:endParaRPr lang="es-PE"/>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lineChart>
        <c:grouping val="standard"/>
        <c:varyColors val="0"/>
        <c:ser>
          <c:idx val="0"/>
          <c:order val="0"/>
          <c:tx>
            <c:strRef>
              <c:f>Sheet1!$B$1</c:f>
              <c:strCache>
                <c:ptCount val="1"/>
                <c:pt idx="0">
                  <c:v>Real</c:v>
                </c:pt>
              </c:strCache>
            </c:strRef>
          </c:tx>
          <c:spPr>
            <a:ln w="31750" cap="flat">
              <a:solidFill>
                <a:srgbClr val="1E2761"/>
              </a:solidFill>
              <a:prstDash val="solid"/>
              <a:round/>
            </a:ln>
            <a:effectLst/>
          </c:spPr>
          <c:marker>
            <c:symbol val="circle"/>
            <c:size val="6"/>
            <c:spPr>
              <a:solidFill>
                <a:srgbClr val="1E2761"/>
              </a:solidFill>
              <a:ln w="9525" cap="flat">
                <a:solidFill>
                  <a:srgbClr val="1E2761"/>
                </a:solidFill>
                <a:prstDash val="solid"/>
                <a:round/>
              </a:ln>
              <a:effectLst/>
            </c:spPr>
          </c:marker>
          <c:cat>
            <c:strRef>
              <c:f>Sheet1!$A$2:$A$13</c:f>
              <c:strCache>
                <c:ptCount val="12"/>
                <c:pt idx="0">
                  <c:v>+15min</c:v>
                </c:pt>
                <c:pt idx="1">
                  <c:v>+30min</c:v>
                </c:pt>
                <c:pt idx="2">
                  <c:v>+45min</c:v>
                </c:pt>
                <c:pt idx="3">
                  <c:v>+60min</c:v>
                </c:pt>
                <c:pt idx="4">
                  <c:v>+75min</c:v>
                </c:pt>
                <c:pt idx="5">
                  <c:v>+90min</c:v>
                </c:pt>
                <c:pt idx="6">
                  <c:v>+105min</c:v>
                </c:pt>
                <c:pt idx="7">
                  <c:v>+120min</c:v>
                </c:pt>
                <c:pt idx="8">
                  <c:v>+135min</c:v>
                </c:pt>
                <c:pt idx="9">
                  <c:v>+150min</c:v>
                </c:pt>
                <c:pt idx="10">
                  <c:v>+165min</c:v>
                </c:pt>
                <c:pt idx="11">
                  <c:v>+180min</c:v>
                </c:pt>
              </c:strCache>
            </c:strRef>
          </c:cat>
          <c:val>
            <c:numRef>
              <c:f>Sheet1!$B$2:$B$13</c:f>
              <c:numCache>
                <c:formatCode>General</c:formatCode>
                <c:ptCount val="12"/>
                <c:pt idx="0">
                  <c:v>0.52300000000000002</c:v>
                </c:pt>
                <c:pt idx="1">
                  <c:v>-6.9000000000000006E-2</c:v>
                </c:pt>
                <c:pt idx="2">
                  <c:v>5.8999999999999997E-2</c:v>
                </c:pt>
                <c:pt idx="3">
                  <c:v>0.17599999999999999</c:v>
                </c:pt>
                <c:pt idx="4">
                  <c:v>0.17</c:v>
                </c:pt>
                <c:pt idx="5">
                  <c:v>6.4000000000000001E-2</c:v>
                </c:pt>
                <c:pt idx="6">
                  <c:v>0.40699999999999997</c:v>
                </c:pt>
                <c:pt idx="7">
                  <c:v>0.27600000000000002</c:v>
                </c:pt>
                <c:pt idx="8">
                  <c:v>0.27900000000000003</c:v>
                </c:pt>
                <c:pt idx="9">
                  <c:v>8.8999999999999996E-2</c:v>
                </c:pt>
                <c:pt idx="10">
                  <c:v>0.246</c:v>
                </c:pt>
                <c:pt idx="11">
                  <c:v>9.4E-2</c:v>
                </c:pt>
              </c:numCache>
            </c:numRef>
          </c:val>
          <c:smooth val="1"/>
          <c:extLst>
            <c:ext xmlns:c16="http://schemas.microsoft.com/office/drawing/2014/chart" uri="{C3380CC4-5D6E-409C-BE32-E72D297353CC}">
              <c16:uniqueId val="{00000000-BD71-4B54-847C-C78025EDD395}"/>
            </c:ext>
          </c:extLst>
        </c:ser>
        <c:ser>
          <c:idx val="1"/>
          <c:order val="1"/>
          <c:tx>
            <c:strRef>
              <c:f>Sheet1!$C$1</c:f>
              <c:strCache>
                <c:ptCount val="1"/>
                <c:pt idx="0">
                  <c:v>Predicción</c:v>
                </c:pt>
              </c:strCache>
            </c:strRef>
          </c:tx>
          <c:spPr>
            <a:ln w="31750" cap="flat">
              <a:solidFill>
                <a:srgbClr val="B8860B"/>
              </a:solidFill>
              <a:prstDash val="solid"/>
              <a:round/>
            </a:ln>
            <a:effectLst/>
          </c:spPr>
          <c:marker>
            <c:symbol val="circle"/>
            <c:size val="6"/>
            <c:spPr>
              <a:solidFill>
                <a:srgbClr val="B8860B"/>
              </a:solidFill>
              <a:ln w="9525" cap="flat">
                <a:solidFill>
                  <a:srgbClr val="B8860B"/>
                </a:solidFill>
                <a:prstDash val="solid"/>
                <a:round/>
              </a:ln>
              <a:effectLst/>
            </c:spPr>
          </c:marker>
          <c:cat>
            <c:strRef>
              <c:f>Sheet1!$A$2:$A$13</c:f>
              <c:strCache>
                <c:ptCount val="12"/>
                <c:pt idx="0">
                  <c:v>+15min</c:v>
                </c:pt>
                <c:pt idx="1">
                  <c:v>+30min</c:v>
                </c:pt>
                <c:pt idx="2">
                  <c:v>+45min</c:v>
                </c:pt>
                <c:pt idx="3">
                  <c:v>+60min</c:v>
                </c:pt>
                <c:pt idx="4">
                  <c:v>+75min</c:v>
                </c:pt>
                <c:pt idx="5">
                  <c:v>+90min</c:v>
                </c:pt>
                <c:pt idx="6">
                  <c:v>+105min</c:v>
                </c:pt>
                <c:pt idx="7">
                  <c:v>+120min</c:v>
                </c:pt>
                <c:pt idx="8">
                  <c:v>+135min</c:v>
                </c:pt>
                <c:pt idx="9">
                  <c:v>+150min</c:v>
                </c:pt>
                <c:pt idx="10">
                  <c:v>+165min</c:v>
                </c:pt>
                <c:pt idx="11">
                  <c:v>+180min</c:v>
                </c:pt>
              </c:strCache>
            </c:strRef>
          </c:cat>
          <c:val>
            <c:numRef>
              <c:f>Sheet1!$C$2:$C$13</c:f>
              <c:numCache>
                <c:formatCode>General</c:formatCode>
                <c:ptCount val="12"/>
                <c:pt idx="0">
                  <c:v>0.21299999999999999</c:v>
                </c:pt>
                <c:pt idx="1">
                  <c:v>0.22900000000000001</c:v>
                </c:pt>
                <c:pt idx="2">
                  <c:v>0.14099999999999999</c:v>
                </c:pt>
                <c:pt idx="3">
                  <c:v>0.128</c:v>
                </c:pt>
                <c:pt idx="4">
                  <c:v>0.13900000000000001</c:v>
                </c:pt>
                <c:pt idx="5">
                  <c:v>5.7000000000000002E-2</c:v>
                </c:pt>
                <c:pt idx="6">
                  <c:v>7.9000000000000001E-2</c:v>
                </c:pt>
                <c:pt idx="7">
                  <c:v>8.5000000000000006E-2</c:v>
                </c:pt>
                <c:pt idx="8">
                  <c:v>2.7E-2</c:v>
                </c:pt>
                <c:pt idx="9">
                  <c:v>8.5000000000000006E-2</c:v>
                </c:pt>
                <c:pt idx="10">
                  <c:v>0.09</c:v>
                </c:pt>
                <c:pt idx="11">
                  <c:v>6.8000000000000005E-2</c:v>
                </c:pt>
              </c:numCache>
            </c:numRef>
          </c:val>
          <c:smooth val="1"/>
          <c:extLst>
            <c:ext xmlns:c16="http://schemas.microsoft.com/office/drawing/2014/chart" uri="{C3380CC4-5D6E-409C-BE32-E72D297353CC}">
              <c16:uniqueId val="{00000001-BD71-4B54-847C-C78025EDD39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00" b="0" i="0" u="none" strike="noStrike">
                <a:solidFill>
                  <a:srgbClr val="4A5568"/>
                </a:solidFill>
                <a:latin typeface="Arial"/>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A5568"/>
                </a:solidFill>
                <a:latin typeface="Arial"/>
              </a:defRPr>
            </a:pPr>
            <a:endParaRPr lang="es-PE"/>
          </a:p>
        </c:txPr>
        <c:crossAx val="2094734554"/>
        <c:crosses val="autoZero"/>
        <c:crossBetween val="between"/>
      </c:valAx>
      <c:spPr>
        <a:noFill/>
        <a:ln>
          <a:noFill/>
        </a:ln>
        <a:effectLst/>
      </c:spPr>
    </c:plotArea>
    <c:legend>
      <c:legendPos val="t"/>
      <c:overlay val="0"/>
      <c:txPr>
        <a:bodyPr/>
        <a:lstStyle/>
        <a:p>
          <a:pPr>
            <a:defRPr sz="1100">
              <a:solidFill>
                <a:srgbClr val="4A5568"/>
              </a:solidFill>
            </a:defRPr>
          </a:pPr>
          <a:endParaRPr lang="es-PE"/>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921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seg] Apertura.</a:t>
            </a:r>
          </a:p>
          <a:p>
            <a:endParaRPr/>
          </a:p>
          <a:p>
            <a:r>
              <a:t>Buenos dias. Hoy presentamos una aplicacion practica de ETSformer: pronostico de consumo electrico usando un dataset real de la UCI. Mi compañero/a hara la demo en vivo del notebook al final.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seg] Hook.</a:t>
            </a:r>
          </a:p>
          <a:p>
            <a:endParaRPr/>
          </a:p>
          <a:p>
            <a:r>
              <a:t>(Lectura pausada) ¿Cuanta luz consumira la ciudad mañana a las 8 PM?</a:t>
            </a:r>
          </a:p>
          <a:p>
            <a:endParaRPr/>
          </a:p>
          <a:p>
            <a:r>
              <a:t>(Pausa 2 segundos)</a:t>
            </a:r>
          </a:p>
          <a:p>
            <a:endParaRPr/>
          </a:p>
          <a:p>
            <a:r>
              <a:t>Es una pregunta de millones de dolares para cualquier empresa electrica. Veamos como ETSformer responde con un caso real.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Recordatorio rapido.</a:t>
            </a:r>
          </a:p>
          <a:p>
            <a:endParaRPr/>
          </a:p>
          <a:p>
            <a:r>
              <a:t>Para los que necesitan el contexto: ETSformer es la propuesta de Salesforce Research del 2022 que combina el suavizado exponencial clasico con la arquitectura Transformer.</a:t>
            </a:r>
          </a:p>
          <a:p>
            <a:endParaRPr/>
          </a:p>
          <a:p>
            <a:r>
              <a:t>Tres ideas clave: descompone la serie en Nivel, Crecimiento y Estacionalidad. Introduce dos nuevas atenciones: ESA y FA. Y mantiene complejidad O(L log L), lo que lo hace eficiente.</a:t>
            </a:r>
          </a:p>
          <a:p>
            <a:endParaRPr/>
          </a:p>
          <a:p>
            <a:r>
              <a:t>(Avanzar)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24051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23651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5596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15796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37660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56449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5365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814294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067895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392914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0629532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Caso de estudio.</a:t>
            </a:r>
          </a:p>
          <a:p>
            <a:endParaRPr/>
          </a:p>
          <a:p>
            <a:r>
              <a:t>(Señalar las tarjetas de la izquierda) Para una empresa electrica predecir el consumo importa por tres razones: planificacion de la red, evitar apagones, y optimizar costos.</a:t>
            </a:r>
          </a:p>
          <a:p>
            <a:endParaRPr/>
          </a:p>
          <a:p>
            <a:r>
              <a:t>(Señalar la caja oscura de la derecha) El reto fundamental es que la energia no se puede guardar facilmente. Lo que se produce se consume casi en tiempo real. Por eso predecir bien la demanda es critico para el negocio.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20038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Dataset.</a:t>
            </a:r>
          </a:p>
          <a:p>
            <a:endParaRPr/>
          </a:p>
          <a:p>
            <a:r>
              <a:t>Usamos LD2011_2014 del repositorio UCI: consumo electrico real de 370 clientes en Portugal, con mediciones cada 15 minutos durante 4 años.</a:t>
            </a:r>
          </a:p>
          <a:p>
            <a:endParaRPr/>
          </a:p>
          <a:p>
            <a:r>
              <a:t>(Señalar la ficha izquierda) Total: 140 mil filas. Tomamos el cliente con mayor consumo (MT_362) y la ventana desde 2012.</a:t>
            </a:r>
          </a:p>
          <a:p>
            <a:endParaRPr/>
          </a:p>
          <a:p>
            <a:r>
              <a:t>(Señalar el grafico derecho) Vista previa de 2 semanas: vemos claramente el patron diario, los picos en la noche y los ciclos repetitivos. Esto es exactamente lo que ETSformer puede modelar bien.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seg] Metodologia.</a:t>
            </a:r>
          </a:p>
          <a:p>
            <a:endParaRPr/>
          </a:p>
          <a:p>
            <a:r>
              <a:t>(Señalar el pipeline superior) El proceso completo es: carga de datos, seleccion de un cliente, preprocesamiento, entrenamiento del modelo, y generacion de la prediccion.</a:t>
            </a:r>
          </a:p>
          <a:p>
            <a:endParaRPr/>
          </a:p>
          <a:p>
            <a:r>
              <a:t>(Señalar la tabla inferior) Configuracion principal: usamos 48 pasos de historia (12 horas) para predecir 12 pasos adelante (3 horas). Modo univariado, una sola frecuencia de Fourier (K=1), y un modelo compacto (d_model=32).</a:t>
            </a:r>
          </a:p>
          <a:p>
            <a:endParaRPr/>
          </a:p>
          <a:p>
            <a:r>
              <a:t>Importante: corrimos solo 1 epoca por demostracion. En produccion se entrenaria mucho mas.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seg] Resultados.</a:t>
            </a:r>
          </a:p>
          <a:p>
            <a:endParaRPr/>
          </a:p>
          <a:p>
            <a:r>
              <a:t>(Izquierda) En validacion el modelo logro MSE de 0.196 y MAE de 0.352. En test fue mas alto (0.629 y 0.609) porque el modelo apenas entreno una epoca.</a:t>
            </a:r>
          </a:p>
          <a:p>
            <a:endParaRPr/>
          </a:p>
          <a:p>
            <a:r>
              <a:t>(Derecha — señalar el grafico) Aqui comparamos prediccion contra valor real en el primer ejemplo del test. El modelo captura la direccion general y suaviza las fluctuaciones rapidas, pero pierde algo de detalle en los picos.</a:t>
            </a:r>
          </a:p>
          <a:p>
            <a:endParaRPr/>
          </a:p>
          <a:p>
            <a:r>
              <a:t>Conclusion: con mas entrenamiento, los resultados mejorarian considerablemente.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seg] Interpretacion de negocio.</a:t>
            </a:r>
          </a:p>
          <a:p>
            <a:endParaRPr/>
          </a:p>
          <a:p>
            <a:r>
              <a:t>Para una empresa electrica este modelo aporta valor en cuatro frentes:</a:t>
            </a:r>
          </a:p>
          <a:p>
            <a:endParaRPr/>
          </a:p>
          <a:p>
            <a:r>
              <a:t>Planificacion de la red: anticipar con horas de antelacion permite encender generadores eficientes y reducir costos operativos.</a:t>
            </a:r>
          </a:p>
          <a:p>
            <a:endParaRPr/>
          </a:p>
          <a:p>
            <a:r>
              <a:t>Picos de demanda: detectar antes los picos criticos evita apagones y sobrecargas de la red.</a:t>
            </a:r>
          </a:p>
          <a:p>
            <a:endParaRPr/>
          </a:p>
          <a:p>
            <a:r>
              <a:t>Trading: pronosticos precisos mejoran la compra de energia en mercados spot y la oferta de contratos a futuro.</a:t>
            </a:r>
          </a:p>
          <a:p>
            <a:endParaRPr/>
          </a:p>
          <a:p>
            <a:r>
              <a:t>Atencion al cliente: detectar consumos anomalos permite alertar sobre fugas, fraudes o equipos defectuosos.</a:t>
            </a:r>
          </a:p>
          <a:p>
            <a:endParaRPr/>
          </a:p>
          <a:p>
            <a:r>
              <a:t>En resumen: predecir bien la demanda reduce costos, evita perdidas y mejora el servicio.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seg + 7 min demo] Transicion al demo.</a:t>
            </a:r>
          </a:p>
          <a:p>
            <a:endParaRPr/>
          </a:p>
          <a:p>
            <a:r>
              <a:t>Hasta aqui les explique la aplicacion. A continuacion mi compañero/a va a ejecutar el notebook completo en vivo desde Databricks, paso por paso, para que vean los resultados reales.</a:t>
            </a:r>
          </a:p>
          <a:p>
            <a:endParaRPr/>
          </a:p>
          <a:p>
            <a:r>
              <a:t>(Ceder la palabra al compañero/a. Estimar 7 minutos para la demo)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seg] Conclusiones.</a:t>
            </a:r>
          </a:p>
          <a:p>
            <a:endParaRPr/>
          </a:p>
          <a:p>
            <a:r>
              <a:t>Cuatro cosas que demostramos hoy:</a:t>
            </a:r>
          </a:p>
          <a:p>
            <a:endParaRPr/>
          </a:p>
          <a:p>
            <a:r>
              <a:t>ETSformer es aplicable: pudimos entrenarlo sobre un dataset real con el codigo del repositorio oficial.</a:t>
            </a:r>
          </a:p>
          <a:p>
            <a:endParaRPr/>
          </a:p>
          <a:p>
            <a:r>
              <a:t>Captura patrones temporales: reconoce ciclos diarios y suaviza ruido, consistente con su diseño basado en suavizado exponencial.</a:t>
            </a:r>
          </a:p>
          <a:p>
            <a:endParaRPr/>
          </a:p>
          <a:p>
            <a:r>
              <a:t>Valor de negocio claro: para una empresa electrica significa ahorros, anticipacion y mejor servicio.</a:t>
            </a:r>
          </a:p>
          <a:p>
            <a:endParaRPr/>
          </a:p>
          <a:p>
            <a:r>
              <a:t>Camino a produccion: con mas entrenamiento y un horizonte ajustado, este modelo es desplegable en un entorno real.</a:t>
            </a:r>
          </a:p>
          <a:p>
            <a:endParaRPr/>
          </a:p>
          <a:p>
            <a:r>
              <a:t>Combinar teoria mas practica es la mejor forma de aprender.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seg] Cierre.</a:t>
            </a:r>
          </a:p>
          <a:p>
            <a:endParaRPr/>
          </a:p>
          <a:p>
            <a:r>
              <a:t>Muchas gracias por su atencion. Quedamos abiertos a sus preguntas sobre el paper, la implementacion o las aplicaciones.</a:t>
            </a:r>
          </a:p>
          <a:p>
            <a:endParaRPr/>
          </a:p>
          <a:p>
            <a:r>
              <a:t>Los entregables (PPT y notebook) estan disponibles, el notebook en GitHub.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AF7"/>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sp>
      <p:sp>
        <p:nvSpPr>
          <p:cNvPr id="3" name="Shape 1"/>
          <p:cNvSpPr/>
          <p:nvPr/>
        </p:nvSpPr>
        <p:spPr>
          <a:xfrm>
            <a:off x="0" y="164592"/>
            <a:ext cx="12161520" cy="1280160"/>
          </a:xfrm>
          <a:prstGeom prst="rect">
            <a:avLst/>
          </a:prstGeom>
          <a:solidFill>
            <a:srgbClr val="1E2761"/>
          </a:solidFill>
          <a:ln/>
        </p:spPr>
      </p:sp>
      <p:sp>
        <p:nvSpPr>
          <p:cNvPr id="4" name="Text 2"/>
          <p:cNvSpPr/>
          <p:nvPr/>
        </p:nvSpPr>
        <p:spPr>
          <a:xfrm>
            <a:off x="640080" y="411480"/>
            <a:ext cx="10972800" cy="365760"/>
          </a:xfrm>
          <a:prstGeom prst="rect">
            <a:avLst/>
          </a:prstGeom>
          <a:noFill/>
          <a:ln/>
        </p:spPr>
        <p:txBody>
          <a:bodyPr wrap="square" lIns="0" tIns="0" rIns="0" bIns="0" rtlCol="0" anchor="ctr"/>
          <a:lstStyle/>
          <a:p>
            <a:pPr marL="0" indent="0">
              <a:buNone/>
            </a:pPr>
            <a:r>
              <a:rPr lang="en-US" sz="1100" b="1" kern="0" spc="500" dirty="0">
                <a:solidFill>
                  <a:srgbClr val="C9A961"/>
                </a:solidFill>
                <a:latin typeface="Calibri" pitchFamily="34" charset="0"/>
                <a:ea typeface="Calibri" pitchFamily="34" charset="-122"/>
                <a:cs typeface="Calibri" pitchFamily="34" charset="-120"/>
              </a:rPr>
              <a:t>APLICACIÓN PRÁCTICA  ·  CASO REAL</a:t>
            </a:r>
            <a:endParaRPr lang="en-US" sz="1100" dirty="0"/>
          </a:p>
        </p:txBody>
      </p:sp>
      <p:sp>
        <p:nvSpPr>
          <p:cNvPr id="5" name="Text 3"/>
          <p:cNvSpPr/>
          <p:nvPr/>
        </p:nvSpPr>
        <p:spPr>
          <a:xfrm>
            <a:off x="640080" y="822960"/>
            <a:ext cx="10972800" cy="36576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ETSformer aplicado a:</a:t>
            </a:r>
            <a:endParaRPr lang="en-US" sz="1400" dirty="0"/>
          </a:p>
        </p:txBody>
      </p:sp>
      <p:pic>
        <p:nvPicPr>
          <p:cNvPr id="6" name="Image 0" descr="preencoded.png"/>
          <p:cNvPicPr>
            <a:picLocks noChangeAspect="1"/>
          </p:cNvPicPr>
          <p:nvPr/>
        </p:nvPicPr>
        <p:blipFill>
          <a:blip r:embed="rId3"/>
          <a:stretch>
            <a:fillRect/>
          </a:stretch>
        </p:blipFill>
        <p:spPr>
          <a:xfrm>
            <a:off x="640080" y="1828800"/>
            <a:ext cx="822960" cy="822960"/>
          </a:xfrm>
          <a:prstGeom prst="rect">
            <a:avLst/>
          </a:prstGeom>
        </p:spPr>
      </p:pic>
      <p:sp>
        <p:nvSpPr>
          <p:cNvPr id="7" name="Text 4"/>
          <p:cNvSpPr/>
          <p:nvPr/>
        </p:nvSpPr>
        <p:spPr>
          <a:xfrm>
            <a:off x="640080" y="2743200"/>
            <a:ext cx="10881360" cy="822960"/>
          </a:xfrm>
          <a:prstGeom prst="rect">
            <a:avLst/>
          </a:prstGeom>
          <a:noFill/>
          <a:ln/>
        </p:spPr>
        <p:txBody>
          <a:bodyPr wrap="square" lIns="0" tIns="0" rIns="0" bIns="0" rtlCol="0" anchor="ctr"/>
          <a:lstStyle/>
          <a:p>
            <a:pPr marL="0" indent="0">
              <a:buNone/>
            </a:pPr>
            <a:r>
              <a:rPr lang="en-US" sz="4200" b="1" dirty="0">
                <a:solidFill>
                  <a:srgbClr val="1E2761"/>
                </a:solidFill>
                <a:latin typeface="Georgia" pitchFamily="34" charset="0"/>
                <a:ea typeface="Georgia" pitchFamily="34" charset="-122"/>
                <a:cs typeface="Georgia" pitchFamily="34" charset="-120"/>
              </a:rPr>
              <a:t>Pronóstico de</a:t>
            </a:r>
            <a:endParaRPr lang="en-US" sz="4200" dirty="0"/>
          </a:p>
        </p:txBody>
      </p:sp>
      <p:sp>
        <p:nvSpPr>
          <p:cNvPr id="8" name="Text 5"/>
          <p:cNvSpPr/>
          <p:nvPr/>
        </p:nvSpPr>
        <p:spPr>
          <a:xfrm>
            <a:off x="640080" y="3566160"/>
            <a:ext cx="10881360" cy="1005840"/>
          </a:xfrm>
          <a:prstGeom prst="rect">
            <a:avLst/>
          </a:prstGeom>
          <a:noFill/>
          <a:ln/>
        </p:spPr>
        <p:txBody>
          <a:bodyPr wrap="square" lIns="0" tIns="0" rIns="0" bIns="0" rtlCol="0" anchor="ctr"/>
          <a:lstStyle/>
          <a:p>
            <a:pPr marL="0" indent="0">
              <a:buNone/>
            </a:pPr>
            <a:r>
              <a:rPr lang="en-US" sz="5800" b="1" dirty="0">
                <a:solidFill>
                  <a:srgbClr val="1E2761"/>
                </a:solidFill>
                <a:latin typeface="Georgia" pitchFamily="34" charset="0"/>
                <a:ea typeface="Georgia" pitchFamily="34" charset="-122"/>
                <a:cs typeface="Georgia" pitchFamily="34" charset="-120"/>
              </a:rPr>
              <a:t>consumo eléctrico</a:t>
            </a:r>
            <a:endParaRPr lang="en-US" sz="5800" dirty="0"/>
          </a:p>
        </p:txBody>
      </p:sp>
      <p:sp>
        <p:nvSpPr>
          <p:cNvPr id="9" name="Shape 6"/>
          <p:cNvSpPr/>
          <p:nvPr/>
        </p:nvSpPr>
        <p:spPr>
          <a:xfrm>
            <a:off x="640080" y="4754880"/>
            <a:ext cx="1371600" cy="36576"/>
          </a:xfrm>
          <a:prstGeom prst="rect">
            <a:avLst/>
          </a:prstGeom>
          <a:solidFill>
            <a:srgbClr val="B8860B"/>
          </a:solidFill>
          <a:ln/>
        </p:spPr>
      </p:sp>
      <p:sp>
        <p:nvSpPr>
          <p:cNvPr id="10" name="Text 7"/>
          <p:cNvSpPr/>
          <p:nvPr/>
        </p:nvSpPr>
        <p:spPr>
          <a:xfrm>
            <a:off x="640080" y="4892040"/>
            <a:ext cx="10972800" cy="365760"/>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Dataset:  LD2011_2014  ·  370 clientes  ·  Mediciones cada 15 min</a:t>
            </a:r>
            <a:endParaRPr lang="en-US" sz="1400" dirty="0"/>
          </a:p>
        </p:txBody>
      </p:sp>
      <p:sp>
        <p:nvSpPr>
          <p:cNvPr id="11" name="Text 8"/>
          <p:cNvSpPr/>
          <p:nvPr/>
        </p:nvSpPr>
        <p:spPr>
          <a:xfrm>
            <a:off x="640080" y="5212080"/>
            <a:ext cx="10972800" cy="365760"/>
          </a:xfrm>
          <a:prstGeom prst="rect">
            <a:avLst/>
          </a:prstGeom>
          <a:noFill/>
          <a:ln/>
        </p:spPr>
        <p:txBody>
          <a:bodyPr wrap="square" lIns="0" tIns="0" rIns="0" bIns="0"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UCI Machine Learning Repository  ·  Consumo eléctrico real (Portugal, 2011-2014)</a:t>
            </a:r>
            <a:endParaRPr lang="en-US" sz="1200" dirty="0"/>
          </a:p>
        </p:txBody>
      </p:sp>
      <p:sp>
        <p:nvSpPr>
          <p:cNvPr id="12" name="Shape 9"/>
          <p:cNvSpPr/>
          <p:nvPr/>
        </p:nvSpPr>
        <p:spPr>
          <a:xfrm>
            <a:off x="640080" y="5577840"/>
            <a:ext cx="5486400" cy="777240"/>
          </a:xfrm>
          <a:prstGeom prst="rect">
            <a:avLst/>
          </a:prstGeom>
          <a:solidFill>
            <a:srgbClr val="E8EDF5"/>
          </a:solidFill>
          <a:ln/>
        </p:spPr>
      </p:sp>
      <p:sp>
        <p:nvSpPr>
          <p:cNvPr id="13" name="Shape 10"/>
          <p:cNvSpPr/>
          <p:nvPr/>
        </p:nvSpPr>
        <p:spPr>
          <a:xfrm>
            <a:off x="640080" y="5577840"/>
            <a:ext cx="73152" cy="777240"/>
          </a:xfrm>
          <a:prstGeom prst="rect">
            <a:avLst/>
          </a:prstGeom>
          <a:solidFill>
            <a:srgbClr val="B8860B"/>
          </a:solidFill>
          <a:ln/>
        </p:spPr>
      </p:sp>
      <p:sp>
        <p:nvSpPr>
          <p:cNvPr id="14" name="Text 11"/>
          <p:cNvSpPr/>
          <p:nvPr/>
        </p:nvSpPr>
        <p:spPr>
          <a:xfrm>
            <a:off x="868680" y="5650992"/>
            <a:ext cx="5029200" cy="256032"/>
          </a:xfrm>
          <a:prstGeom prst="rect">
            <a:avLst/>
          </a:prstGeom>
          <a:noFill/>
          <a:ln/>
        </p:spPr>
        <p:txBody>
          <a:bodyPr wrap="square" lIns="0" tIns="0" rIns="0" bIns="0" rtlCol="0" anchor="ctr"/>
          <a:lstStyle/>
          <a:p>
            <a:pPr marL="0" indent="0">
              <a:buNone/>
            </a:pPr>
            <a:r>
              <a:rPr lang="en-US" sz="900" b="1" kern="0" spc="400" dirty="0">
                <a:solidFill>
                  <a:srgbClr val="B8860B"/>
                </a:solidFill>
                <a:latin typeface="Calibri" pitchFamily="34" charset="0"/>
                <a:ea typeface="Calibri" pitchFamily="34" charset="-122"/>
                <a:cs typeface="Calibri" pitchFamily="34" charset="-120"/>
              </a:rPr>
              <a:t>PRESENTADO POR</a:t>
            </a:r>
            <a:endParaRPr lang="en-US" sz="900" dirty="0"/>
          </a:p>
        </p:txBody>
      </p:sp>
      <p:sp>
        <p:nvSpPr>
          <p:cNvPr id="15" name="Text 12"/>
          <p:cNvSpPr/>
          <p:nvPr/>
        </p:nvSpPr>
        <p:spPr>
          <a:xfrm>
            <a:off x="868680" y="5943600"/>
            <a:ext cx="5029200" cy="365760"/>
          </a:xfrm>
          <a:prstGeom prst="rect">
            <a:avLst/>
          </a:prstGeom>
          <a:noFill/>
          <a:ln/>
        </p:spPr>
        <p:txBody>
          <a:bodyPr wrap="square" lIns="0" tIns="0" rIns="0" bIns="0" rtlCol="0" anchor="ctr"/>
          <a:lstStyle/>
          <a:p>
            <a:pPr marL="0" indent="0">
              <a:buNone/>
            </a:pPr>
            <a:r>
              <a:rPr lang="en-US" sz="1400" b="1" dirty="0">
                <a:solidFill>
                  <a:srgbClr val="1E2761"/>
                </a:solidFill>
                <a:latin typeface="Georgia" pitchFamily="34" charset="0"/>
                <a:ea typeface="Georgia" pitchFamily="34" charset="-122"/>
                <a:cs typeface="Georgia" pitchFamily="34" charset="-120"/>
              </a:rPr>
              <a:t>Analy Quesquen  ·  Grupo de Diplomado</a:t>
            </a:r>
            <a:endParaRPr lang="en-US" sz="1400" dirty="0"/>
          </a:p>
        </p:txBody>
      </p:sp>
      <p:sp>
        <p:nvSpPr>
          <p:cNvPr id="16" name="Text 13"/>
          <p:cNvSpPr/>
          <p:nvPr/>
        </p:nvSpPr>
        <p:spPr>
          <a:xfrm>
            <a:off x="868680" y="6217920"/>
            <a:ext cx="502920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Mayo de 2026</a:t>
            </a:r>
            <a:endParaRPr lang="en-US" sz="1000" dirty="0"/>
          </a:p>
        </p:txBody>
      </p:sp>
      <p:sp>
        <p:nvSpPr>
          <p:cNvPr id="17" name="Shape 14"/>
          <p:cNvSpPr/>
          <p:nvPr/>
        </p:nvSpPr>
        <p:spPr>
          <a:xfrm>
            <a:off x="8229600" y="5577840"/>
            <a:ext cx="3291840" cy="777240"/>
          </a:xfrm>
          <a:prstGeom prst="rect">
            <a:avLst/>
          </a:prstGeom>
          <a:solidFill>
            <a:srgbClr val="1E2761"/>
          </a:solidFill>
          <a:ln/>
        </p:spPr>
      </p:sp>
      <p:pic>
        <p:nvPicPr>
          <p:cNvPr id="18" name="Image 1" descr="preencoded.png"/>
          <p:cNvPicPr>
            <a:picLocks noChangeAspect="1"/>
          </p:cNvPicPr>
          <p:nvPr/>
        </p:nvPicPr>
        <p:blipFill>
          <a:blip r:embed="rId4"/>
          <a:stretch>
            <a:fillRect/>
          </a:stretch>
        </p:blipFill>
        <p:spPr>
          <a:xfrm>
            <a:off x="8412480" y="5806440"/>
            <a:ext cx="320040" cy="320040"/>
          </a:xfrm>
          <a:prstGeom prst="rect">
            <a:avLst/>
          </a:prstGeom>
        </p:spPr>
      </p:pic>
      <p:sp>
        <p:nvSpPr>
          <p:cNvPr id="19" name="Text 15"/>
          <p:cNvSpPr/>
          <p:nvPr/>
        </p:nvSpPr>
        <p:spPr>
          <a:xfrm>
            <a:off x="8961120" y="5715000"/>
            <a:ext cx="2743200" cy="274320"/>
          </a:xfrm>
          <a:prstGeom prst="rect">
            <a:avLst/>
          </a:prstGeom>
          <a:noFill/>
          <a:ln/>
        </p:spPr>
        <p:txBody>
          <a:bodyPr wrap="square" lIns="0" tIns="0" rIns="0" bIns="0" rtlCol="0" anchor="ctr"/>
          <a:lstStyle/>
          <a:p>
            <a:pPr marL="0" indent="0">
              <a:buNone/>
            </a:pPr>
            <a:r>
              <a:rPr lang="en-US" sz="1000" b="1" kern="0" spc="300" dirty="0">
                <a:solidFill>
                  <a:srgbClr val="C9A961"/>
                </a:solidFill>
                <a:latin typeface="Calibri" pitchFamily="34" charset="0"/>
                <a:ea typeface="Calibri" pitchFamily="34" charset="-122"/>
                <a:cs typeface="Calibri" pitchFamily="34" charset="-120"/>
              </a:rPr>
              <a:t>INCLUYE DEMO EN VIVO</a:t>
            </a:r>
            <a:endParaRPr lang="en-US" sz="1000" dirty="0"/>
          </a:p>
        </p:txBody>
      </p:sp>
      <p:sp>
        <p:nvSpPr>
          <p:cNvPr id="20" name="Text 16"/>
          <p:cNvSpPr/>
          <p:nvPr/>
        </p:nvSpPr>
        <p:spPr>
          <a:xfrm>
            <a:off x="8961120" y="5989320"/>
            <a:ext cx="2743200" cy="27432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Notebook ejecutándose en Databricks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sp>
      <p:sp>
        <p:nvSpPr>
          <p:cNvPr id="3" name="Shape 1"/>
          <p:cNvSpPr/>
          <p:nvPr/>
        </p:nvSpPr>
        <p:spPr>
          <a:xfrm>
            <a:off x="0" y="6693408"/>
            <a:ext cx="12161520" cy="164592"/>
          </a:xfrm>
          <a:prstGeom prst="rect">
            <a:avLst/>
          </a:prstGeom>
          <a:solidFill>
            <a:srgbClr val="B8860B"/>
          </a:solidFill>
          <a:ln/>
        </p:spPr>
      </p:sp>
      <p:sp>
        <p:nvSpPr>
          <p:cNvPr id="4" name="Text 2"/>
          <p:cNvSpPr/>
          <p:nvPr/>
        </p:nvSpPr>
        <p:spPr>
          <a:xfrm>
            <a:off x="548640" y="640080"/>
            <a:ext cx="11064240" cy="365760"/>
          </a:xfrm>
          <a:prstGeom prst="rect">
            <a:avLst/>
          </a:prstGeom>
          <a:noFill/>
          <a:ln/>
        </p:spPr>
        <p:txBody>
          <a:bodyPr wrap="square" lIns="0" tIns="0" rIns="0" bIns="0" rtlCol="0" anchor="ctr"/>
          <a:lstStyle/>
          <a:p>
            <a:pPr marL="0" indent="0" algn="ctr">
              <a:buNone/>
            </a:pPr>
            <a:r>
              <a:rPr lang="en-US" sz="1200" b="1" kern="0" spc="800" dirty="0">
                <a:solidFill>
                  <a:srgbClr val="C9A961"/>
                </a:solidFill>
                <a:latin typeface="Calibri" pitchFamily="34" charset="0"/>
                <a:ea typeface="Calibri" pitchFamily="34" charset="-122"/>
                <a:cs typeface="Calibri" pitchFamily="34" charset="-120"/>
              </a:rPr>
              <a:t>PARA EMPEZAR</a:t>
            </a:r>
            <a:endParaRPr lang="en-US" sz="1200" dirty="0"/>
          </a:p>
        </p:txBody>
      </p:sp>
      <p:pic>
        <p:nvPicPr>
          <p:cNvPr id="5" name="Image 0" descr="preencoded.png"/>
          <p:cNvPicPr>
            <a:picLocks noChangeAspect="1"/>
          </p:cNvPicPr>
          <p:nvPr/>
        </p:nvPicPr>
        <p:blipFill>
          <a:blip r:embed="rId3"/>
          <a:stretch>
            <a:fillRect/>
          </a:stretch>
        </p:blipFill>
        <p:spPr>
          <a:xfrm>
            <a:off x="5623560" y="1188720"/>
            <a:ext cx="914400" cy="914400"/>
          </a:xfrm>
          <a:prstGeom prst="rect">
            <a:avLst/>
          </a:prstGeom>
        </p:spPr>
      </p:pic>
      <p:sp>
        <p:nvSpPr>
          <p:cNvPr id="6" name="Text 3"/>
          <p:cNvSpPr/>
          <p:nvPr/>
        </p:nvSpPr>
        <p:spPr>
          <a:xfrm>
            <a:off x="548640" y="2377440"/>
            <a:ext cx="11064240" cy="777240"/>
          </a:xfrm>
          <a:prstGeom prst="rect">
            <a:avLst/>
          </a:prstGeom>
          <a:noFill/>
          <a:ln/>
        </p:spPr>
        <p:txBody>
          <a:bodyPr wrap="square" lIns="0" tIns="0" rIns="0" bIns="0" rtlCol="0" anchor="ctr"/>
          <a:lstStyle/>
          <a:p>
            <a:pPr marL="0" indent="0" algn="ctr">
              <a:buNone/>
            </a:pPr>
            <a:r>
              <a:rPr lang="en-US" sz="4200" i="1" dirty="0">
                <a:solidFill>
                  <a:srgbClr val="FFFFFF"/>
                </a:solidFill>
                <a:latin typeface="Georgia" pitchFamily="34" charset="0"/>
                <a:ea typeface="Georgia" pitchFamily="34" charset="-122"/>
                <a:cs typeface="Georgia" pitchFamily="34" charset="-120"/>
              </a:rPr>
              <a:t>¿Cuánta luz consumirá</a:t>
            </a:r>
            <a:endParaRPr lang="en-US" sz="4200" dirty="0"/>
          </a:p>
        </p:txBody>
      </p:sp>
      <p:sp>
        <p:nvSpPr>
          <p:cNvPr id="7" name="Text 4"/>
          <p:cNvSpPr/>
          <p:nvPr/>
        </p:nvSpPr>
        <p:spPr>
          <a:xfrm>
            <a:off x="548640" y="3154680"/>
            <a:ext cx="11064240" cy="868680"/>
          </a:xfrm>
          <a:prstGeom prst="rect">
            <a:avLst/>
          </a:prstGeom>
          <a:noFill/>
          <a:ln/>
        </p:spPr>
        <p:txBody>
          <a:bodyPr wrap="square" lIns="0" tIns="0" rIns="0" bIns="0" rtlCol="0" anchor="ctr"/>
          <a:lstStyle/>
          <a:p>
            <a:pPr marL="0" indent="0" algn="ctr">
              <a:buNone/>
            </a:pPr>
            <a:r>
              <a:rPr lang="en-US" sz="5000" b="1" i="1" dirty="0">
                <a:solidFill>
                  <a:srgbClr val="C9A961"/>
                </a:solidFill>
                <a:latin typeface="Georgia" pitchFamily="34" charset="0"/>
                <a:ea typeface="Georgia" pitchFamily="34" charset="-122"/>
                <a:cs typeface="Georgia" pitchFamily="34" charset="-120"/>
              </a:rPr>
              <a:t>la ciudad mañana a las 8 PM?</a:t>
            </a:r>
            <a:endParaRPr lang="en-US" sz="5000" dirty="0"/>
          </a:p>
        </p:txBody>
      </p:sp>
      <p:sp>
        <p:nvSpPr>
          <p:cNvPr id="8" name="Shape 5"/>
          <p:cNvSpPr/>
          <p:nvPr/>
        </p:nvSpPr>
        <p:spPr>
          <a:xfrm>
            <a:off x="5623560" y="4251960"/>
            <a:ext cx="914400" cy="54864"/>
          </a:xfrm>
          <a:prstGeom prst="rect">
            <a:avLst/>
          </a:prstGeom>
          <a:solidFill>
            <a:srgbClr val="B8860B"/>
          </a:solidFill>
          <a:ln/>
        </p:spPr>
      </p:sp>
      <p:sp>
        <p:nvSpPr>
          <p:cNvPr id="9" name="Text 6"/>
          <p:cNvSpPr/>
          <p:nvPr/>
        </p:nvSpPr>
        <p:spPr>
          <a:xfrm>
            <a:off x="548640" y="4434840"/>
            <a:ext cx="11064240" cy="457200"/>
          </a:xfrm>
          <a:prstGeom prst="rect">
            <a:avLst/>
          </a:prstGeom>
          <a:noFill/>
          <a:ln/>
        </p:spPr>
        <p:txBody>
          <a:bodyPr wrap="square" lIns="0" tIns="0" rIns="0" bIns="0" rtlCol="0" anchor="ctr"/>
          <a:lstStyle/>
          <a:p>
            <a:pPr marL="0" indent="0" algn="ctr">
              <a:buNone/>
            </a:pPr>
            <a:r>
              <a:rPr lang="en-US" sz="1700" i="1" dirty="0">
                <a:solidFill>
                  <a:srgbClr val="E8EDF5"/>
                </a:solidFill>
                <a:latin typeface="Calibri" pitchFamily="34" charset="0"/>
                <a:ea typeface="Calibri" pitchFamily="34" charset="-122"/>
                <a:cs typeface="Calibri" pitchFamily="34" charset="-120"/>
              </a:rPr>
              <a:t>Una pregunta de millones de dólares para cualquier empresa eléctrica.</a:t>
            </a:r>
            <a:endParaRPr lang="en-US" sz="1700" dirty="0"/>
          </a:p>
        </p:txBody>
      </p:sp>
      <p:sp>
        <p:nvSpPr>
          <p:cNvPr id="10" name="Text 7"/>
          <p:cNvSpPr/>
          <p:nvPr/>
        </p:nvSpPr>
        <p:spPr>
          <a:xfrm>
            <a:off x="548640" y="4892040"/>
            <a:ext cx="11064240" cy="457200"/>
          </a:xfrm>
          <a:prstGeom prst="rect">
            <a:avLst/>
          </a:prstGeom>
          <a:noFill/>
          <a:ln/>
        </p:spPr>
        <p:txBody>
          <a:bodyPr wrap="square" lIns="0" tIns="0" rIns="0" bIns="0" rtlCol="0" anchor="ctr"/>
          <a:lstStyle/>
          <a:p>
            <a:pPr marL="0" indent="0" algn="ctr">
              <a:buNone/>
            </a:pPr>
            <a:r>
              <a:rPr lang="en-US" sz="1700" i="1" dirty="0">
                <a:solidFill>
                  <a:srgbClr val="E8EDF5"/>
                </a:solidFill>
                <a:latin typeface="Calibri" pitchFamily="34" charset="0"/>
                <a:ea typeface="Calibri" pitchFamily="34" charset="-122"/>
                <a:cs typeface="Calibri" pitchFamily="34" charset="-120"/>
              </a:rPr>
              <a:t>Veremos cómo ETSformer responde con un caso real.</a:t>
            </a:r>
            <a:endParaRPr lang="en-US" sz="1700" dirty="0"/>
          </a:p>
        </p:txBody>
      </p:sp>
      <p:sp>
        <p:nvSpPr>
          <p:cNvPr id="11" name="Text 8"/>
          <p:cNvSpPr/>
          <p:nvPr/>
        </p:nvSpPr>
        <p:spPr>
          <a:xfrm>
            <a:off x="10789920" y="6446520"/>
            <a:ext cx="822960" cy="228600"/>
          </a:xfrm>
          <a:prstGeom prst="rect">
            <a:avLst/>
          </a:prstGeom>
          <a:noFill/>
          <a:ln/>
        </p:spPr>
        <p:txBody>
          <a:bodyPr wrap="square" lIns="0" tIns="0" rIns="0" bIns="0" rtlCol="0" anchor="ctr"/>
          <a:lstStyle/>
          <a:p>
            <a:pPr marL="0" indent="0" algn="r">
              <a:buNone/>
            </a:pPr>
            <a:r>
              <a:rPr lang="en-US" sz="900" dirty="0">
                <a:solidFill>
                  <a:srgbClr val="C9A961"/>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Recordatorio: ¿qué es ETSformer?</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Un resumen ultra-rápido antes de la aplicación</a:t>
            </a:r>
            <a:endParaRPr lang="en-US" sz="1300" dirty="0"/>
          </a:p>
        </p:txBody>
      </p:sp>
      <p:sp>
        <p:nvSpPr>
          <p:cNvPr id="6" name="Shape 4"/>
          <p:cNvSpPr/>
          <p:nvPr/>
        </p:nvSpPr>
        <p:spPr>
          <a:xfrm>
            <a:off x="640080" y="1965960"/>
            <a:ext cx="10881360" cy="1005840"/>
          </a:xfrm>
          <a:prstGeom prst="rect">
            <a:avLst/>
          </a:prstGeom>
          <a:solidFill>
            <a:srgbClr val="E8EDF5"/>
          </a:solidFill>
          <a:ln/>
        </p:spPr>
      </p:sp>
      <p:sp>
        <p:nvSpPr>
          <p:cNvPr id="7" name="Shape 5"/>
          <p:cNvSpPr/>
          <p:nvPr/>
        </p:nvSpPr>
        <p:spPr>
          <a:xfrm>
            <a:off x="640080" y="1965960"/>
            <a:ext cx="91440" cy="1005840"/>
          </a:xfrm>
          <a:prstGeom prst="rect">
            <a:avLst/>
          </a:prstGeom>
          <a:solidFill>
            <a:srgbClr val="B8860B"/>
          </a:solidFill>
          <a:ln/>
        </p:spPr>
      </p:sp>
      <p:sp>
        <p:nvSpPr>
          <p:cNvPr id="8" name="Text 6"/>
          <p:cNvSpPr/>
          <p:nvPr/>
        </p:nvSpPr>
        <p:spPr>
          <a:xfrm>
            <a:off x="914400" y="2103120"/>
            <a:ext cx="10332720" cy="822960"/>
          </a:xfrm>
          <a:prstGeom prst="rect">
            <a:avLst/>
          </a:prstGeom>
          <a:noFill/>
          <a:ln/>
        </p:spPr>
        <p:txBody>
          <a:bodyPr wrap="square" lIns="0" tIns="0" rIns="0" bIns="0" rtlCol="0" anchor="ctr"/>
          <a:lstStyle/>
          <a:p>
            <a:pPr marL="0" indent="0">
              <a:buNone/>
            </a:pPr>
            <a:r>
              <a:rPr lang="en-US" sz="1500" i="1" dirty="0">
                <a:solidFill>
                  <a:srgbClr val="1A1A2E"/>
                </a:solidFill>
                <a:latin typeface="Calibri" pitchFamily="34" charset="0"/>
                <a:ea typeface="Calibri" pitchFamily="34" charset="-122"/>
                <a:cs typeface="Calibri" pitchFamily="34" charset="-120"/>
              </a:rPr>
              <a:t>ETSformer (Woo et al., 2022) combina el suavizado exponencial clásico con la arquitectura Transformer, produciendo pronósticos que son a la vez precisos e interpretables.</a:t>
            </a:r>
            <a:endParaRPr lang="en-US" sz="1500" dirty="0"/>
          </a:p>
        </p:txBody>
      </p:sp>
      <p:sp>
        <p:nvSpPr>
          <p:cNvPr id="9" name="Shape 7"/>
          <p:cNvSpPr/>
          <p:nvPr/>
        </p:nvSpPr>
        <p:spPr>
          <a:xfrm>
            <a:off x="640080" y="3200400"/>
            <a:ext cx="3657600" cy="2468880"/>
          </a:xfrm>
          <a:prstGeom prst="rect">
            <a:avLst/>
          </a:prstGeom>
          <a:solidFill>
            <a:srgbClr val="FFFFFF"/>
          </a:solidFill>
          <a:ln/>
          <a:effectLst>
            <a:outerShdw blurRad="101600" dist="12700" dir="5400000" algn="bl" rotWithShape="0">
              <a:srgbClr val="1E2761">
                <a:alpha val="8000"/>
              </a:srgbClr>
            </a:outerShdw>
          </a:effectLst>
        </p:spPr>
      </p:sp>
      <p:sp>
        <p:nvSpPr>
          <p:cNvPr id="10" name="Shape 8"/>
          <p:cNvSpPr/>
          <p:nvPr/>
        </p:nvSpPr>
        <p:spPr>
          <a:xfrm>
            <a:off x="640080" y="3200400"/>
            <a:ext cx="3657600" cy="91440"/>
          </a:xfrm>
          <a:prstGeom prst="rect">
            <a:avLst/>
          </a:prstGeom>
          <a:solidFill>
            <a:srgbClr val="1E2761"/>
          </a:solidFill>
          <a:ln/>
        </p:spPr>
      </p:sp>
      <p:pic>
        <p:nvPicPr>
          <p:cNvPr id="11" name="Image 0" descr="preencoded.png"/>
          <p:cNvPicPr>
            <a:picLocks noChangeAspect="1"/>
          </p:cNvPicPr>
          <p:nvPr/>
        </p:nvPicPr>
        <p:blipFill>
          <a:blip r:embed="rId3"/>
          <a:stretch>
            <a:fillRect/>
          </a:stretch>
        </p:blipFill>
        <p:spPr>
          <a:xfrm>
            <a:off x="960120" y="3566160"/>
            <a:ext cx="548640" cy="548640"/>
          </a:xfrm>
          <a:prstGeom prst="rect">
            <a:avLst/>
          </a:prstGeom>
        </p:spPr>
      </p:pic>
      <p:sp>
        <p:nvSpPr>
          <p:cNvPr id="12" name="Text 9"/>
          <p:cNvSpPr/>
          <p:nvPr/>
        </p:nvSpPr>
        <p:spPr>
          <a:xfrm>
            <a:off x="1691640" y="3566160"/>
            <a:ext cx="2468880" cy="50292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Descomposición</a:t>
            </a:r>
            <a:endParaRPr lang="en-US" sz="1700" dirty="0"/>
          </a:p>
        </p:txBody>
      </p:sp>
      <p:sp>
        <p:nvSpPr>
          <p:cNvPr id="13" name="Text 10"/>
          <p:cNvSpPr/>
          <p:nvPr/>
        </p:nvSpPr>
        <p:spPr>
          <a:xfrm>
            <a:off x="960120" y="4297680"/>
            <a:ext cx="3017520" cy="12801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Separa la serie en Nivel + Crecimiento + Estacionalidad.</a:t>
            </a:r>
            <a:endParaRPr lang="en-US" sz="1200" dirty="0"/>
          </a:p>
        </p:txBody>
      </p:sp>
      <p:sp>
        <p:nvSpPr>
          <p:cNvPr id="14" name="Shape 11"/>
          <p:cNvSpPr/>
          <p:nvPr/>
        </p:nvSpPr>
        <p:spPr>
          <a:xfrm>
            <a:off x="4480560" y="3200400"/>
            <a:ext cx="3657600" cy="2468880"/>
          </a:xfrm>
          <a:prstGeom prst="rect">
            <a:avLst/>
          </a:prstGeom>
          <a:solidFill>
            <a:srgbClr val="FFFFFF"/>
          </a:solidFill>
          <a:ln/>
          <a:effectLst>
            <a:outerShdw blurRad="101600" dist="12700" dir="5400000" algn="bl" rotWithShape="0">
              <a:srgbClr val="1E2761">
                <a:alpha val="8000"/>
              </a:srgbClr>
            </a:outerShdw>
          </a:effectLst>
        </p:spPr>
      </p:sp>
      <p:sp>
        <p:nvSpPr>
          <p:cNvPr id="15" name="Shape 12"/>
          <p:cNvSpPr/>
          <p:nvPr/>
        </p:nvSpPr>
        <p:spPr>
          <a:xfrm>
            <a:off x="4480560" y="3200400"/>
            <a:ext cx="3657600" cy="91440"/>
          </a:xfrm>
          <a:prstGeom prst="rect">
            <a:avLst/>
          </a:prstGeom>
          <a:solidFill>
            <a:srgbClr val="1E2761"/>
          </a:solidFill>
          <a:ln/>
        </p:spPr>
      </p:sp>
      <p:pic>
        <p:nvPicPr>
          <p:cNvPr id="16" name="Image 1" descr="preencoded.png"/>
          <p:cNvPicPr>
            <a:picLocks noChangeAspect="1"/>
          </p:cNvPicPr>
          <p:nvPr/>
        </p:nvPicPr>
        <p:blipFill>
          <a:blip r:embed="rId4"/>
          <a:stretch>
            <a:fillRect/>
          </a:stretch>
        </p:blipFill>
        <p:spPr>
          <a:xfrm>
            <a:off x="4800600" y="3566160"/>
            <a:ext cx="548640" cy="548640"/>
          </a:xfrm>
          <a:prstGeom prst="rect">
            <a:avLst/>
          </a:prstGeom>
        </p:spPr>
      </p:pic>
      <p:sp>
        <p:nvSpPr>
          <p:cNvPr id="17" name="Text 13"/>
          <p:cNvSpPr/>
          <p:nvPr/>
        </p:nvSpPr>
        <p:spPr>
          <a:xfrm>
            <a:off x="5532120" y="3566160"/>
            <a:ext cx="2468880" cy="50292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Dos atenciones nuevas</a:t>
            </a:r>
            <a:endParaRPr lang="en-US" sz="1700" dirty="0"/>
          </a:p>
        </p:txBody>
      </p:sp>
      <p:sp>
        <p:nvSpPr>
          <p:cNvPr id="18" name="Text 14"/>
          <p:cNvSpPr/>
          <p:nvPr/>
        </p:nvSpPr>
        <p:spPr>
          <a:xfrm>
            <a:off x="4800600" y="4297680"/>
            <a:ext cx="3017520" cy="12801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ESA (rezago temporal) + FA (frecuencias vía Fourier).</a:t>
            </a:r>
            <a:endParaRPr lang="en-US" sz="1200" dirty="0"/>
          </a:p>
        </p:txBody>
      </p:sp>
      <p:sp>
        <p:nvSpPr>
          <p:cNvPr id="19" name="Shape 15"/>
          <p:cNvSpPr/>
          <p:nvPr/>
        </p:nvSpPr>
        <p:spPr>
          <a:xfrm>
            <a:off x="8321040" y="3200400"/>
            <a:ext cx="3657600" cy="2468880"/>
          </a:xfrm>
          <a:prstGeom prst="rect">
            <a:avLst/>
          </a:prstGeom>
          <a:solidFill>
            <a:srgbClr val="FFFFFF"/>
          </a:solidFill>
          <a:ln/>
          <a:effectLst>
            <a:outerShdw blurRad="101600" dist="12700" dir="5400000" algn="bl" rotWithShape="0">
              <a:srgbClr val="1E2761">
                <a:alpha val="8000"/>
              </a:srgbClr>
            </a:outerShdw>
          </a:effectLst>
        </p:spPr>
      </p:sp>
      <p:sp>
        <p:nvSpPr>
          <p:cNvPr id="20" name="Shape 16"/>
          <p:cNvSpPr/>
          <p:nvPr/>
        </p:nvSpPr>
        <p:spPr>
          <a:xfrm>
            <a:off x="8321040" y="3200400"/>
            <a:ext cx="3657600" cy="91440"/>
          </a:xfrm>
          <a:prstGeom prst="rect">
            <a:avLst/>
          </a:prstGeom>
          <a:solidFill>
            <a:srgbClr val="1E2761"/>
          </a:solidFill>
          <a:ln/>
        </p:spPr>
      </p:sp>
      <p:pic>
        <p:nvPicPr>
          <p:cNvPr id="21" name="Image 2" descr="preencoded.png"/>
          <p:cNvPicPr>
            <a:picLocks noChangeAspect="1"/>
          </p:cNvPicPr>
          <p:nvPr/>
        </p:nvPicPr>
        <p:blipFill>
          <a:blip r:embed="rId5"/>
          <a:stretch>
            <a:fillRect/>
          </a:stretch>
        </p:blipFill>
        <p:spPr>
          <a:xfrm>
            <a:off x="8641080" y="3566160"/>
            <a:ext cx="548640" cy="548640"/>
          </a:xfrm>
          <a:prstGeom prst="rect">
            <a:avLst/>
          </a:prstGeom>
        </p:spPr>
      </p:pic>
      <p:sp>
        <p:nvSpPr>
          <p:cNvPr id="22" name="Text 17"/>
          <p:cNvSpPr/>
          <p:nvPr/>
        </p:nvSpPr>
        <p:spPr>
          <a:xfrm>
            <a:off x="9372600" y="3566160"/>
            <a:ext cx="2468880" cy="502920"/>
          </a:xfrm>
          <a:prstGeom prst="rect">
            <a:avLst/>
          </a:prstGeom>
          <a:noFill/>
          <a:ln/>
        </p:spPr>
        <p:txBody>
          <a:bodyPr wrap="square" lIns="0" tIns="0" rIns="0" bIns="0" rtlCol="0" anchor="ctr"/>
          <a:lstStyle/>
          <a:p>
            <a:pPr marL="0" indent="0">
              <a:buNone/>
            </a:pPr>
            <a:r>
              <a:rPr lang="en-US" sz="1700" b="1" dirty="0">
                <a:solidFill>
                  <a:srgbClr val="1E2761"/>
                </a:solidFill>
                <a:latin typeface="Georgia" pitchFamily="34" charset="0"/>
                <a:ea typeface="Georgia" pitchFamily="34" charset="-122"/>
                <a:cs typeface="Georgia" pitchFamily="34" charset="-120"/>
              </a:rPr>
              <a:t>Eficiencia O(L log L)</a:t>
            </a:r>
            <a:endParaRPr lang="en-US" sz="1700" dirty="0"/>
          </a:p>
        </p:txBody>
      </p:sp>
      <p:sp>
        <p:nvSpPr>
          <p:cNvPr id="23" name="Text 18"/>
          <p:cNvSpPr/>
          <p:nvPr/>
        </p:nvSpPr>
        <p:spPr>
          <a:xfrm>
            <a:off x="8641080" y="4297680"/>
            <a:ext cx="3017520" cy="12801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Escalable a horizontes largos, manteniendo precisión.</a:t>
            </a:r>
            <a:endParaRPr lang="en-US" sz="1200" dirty="0"/>
          </a:p>
        </p:txBody>
      </p:sp>
      <p:sp>
        <p:nvSpPr>
          <p:cNvPr id="24" name="Shape 19"/>
          <p:cNvSpPr/>
          <p:nvPr/>
        </p:nvSpPr>
        <p:spPr>
          <a:xfrm>
            <a:off x="548640" y="6473952"/>
            <a:ext cx="11064240" cy="18288"/>
          </a:xfrm>
          <a:prstGeom prst="rect">
            <a:avLst/>
          </a:prstGeom>
          <a:solidFill>
            <a:srgbClr val="D1D5DB"/>
          </a:solidFill>
          <a:ln/>
        </p:spPr>
      </p:sp>
      <p:sp>
        <p:nvSpPr>
          <p:cNvPr id="25" name="Text 20"/>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26" name="Text 21"/>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Por qué importa para una empresa eléctrica</a:t>
            </a:r>
            <a:endParaRPr lang="en-US" sz="1300" dirty="0"/>
          </a:p>
        </p:txBody>
      </p:sp>
      <p:sp>
        <p:nvSpPr>
          <p:cNvPr id="6" name="Text 4"/>
          <p:cNvSpPr/>
          <p:nvPr/>
        </p:nvSpPr>
        <p:spPr>
          <a:xfrm>
            <a:off x="640080" y="2011680"/>
            <a:ext cx="5486400" cy="4114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¿Por qué importa para el negocio?</a:t>
            </a:r>
            <a:endParaRPr lang="en-US" sz="1600" dirty="0"/>
          </a:p>
        </p:txBody>
      </p:sp>
      <p:sp>
        <p:nvSpPr>
          <p:cNvPr id="7" name="Shape 5"/>
          <p:cNvSpPr/>
          <p:nvPr/>
        </p:nvSpPr>
        <p:spPr>
          <a:xfrm>
            <a:off x="640080" y="2514600"/>
            <a:ext cx="5486400" cy="1005840"/>
          </a:xfrm>
          <a:prstGeom prst="rect">
            <a:avLst/>
          </a:prstGeom>
          <a:solidFill>
            <a:srgbClr val="FFFFFF"/>
          </a:solidFill>
          <a:ln/>
          <a:effectLst>
            <a:outerShdw blurRad="101600" dist="12700" dir="5400000" algn="bl" rotWithShape="0">
              <a:srgbClr val="1E2761">
                <a:alpha val="8000"/>
              </a:srgbClr>
            </a:outerShdw>
          </a:effectLst>
        </p:spPr>
      </p:sp>
      <p:sp>
        <p:nvSpPr>
          <p:cNvPr id="8" name="Shape 6"/>
          <p:cNvSpPr/>
          <p:nvPr/>
        </p:nvSpPr>
        <p:spPr>
          <a:xfrm>
            <a:off x="640080" y="2514600"/>
            <a:ext cx="73152" cy="1005840"/>
          </a:xfrm>
          <a:prstGeom prst="rect">
            <a:avLst/>
          </a:prstGeom>
          <a:solidFill>
            <a:srgbClr val="B8860B"/>
          </a:solidFill>
          <a:ln/>
        </p:spPr>
      </p:sp>
      <p:pic>
        <p:nvPicPr>
          <p:cNvPr id="9" name="Image 0" descr="preencoded.png"/>
          <p:cNvPicPr>
            <a:picLocks noChangeAspect="1"/>
          </p:cNvPicPr>
          <p:nvPr/>
        </p:nvPicPr>
        <p:blipFill>
          <a:blip r:embed="rId3"/>
          <a:stretch>
            <a:fillRect/>
          </a:stretch>
        </p:blipFill>
        <p:spPr>
          <a:xfrm>
            <a:off x="868680" y="2743200"/>
            <a:ext cx="502920" cy="502920"/>
          </a:xfrm>
          <a:prstGeom prst="rect">
            <a:avLst/>
          </a:prstGeom>
        </p:spPr>
      </p:pic>
      <p:sp>
        <p:nvSpPr>
          <p:cNvPr id="10" name="Text 7"/>
          <p:cNvSpPr/>
          <p:nvPr/>
        </p:nvSpPr>
        <p:spPr>
          <a:xfrm>
            <a:off x="1554480" y="2651760"/>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Planificación de la red</a:t>
            </a:r>
            <a:endParaRPr lang="en-US" sz="1400" dirty="0"/>
          </a:p>
        </p:txBody>
      </p:sp>
      <p:sp>
        <p:nvSpPr>
          <p:cNvPr id="11" name="Text 8"/>
          <p:cNvSpPr/>
          <p:nvPr/>
        </p:nvSpPr>
        <p:spPr>
          <a:xfrm>
            <a:off x="1554480" y="3017520"/>
            <a:ext cx="4389120"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Anticipar cuántos generadores activar y a qué hora.</a:t>
            </a:r>
            <a:endParaRPr lang="en-US" sz="1200" dirty="0"/>
          </a:p>
        </p:txBody>
      </p:sp>
      <p:sp>
        <p:nvSpPr>
          <p:cNvPr id="12" name="Shape 9"/>
          <p:cNvSpPr/>
          <p:nvPr/>
        </p:nvSpPr>
        <p:spPr>
          <a:xfrm>
            <a:off x="640080" y="3657600"/>
            <a:ext cx="5486400" cy="1005840"/>
          </a:xfrm>
          <a:prstGeom prst="rect">
            <a:avLst/>
          </a:prstGeom>
          <a:solidFill>
            <a:srgbClr val="FFFFFF"/>
          </a:solidFill>
          <a:ln/>
          <a:effectLst>
            <a:outerShdw blurRad="101600" dist="12700" dir="5400000" algn="bl" rotWithShape="0">
              <a:srgbClr val="1E2761">
                <a:alpha val="8000"/>
              </a:srgbClr>
            </a:outerShdw>
          </a:effectLst>
        </p:spPr>
      </p:sp>
      <p:sp>
        <p:nvSpPr>
          <p:cNvPr id="13" name="Shape 10"/>
          <p:cNvSpPr/>
          <p:nvPr/>
        </p:nvSpPr>
        <p:spPr>
          <a:xfrm>
            <a:off x="640080" y="3657600"/>
            <a:ext cx="73152" cy="1005840"/>
          </a:xfrm>
          <a:prstGeom prst="rect">
            <a:avLst/>
          </a:prstGeom>
          <a:solidFill>
            <a:srgbClr val="B8860B"/>
          </a:solidFill>
          <a:ln/>
        </p:spPr>
      </p:sp>
      <p:pic>
        <p:nvPicPr>
          <p:cNvPr id="14" name="Image 1" descr="preencoded.png"/>
          <p:cNvPicPr>
            <a:picLocks noChangeAspect="1"/>
          </p:cNvPicPr>
          <p:nvPr/>
        </p:nvPicPr>
        <p:blipFill>
          <a:blip r:embed="rId4"/>
          <a:stretch>
            <a:fillRect/>
          </a:stretch>
        </p:blipFill>
        <p:spPr>
          <a:xfrm>
            <a:off x="868680" y="3886200"/>
            <a:ext cx="502920" cy="502920"/>
          </a:xfrm>
          <a:prstGeom prst="rect">
            <a:avLst/>
          </a:prstGeom>
        </p:spPr>
      </p:pic>
      <p:sp>
        <p:nvSpPr>
          <p:cNvPr id="15" name="Text 11"/>
          <p:cNvSpPr/>
          <p:nvPr/>
        </p:nvSpPr>
        <p:spPr>
          <a:xfrm>
            <a:off x="1554480" y="3794760"/>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Evitar apagones</a:t>
            </a:r>
            <a:endParaRPr lang="en-US" sz="1400" dirty="0"/>
          </a:p>
        </p:txBody>
      </p:sp>
      <p:sp>
        <p:nvSpPr>
          <p:cNvPr id="16" name="Text 12"/>
          <p:cNvSpPr/>
          <p:nvPr/>
        </p:nvSpPr>
        <p:spPr>
          <a:xfrm>
            <a:off x="1554480" y="4160520"/>
            <a:ext cx="4389120"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Identificar picos de demanda antes de que rebasen la capacidad.</a:t>
            </a:r>
            <a:endParaRPr lang="en-US" sz="1200" dirty="0"/>
          </a:p>
        </p:txBody>
      </p:sp>
      <p:sp>
        <p:nvSpPr>
          <p:cNvPr id="17" name="Shape 13"/>
          <p:cNvSpPr/>
          <p:nvPr/>
        </p:nvSpPr>
        <p:spPr>
          <a:xfrm>
            <a:off x="640080" y="4800600"/>
            <a:ext cx="5486400" cy="1005840"/>
          </a:xfrm>
          <a:prstGeom prst="rect">
            <a:avLst/>
          </a:prstGeom>
          <a:solidFill>
            <a:srgbClr val="FFFFFF"/>
          </a:solidFill>
          <a:ln/>
          <a:effectLst>
            <a:outerShdw blurRad="101600" dist="12700" dir="5400000" algn="bl" rotWithShape="0">
              <a:srgbClr val="1E2761">
                <a:alpha val="8000"/>
              </a:srgbClr>
            </a:outerShdw>
          </a:effectLst>
        </p:spPr>
      </p:sp>
      <p:sp>
        <p:nvSpPr>
          <p:cNvPr id="18" name="Shape 14"/>
          <p:cNvSpPr/>
          <p:nvPr/>
        </p:nvSpPr>
        <p:spPr>
          <a:xfrm>
            <a:off x="640080" y="4800600"/>
            <a:ext cx="73152" cy="1005840"/>
          </a:xfrm>
          <a:prstGeom prst="rect">
            <a:avLst/>
          </a:prstGeom>
          <a:solidFill>
            <a:srgbClr val="B8860B"/>
          </a:solidFill>
          <a:ln/>
        </p:spPr>
      </p:sp>
      <p:pic>
        <p:nvPicPr>
          <p:cNvPr id="19" name="Image 2" descr="preencoded.png"/>
          <p:cNvPicPr>
            <a:picLocks noChangeAspect="1"/>
          </p:cNvPicPr>
          <p:nvPr/>
        </p:nvPicPr>
        <p:blipFill>
          <a:blip r:embed="rId5"/>
          <a:stretch>
            <a:fillRect/>
          </a:stretch>
        </p:blipFill>
        <p:spPr>
          <a:xfrm>
            <a:off x="868680" y="5029200"/>
            <a:ext cx="502920" cy="502920"/>
          </a:xfrm>
          <a:prstGeom prst="rect">
            <a:avLst/>
          </a:prstGeom>
        </p:spPr>
      </p:pic>
      <p:sp>
        <p:nvSpPr>
          <p:cNvPr id="20" name="Text 15"/>
          <p:cNvSpPr/>
          <p:nvPr/>
        </p:nvSpPr>
        <p:spPr>
          <a:xfrm>
            <a:off x="1554480" y="4937760"/>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Optimizar costos</a:t>
            </a:r>
            <a:endParaRPr lang="en-US" sz="1400" dirty="0"/>
          </a:p>
        </p:txBody>
      </p:sp>
      <p:sp>
        <p:nvSpPr>
          <p:cNvPr id="21" name="Text 16"/>
          <p:cNvSpPr/>
          <p:nvPr/>
        </p:nvSpPr>
        <p:spPr>
          <a:xfrm>
            <a:off x="1554480" y="5303520"/>
            <a:ext cx="4389120"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Comprar/producir solo lo necesario; reducir desperdicio energético.</a:t>
            </a:r>
            <a:endParaRPr lang="en-US" sz="1200" dirty="0"/>
          </a:p>
        </p:txBody>
      </p:sp>
      <p:sp>
        <p:nvSpPr>
          <p:cNvPr id="22" name="Shape 17"/>
          <p:cNvSpPr/>
          <p:nvPr/>
        </p:nvSpPr>
        <p:spPr>
          <a:xfrm>
            <a:off x="6492240" y="2011680"/>
            <a:ext cx="5029200" cy="4206240"/>
          </a:xfrm>
          <a:prstGeom prst="rect">
            <a:avLst/>
          </a:prstGeom>
          <a:solidFill>
            <a:srgbClr val="1E2761"/>
          </a:solidFill>
          <a:ln/>
          <a:effectLst>
            <a:outerShdw blurRad="101600" dist="12700" dir="5400000" algn="bl" rotWithShape="0">
              <a:srgbClr val="1E2761">
                <a:alpha val="8000"/>
              </a:srgbClr>
            </a:outerShdw>
          </a:effectLst>
        </p:spPr>
      </p:sp>
      <p:sp>
        <p:nvSpPr>
          <p:cNvPr id="23" name="Text 18"/>
          <p:cNvSpPr/>
          <p:nvPr/>
        </p:nvSpPr>
        <p:spPr>
          <a:xfrm>
            <a:off x="6675120" y="2240280"/>
            <a:ext cx="4663440" cy="320040"/>
          </a:xfrm>
          <a:prstGeom prst="rect">
            <a:avLst/>
          </a:prstGeom>
          <a:noFill/>
          <a:ln/>
        </p:spPr>
        <p:txBody>
          <a:bodyPr wrap="square" lIns="0" tIns="0" rIns="0" bIns="0" rtlCol="0" anchor="ctr"/>
          <a:lstStyle/>
          <a:p>
            <a:pPr marL="0" indent="0">
              <a:buNone/>
            </a:pPr>
            <a:r>
              <a:rPr lang="en-US" sz="1100" b="1" kern="0" spc="500" dirty="0">
                <a:solidFill>
                  <a:srgbClr val="C9A961"/>
                </a:solidFill>
                <a:latin typeface="Calibri" pitchFamily="34" charset="0"/>
                <a:ea typeface="Calibri" pitchFamily="34" charset="-122"/>
                <a:cs typeface="Calibri" pitchFamily="34" charset="-120"/>
              </a:rPr>
              <a:t>EL RETO</a:t>
            </a:r>
            <a:endParaRPr lang="en-US" sz="1100" dirty="0"/>
          </a:p>
        </p:txBody>
      </p:sp>
      <p:pic>
        <p:nvPicPr>
          <p:cNvPr id="24" name="Image 3" descr="preencoded.png"/>
          <p:cNvPicPr>
            <a:picLocks noChangeAspect="1"/>
          </p:cNvPicPr>
          <p:nvPr/>
        </p:nvPicPr>
        <p:blipFill>
          <a:blip r:embed="rId6"/>
          <a:stretch>
            <a:fillRect/>
          </a:stretch>
        </p:blipFill>
        <p:spPr>
          <a:xfrm>
            <a:off x="6675120" y="2606040"/>
            <a:ext cx="548640" cy="548640"/>
          </a:xfrm>
          <a:prstGeom prst="rect">
            <a:avLst/>
          </a:prstGeom>
        </p:spPr>
      </p:pic>
      <p:sp>
        <p:nvSpPr>
          <p:cNvPr id="25" name="Text 19"/>
          <p:cNvSpPr/>
          <p:nvPr/>
        </p:nvSpPr>
        <p:spPr>
          <a:xfrm>
            <a:off x="6675120" y="3246120"/>
            <a:ext cx="4663440" cy="868680"/>
          </a:xfrm>
          <a:prstGeom prst="rect">
            <a:avLst/>
          </a:prstGeom>
          <a:noFill/>
          <a:ln/>
        </p:spPr>
        <p:txBody>
          <a:bodyPr wrap="square" lIns="0" tIns="0" rIns="0" bIns="0" rtlCol="0" anchor="ctr"/>
          <a:lstStyle/>
          <a:p>
            <a:pPr marL="0" indent="0">
              <a:buNone/>
            </a:pPr>
            <a:r>
              <a:rPr lang="en-US" sz="1800" i="1" dirty="0">
                <a:solidFill>
                  <a:srgbClr val="FFFFFF"/>
                </a:solidFill>
                <a:latin typeface="Georgia" pitchFamily="34" charset="0"/>
                <a:ea typeface="Georgia" pitchFamily="34" charset="-122"/>
                <a:cs typeface="Georgia" pitchFamily="34" charset="-120"/>
              </a:rPr>
              <a:t>La energía no se puede guardar fácilmente.</a:t>
            </a:r>
            <a:endParaRPr lang="en-US" sz="1800" dirty="0"/>
          </a:p>
        </p:txBody>
      </p:sp>
      <p:sp>
        <p:nvSpPr>
          <p:cNvPr id="26" name="Shape 20"/>
          <p:cNvSpPr/>
          <p:nvPr/>
        </p:nvSpPr>
        <p:spPr>
          <a:xfrm>
            <a:off x="6675120" y="4160520"/>
            <a:ext cx="914400" cy="36576"/>
          </a:xfrm>
          <a:prstGeom prst="rect">
            <a:avLst/>
          </a:prstGeom>
          <a:solidFill>
            <a:srgbClr val="B8860B"/>
          </a:solidFill>
          <a:ln/>
        </p:spPr>
      </p:sp>
      <p:sp>
        <p:nvSpPr>
          <p:cNvPr id="27" name="Text 21"/>
          <p:cNvSpPr/>
          <p:nvPr/>
        </p:nvSpPr>
        <p:spPr>
          <a:xfrm>
            <a:off x="6675120" y="4297680"/>
            <a:ext cx="4663440" cy="548640"/>
          </a:xfrm>
          <a:prstGeom prst="rect">
            <a:avLst/>
          </a:prstGeom>
          <a:noFill/>
          <a:ln/>
        </p:spPr>
        <p:txBody>
          <a:bodyPr wrap="square" lIns="0" tIns="0" rIns="0" bIns="0" rtlCol="0" anchor="ctr"/>
          <a:lstStyle/>
          <a:p>
            <a:pPr marL="0" indent="0">
              <a:buNone/>
            </a:pPr>
            <a:r>
              <a:rPr lang="en-US" sz="1300" dirty="0">
                <a:solidFill>
                  <a:srgbClr val="E8EDF5"/>
                </a:solidFill>
                <a:latin typeface="Calibri" pitchFamily="34" charset="0"/>
                <a:ea typeface="Calibri" pitchFamily="34" charset="-122"/>
                <a:cs typeface="Calibri" pitchFamily="34" charset="-120"/>
              </a:rPr>
              <a:t>Lo que se produce se consume casi en tiempo real.</a:t>
            </a:r>
            <a:endParaRPr lang="en-US" sz="1300" dirty="0"/>
          </a:p>
        </p:txBody>
      </p:sp>
      <p:sp>
        <p:nvSpPr>
          <p:cNvPr id="28" name="Text 22"/>
          <p:cNvSpPr/>
          <p:nvPr/>
        </p:nvSpPr>
        <p:spPr>
          <a:xfrm>
            <a:off x="6675120" y="4937760"/>
            <a:ext cx="4663440" cy="365760"/>
          </a:xfrm>
          <a:prstGeom prst="rect">
            <a:avLst/>
          </a:prstGeom>
          <a:noFill/>
          <a:ln/>
        </p:spPr>
        <p:txBody>
          <a:bodyPr wrap="square" lIns="0" tIns="0" rIns="0" bIns="0" rtlCol="0" anchor="ctr"/>
          <a:lstStyle/>
          <a:p>
            <a:pPr marL="0" indent="0">
              <a:buNone/>
            </a:pPr>
            <a:r>
              <a:rPr lang="en-US" sz="1200" dirty="0">
                <a:solidFill>
                  <a:srgbClr val="E8EDF5"/>
                </a:solidFill>
                <a:latin typeface="Calibri" pitchFamily="34" charset="0"/>
                <a:ea typeface="Calibri" pitchFamily="34" charset="-122"/>
                <a:cs typeface="Calibri" pitchFamily="34" charset="-120"/>
              </a:rPr>
              <a:t>Por eso predecir bien la demanda es crítico:</a:t>
            </a:r>
            <a:endParaRPr lang="en-US" sz="1200" dirty="0"/>
          </a:p>
        </p:txBody>
      </p:sp>
      <p:sp>
        <p:nvSpPr>
          <p:cNvPr id="29" name="Text 23"/>
          <p:cNvSpPr/>
          <p:nvPr/>
        </p:nvSpPr>
        <p:spPr>
          <a:xfrm>
            <a:off x="6675120" y="5257800"/>
            <a:ext cx="4663440" cy="868680"/>
          </a:xfrm>
          <a:prstGeom prst="rect">
            <a:avLst/>
          </a:prstGeom>
          <a:noFill/>
          <a:ln/>
        </p:spPr>
        <p:txBody>
          <a:bodyPr wrap="square" lIns="0" tIns="0" rIns="0" bIns="0" rtlCol="0" anchor="ctr"/>
          <a:lstStyle/>
          <a:p>
            <a:pPr marL="0" indent="0">
              <a:spcAft>
                <a:spcPts val="300"/>
              </a:spcAft>
              <a:buNone/>
            </a:pPr>
            <a:r>
              <a:rPr lang="en-US" sz="1200" dirty="0">
                <a:solidFill>
                  <a:srgbClr val="FFFFFF"/>
                </a:solidFill>
                <a:latin typeface="Calibri" pitchFamily="34" charset="0"/>
                <a:ea typeface="Calibri" pitchFamily="34" charset="-122"/>
                <a:cs typeface="Calibri" pitchFamily="34" charset="-120"/>
              </a:rPr>
              <a:t>• Más precisión = menos costos</a:t>
            </a:r>
            <a:endParaRPr lang="en-US" sz="1200" dirty="0"/>
          </a:p>
          <a:p>
            <a:pPr marL="0" indent="0">
              <a:spcAft>
                <a:spcPts val="300"/>
              </a:spcAft>
              <a:buNone/>
            </a:pPr>
            <a:r>
              <a:rPr lang="en-US" sz="1200" dirty="0">
                <a:solidFill>
                  <a:srgbClr val="FFFFFF"/>
                </a:solidFill>
                <a:latin typeface="Calibri" pitchFamily="34" charset="0"/>
                <a:ea typeface="Calibri" pitchFamily="34" charset="-122"/>
                <a:cs typeface="Calibri" pitchFamily="34" charset="-120"/>
              </a:rPr>
              <a:t>• Más anticipación = mejor servicio</a:t>
            </a:r>
            <a:endParaRPr lang="en-US" sz="1200" dirty="0"/>
          </a:p>
          <a:p>
            <a:pPr marL="0" indent="0">
              <a:spcAft>
                <a:spcPts val="300"/>
              </a:spcAft>
              <a:buNone/>
            </a:pPr>
            <a:r>
              <a:rPr lang="en-US" sz="1200" dirty="0">
                <a:solidFill>
                  <a:srgbClr val="FFFFFF"/>
                </a:solidFill>
                <a:latin typeface="Calibri" pitchFamily="34" charset="0"/>
                <a:ea typeface="Calibri" pitchFamily="34" charset="-122"/>
                <a:cs typeface="Calibri" pitchFamily="34" charset="-120"/>
              </a:rPr>
              <a:t>• Mejor decisión = más rentabilidad</a:t>
            </a:r>
            <a:endParaRPr lang="en-US" sz="12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Clonar </a:t>
            </a:r>
            <a:r>
              <a:rPr lang="en-US" sz="1600" b="1" dirty="0" err="1">
                <a:solidFill>
                  <a:srgbClr val="1E2761"/>
                </a:solidFill>
                <a:latin typeface="Georgia" pitchFamily="34" charset="0"/>
                <a:ea typeface="Georgia" pitchFamily="34" charset="-122"/>
                <a:cs typeface="Georgia" pitchFamily="34" charset="-120"/>
              </a:rPr>
              <a:t>ETSformer</a:t>
            </a:r>
            <a:r>
              <a:rPr lang="en-US" sz="1600" b="1" dirty="0">
                <a:solidFill>
                  <a:srgbClr val="1E2761"/>
                </a:solidFill>
                <a:latin typeface="Georgia" pitchFamily="34" charset="0"/>
                <a:ea typeface="Georgia" pitchFamily="34" charset="-122"/>
                <a:cs typeface="Georgia" pitchFamily="34" charset="-120"/>
              </a:rPr>
              <a:t> </a:t>
            </a:r>
            <a:endParaRPr lang="en-US" sz="1600" dirty="0"/>
          </a:p>
        </p:txBody>
      </p:sp>
      <p:sp>
        <p:nvSpPr>
          <p:cNvPr id="7" name="Shape 5"/>
          <p:cNvSpPr/>
          <p:nvPr/>
        </p:nvSpPr>
        <p:spPr>
          <a:xfrm>
            <a:off x="640080" y="1955554"/>
            <a:ext cx="5486400" cy="1005840"/>
          </a:xfrm>
          <a:prstGeom prst="rect">
            <a:avLst/>
          </a:prstGeom>
          <a:solidFill>
            <a:srgbClr val="FFFFFF"/>
          </a:solidFill>
          <a:ln/>
          <a:effectLst>
            <a:outerShdw blurRad="101600" dist="12700" dir="5400000" algn="bl" rotWithShape="0">
              <a:srgbClr val="1E2761">
                <a:alpha val="8000"/>
              </a:srgbClr>
            </a:outerShdw>
          </a:effectLst>
        </p:spPr>
      </p:sp>
      <p:sp>
        <p:nvSpPr>
          <p:cNvPr id="8" name="Shape 6"/>
          <p:cNvSpPr/>
          <p:nvPr/>
        </p:nvSpPr>
        <p:spPr>
          <a:xfrm>
            <a:off x="640080" y="1955554"/>
            <a:ext cx="73152" cy="1005840"/>
          </a:xfrm>
          <a:prstGeom prst="rect">
            <a:avLst/>
          </a:prstGeom>
          <a:solidFill>
            <a:srgbClr val="B8860B"/>
          </a:solidFill>
          <a:ln/>
        </p:spPr>
      </p:sp>
      <p:sp>
        <p:nvSpPr>
          <p:cNvPr id="10" name="Text 7"/>
          <p:cNvSpPr/>
          <p:nvPr/>
        </p:nvSpPr>
        <p:spPr>
          <a:xfrm>
            <a:off x="914400" y="2090502"/>
            <a:ext cx="438912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Dataset</a:t>
            </a:r>
            <a:endParaRPr lang="en-US" sz="1400" dirty="0"/>
          </a:p>
        </p:txBody>
      </p:sp>
      <p:sp>
        <p:nvSpPr>
          <p:cNvPr id="11" name="Text 8"/>
          <p:cNvSpPr/>
          <p:nvPr/>
        </p:nvSpPr>
        <p:spPr>
          <a:xfrm>
            <a:off x="914400" y="2456262"/>
            <a:ext cx="4389120" cy="457200"/>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Archivo </a:t>
            </a:r>
            <a:r>
              <a:rPr lang="es-MX" sz="1200" b="1" i="1" dirty="0">
                <a:solidFill>
                  <a:srgbClr val="4A5568"/>
                </a:solidFill>
                <a:latin typeface="Calibri" pitchFamily="34" charset="0"/>
                <a:ea typeface="Calibri" pitchFamily="34" charset="-122"/>
                <a:cs typeface="Calibri" pitchFamily="34" charset="-120"/>
              </a:rPr>
              <a:t>LD2011_2014.txt </a:t>
            </a:r>
            <a:r>
              <a:rPr lang="es-MX" sz="1200" dirty="0">
                <a:solidFill>
                  <a:srgbClr val="4A5568"/>
                </a:solidFill>
                <a:latin typeface="Calibri" pitchFamily="34" charset="0"/>
                <a:ea typeface="Calibri" pitchFamily="34" charset="-122"/>
                <a:cs typeface="Calibri" pitchFamily="34" charset="-120"/>
              </a:rPr>
              <a:t>para entrenar un modelo ETSformer.</a:t>
            </a:r>
            <a:endParaRPr lang="en-US" sz="1200" dirty="0"/>
          </a:p>
        </p:txBody>
      </p:sp>
      <p:sp>
        <p:nvSpPr>
          <p:cNvPr id="12" name="Shape 9"/>
          <p:cNvSpPr/>
          <p:nvPr/>
        </p:nvSpPr>
        <p:spPr>
          <a:xfrm>
            <a:off x="6309360" y="1965369"/>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dirty="0"/>
          </a:p>
        </p:txBody>
      </p:sp>
      <p:sp>
        <p:nvSpPr>
          <p:cNvPr id="13" name="Shape 10"/>
          <p:cNvSpPr/>
          <p:nvPr/>
        </p:nvSpPr>
        <p:spPr>
          <a:xfrm>
            <a:off x="6309360" y="1965369"/>
            <a:ext cx="73152" cy="1005840"/>
          </a:xfrm>
          <a:prstGeom prst="rect">
            <a:avLst/>
          </a:prstGeom>
          <a:solidFill>
            <a:srgbClr val="B8860B"/>
          </a:solidFill>
          <a:ln/>
        </p:spPr>
      </p:sp>
      <p:sp>
        <p:nvSpPr>
          <p:cNvPr id="15" name="Text 11"/>
          <p:cNvSpPr/>
          <p:nvPr/>
        </p:nvSpPr>
        <p:spPr>
          <a:xfrm>
            <a:off x="6583680" y="2092714"/>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Modelo</a:t>
            </a:r>
            <a:endParaRPr lang="en-US" sz="1400" dirty="0"/>
          </a:p>
        </p:txBody>
      </p:sp>
      <p:sp>
        <p:nvSpPr>
          <p:cNvPr id="16" name="Text 12"/>
          <p:cNvSpPr/>
          <p:nvPr/>
        </p:nvSpPr>
        <p:spPr>
          <a:xfrm>
            <a:off x="6583680" y="2458474"/>
            <a:ext cx="5138928" cy="457200"/>
          </a:xfrm>
          <a:prstGeom prst="rect">
            <a:avLst/>
          </a:prstGeom>
          <a:noFill/>
          <a:ln/>
        </p:spPr>
        <p:txBody>
          <a:bodyPr wrap="square" lIns="0" tIns="0" rIns="0" bIns="0" rtlCol="0" anchor="ctr"/>
          <a:lstStyle/>
          <a:p>
            <a:pPr marL="0" indent="0">
              <a:buNone/>
            </a:pPr>
            <a:r>
              <a:rPr lang="es-MX" sz="1200" b="1" dirty="0">
                <a:solidFill>
                  <a:srgbClr val="4A5568"/>
                </a:solidFill>
                <a:latin typeface="Calibri" pitchFamily="34" charset="0"/>
                <a:ea typeface="Calibri" pitchFamily="34" charset="-122"/>
                <a:cs typeface="Calibri" pitchFamily="34" charset="-120"/>
              </a:rPr>
              <a:t>ETSformer</a:t>
            </a:r>
            <a:r>
              <a:rPr lang="es-MX" sz="1200" dirty="0">
                <a:solidFill>
                  <a:srgbClr val="4A5568"/>
                </a:solidFill>
                <a:latin typeface="Calibri" pitchFamily="34" charset="0"/>
                <a:ea typeface="Calibri" pitchFamily="34" charset="-122"/>
                <a:cs typeface="Calibri" pitchFamily="34" charset="-120"/>
              </a:rPr>
              <a:t> es un modelo publicado por </a:t>
            </a:r>
            <a:r>
              <a:rPr lang="es-MX" sz="1200" b="1" dirty="0">
                <a:solidFill>
                  <a:srgbClr val="4A5568"/>
                </a:solidFill>
                <a:latin typeface="Calibri" pitchFamily="34" charset="0"/>
                <a:ea typeface="Calibri" pitchFamily="34" charset="-122"/>
                <a:cs typeface="Calibri" pitchFamily="34" charset="-120"/>
              </a:rPr>
              <a:t>Salesforce </a:t>
            </a:r>
            <a:r>
              <a:rPr lang="es-MX" sz="1200" b="1" dirty="0" err="1">
                <a:solidFill>
                  <a:srgbClr val="4A5568"/>
                </a:solidFill>
                <a:latin typeface="Calibri" pitchFamily="34" charset="0"/>
                <a:ea typeface="Calibri" pitchFamily="34" charset="-122"/>
                <a:cs typeface="Calibri" pitchFamily="34" charset="-120"/>
              </a:rPr>
              <a:t>Research</a:t>
            </a:r>
            <a:r>
              <a:rPr lang="es-MX" sz="1200" dirty="0">
                <a:solidFill>
                  <a:srgbClr val="4A5568"/>
                </a:solidFill>
                <a:latin typeface="Calibri" pitchFamily="34" charset="0"/>
                <a:ea typeface="Calibri" pitchFamily="34" charset="-122"/>
                <a:cs typeface="Calibri" pitchFamily="34" charset="-120"/>
              </a:rPr>
              <a:t>. Usaremos su repositorio oficial.</a:t>
            </a:r>
            <a:endParaRPr lang="en-US" sz="12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34" name="Imagen 33">
            <a:extLst>
              <a:ext uri="{FF2B5EF4-FFF2-40B4-BE49-F238E27FC236}">
                <a16:creationId xmlns:a16="http://schemas.microsoft.com/office/drawing/2014/main" id="{15FF292D-76D2-400B-8901-1497F7E92500}"/>
              </a:ext>
            </a:extLst>
          </p:cNvPr>
          <p:cNvPicPr>
            <a:picLocks noChangeAspect="1"/>
          </p:cNvPicPr>
          <p:nvPr/>
        </p:nvPicPr>
        <p:blipFill>
          <a:blip r:embed="rId3"/>
          <a:stretch>
            <a:fillRect/>
          </a:stretch>
        </p:blipFill>
        <p:spPr>
          <a:xfrm>
            <a:off x="640080" y="3081986"/>
            <a:ext cx="11155680" cy="2016187"/>
          </a:xfrm>
          <a:prstGeom prst="rect">
            <a:avLst/>
          </a:prstGeom>
        </p:spPr>
      </p:pic>
      <p:pic>
        <p:nvPicPr>
          <p:cNvPr id="9" name="Imagen 8">
            <a:extLst>
              <a:ext uri="{FF2B5EF4-FFF2-40B4-BE49-F238E27FC236}">
                <a16:creationId xmlns:a16="http://schemas.microsoft.com/office/drawing/2014/main" id="{7FB1448B-32C1-47CF-91EB-4A983386BB65}"/>
              </a:ext>
            </a:extLst>
          </p:cNvPr>
          <p:cNvPicPr>
            <a:picLocks noChangeAspect="1"/>
          </p:cNvPicPr>
          <p:nvPr/>
        </p:nvPicPr>
        <p:blipFill>
          <a:blip r:embed="rId4"/>
          <a:stretch>
            <a:fillRect/>
          </a:stretch>
        </p:blipFill>
        <p:spPr>
          <a:xfrm>
            <a:off x="640080" y="5235478"/>
            <a:ext cx="11155680" cy="1099738"/>
          </a:xfrm>
          <a:prstGeom prst="rect">
            <a:avLst/>
          </a:prstGeom>
        </p:spPr>
      </p:pic>
    </p:spTree>
    <p:extLst>
      <p:ext uri="{BB962C8B-B14F-4D97-AF65-F5344CB8AC3E}">
        <p14:creationId xmlns:p14="http://schemas.microsoft.com/office/powerpoint/2010/main" val="2669246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Indicar la ubicación del archivo</a:t>
            </a:r>
            <a:endParaRPr lang="en-US" sz="1600" dirty="0"/>
          </a:p>
        </p:txBody>
      </p:sp>
      <p:sp>
        <p:nvSpPr>
          <p:cNvPr id="7" name="Shape 5"/>
          <p:cNvSpPr/>
          <p:nvPr/>
        </p:nvSpPr>
        <p:spPr>
          <a:xfrm>
            <a:off x="640080" y="1955554"/>
            <a:ext cx="5486400" cy="1005840"/>
          </a:xfrm>
          <a:prstGeom prst="rect">
            <a:avLst/>
          </a:prstGeom>
          <a:solidFill>
            <a:srgbClr val="FFFFFF"/>
          </a:solidFill>
          <a:ln/>
          <a:effectLst>
            <a:outerShdw blurRad="101600" dist="12700" dir="5400000" algn="bl" rotWithShape="0">
              <a:srgbClr val="1E2761">
                <a:alpha val="8000"/>
              </a:srgbClr>
            </a:outerShdw>
          </a:effectLst>
        </p:spPr>
      </p:sp>
      <p:sp>
        <p:nvSpPr>
          <p:cNvPr id="8" name="Shape 6"/>
          <p:cNvSpPr/>
          <p:nvPr/>
        </p:nvSpPr>
        <p:spPr>
          <a:xfrm>
            <a:off x="640080" y="1955554"/>
            <a:ext cx="73152" cy="1005840"/>
          </a:xfrm>
          <a:prstGeom prst="rect">
            <a:avLst/>
          </a:prstGeom>
          <a:solidFill>
            <a:srgbClr val="B8860B"/>
          </a:solidFill>
          <a:ln/>
        </p:spPr>
      </p:sp>
      <p:sp>
        <p:nvSpPr>
          <p:cNvPr id="10" name="Text 7"/>
          <p:cNvSpPr/>
          <p:nvPr/>
        </p:nvSpPr>
        <p:spPr>
          <a:xfrm>
            <a:off x="914400" y="2090502"/>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Ubicación</a:t>
            </a:r>
            <a:endParaRPr lang="en-US" sz="1400" dirty="0"/>
          </a:p>
        </p:txBody>
      </p:sp>
      <p:sp>
        <p:nvSpPr>
          <p:cNvPr id="11" name="Text 8"/>
          <p:cNvSpPr/>
          <p:nvPr/>
        </p:nvSpPr>
        <p:spPr>
          <a:xfrm>
            <a:off x="914400" y="2456262"/>
            <a:ext cx="4389120" cy="457200"/>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Archivo </a:t>
            </a:r>
            <a:r>
              <a:rPr lang="es-MX" sz="1200" b="1" i="1" dirty="0">
                <a:solidFill>
                  <a:srgbClr val="4A5568"/>
                </a:solidFill>
                <a:latin typeface="Calibri" pitchFamily="34" charset="0"/>
                <a:ea typeface="Calibri" pitchFamily="34" charset="-122"/>
                <a:cs typeface="Calibri" pitchFamily="34" charset="-120"/>
              </a:rPr>
              <a:t>LD2011_2014.txt </a:t>
            </a:r>
            <a:r>
              <a:rPr lang="es-MX" sz="1200" dirty="0">
                <a:solidFill>
                  <a:srgbClr val="4A5568"/>
                </a:solidFill>
                <a:latin typeface="Calibri" pitchFamily="34" charset="0"/>
                <a:ea typeface="Calibri" pitchFamily="34" charset="-122"/>
                <a:cs typeface="Calibri" pitchFamily="34" charset="-120"/>
              </a:rPr>
              <a:t>ya está cargado en Unity </a:t>
            </a:r>
            <a:r>
              <a:rPr lang="es-MX" sz="1200" dirty="0" err="1">
                <a:solidFill>
                  <a:srgbClr val="4A5568"/>
                </a:solidFill>
                <a:latin typeface="Calibri" pitchFamily="34" charset="0"/>
                <a:ea typeface="Calibri" pitchFamily="34" charset="-122"/>
                <a:cs typeface="Calibri" pitchFamily="34" charset="-120"/>
              </a:rPr>
              <a:t>Catalog</a:t>
            </a:r>
            <a:r>
              <a:rPr lang="es-MX" sz="1200" dirty="0">
                <a:solidFill>
                  <a:srgbClr val="4A5568"/>
                </a:solidFill>
                <a:latin typeface="Calibri" pitchFamily="34" charset="0"/>
                <a:ea typeface="Calibri" pitchFamily="34" charset="-122"/>
                <a:cs typeface="Calibri" pitchFamily="34" charset="-120"/>
              </a:rPr>
              <a:t> </a:t>
            </a:r>
            <a:r>
              <a:rPr lang="es-MX" sz="1200" dirty="0" err="1">
                <a:solidFill>
                  <a:srgbClr val="4A5568"/>
                </a:solidFill>
                <a:latin typeface="Calibri" pitchFamily="34" charset="0"/>
                <a:ea typeface="Calibri" pitchFamily="34" charset="-122"/>
                <a:cs typeface="Calibri" pitchFamily="34" charset="-120"/>
              </a:rPr>
              <a:t>Volumes</a:t>
            </a:r>
            <a:r>
              <a:rPr lang="es-MX" sz="1200" dirty="0">
                <a:solidFill>
                  <a:srgbClr val="4A5568"/>
                </a:solidFill>
                <a:latin typeface="Calibri" pitchFamily="34" charset="0"/>
                <a:ea typeface="Calibri" pitchFamily="34" charset="-122"/>
                <a:cs typeface="Calibri" pitchFamily="34" charset="-120"/>
              </a:rPr>
              <a:t>.</a:t>
            </a:r>
            <a:endParaRPr lang="en-US" sz="1200" dirty="0"/>
          </a:p>
        </p:txBody>
      </p:sp>
      <p:sp>
        <p:nvSpPr>
          <p:cNvPr id="12" name="Shape 9"/>
          <p:cNvSpPr/>
          <p:nvPr/>
        </p:nvSpPr>
        <p:spPr>
          <a:xfrm>
            <a:off x="6309360" y="1965369"/>
            <a:ext cx="5486400" cy="1005840"/>
          </a:xfrm>
          <a:prstGeom prst="rect">
            <a:avLst/>
          </a:prstGeom>
          <a:solidFill>
            <a:srgbClr val="FFFFFF"/>
          </a:solidFill>
          <a:ln/>
          <a:effectLst>
            <a:outerShdw blurRad="101600" dist="12700" dir="5400000" algn="bl" rotWithShape="0">
              <a:srgbClr val="1E2761">
                <a:alpha val="8000"/>
              </a:srgbClr>
            </a:outerShdw>
          </a:effectLst>
        </p:spPr>
        <p:txBody>
          <a:bodyPr/>
          <a:lstStyle/>
          <a:p>
            <a:endParaRPr lang="es-PE" dirty="0"/>
          </a:p>
        </p:txBody>
      </p:sp>
      <p:sp>
        <p:nvSpPr>
          <p:cNvPr id="13" name="Shape 10"/>
          <p:cNvSpPr/>
          <p:nvPr/>
        </p:nvSpPr>
        <p:spPr>
          <a:xfrm>
            <a:off x="6309360" y="1965369"/>
            <a:ext cx="73152" cy="1005840"/>
          </a:xfrm>
          <a:prstGeom prst="rect">
            <a:avLst/>
          </a:prstGeom>
          <a:solidFill>
            <a:srgbClr val="B8860B"/>
          </a:solidFill>
          <a:ln/>
        </p:spPr>
      </p:sp>
      <p:sp>
        <p:nvSpPr>
          <p:cNvPr id="15" name="Text 11"/>
          <p:cNvSpPr/>
          <p:nvPr/>
        </p:nvSpPr>
        <p:spPr>
          <a:xfrm>
            <a:off x="6583680" y="2092714"/>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Ruta</a:t>
            </a:r>
            <a:endParaRPr lang="en-US" sz="1400" dirty="0"/>
          </a:p>
        </p:txBody>
      </p:sp>
      <p:sp>
        <p:nvSpPr>
          <p:cNvPr id="16" name="Text 12"/>
          <p:cNvSpPr/>
          <p:nvPr/>
        </p:nvSpPr>
        <p:spPr>
          <a:xfrm>
            <a:off x="6583680" y="2458474"/>
            <a:ext cx="5138928" cy="4572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La </a:t>
            </a:r>
            <a:r>
              <a:rPr lang="en-US" sz="1200" dirty="0" err="1">
                <a:solidFill>
                  <a:srgbClr val="4A5568"/>
                </a:solidFill>
                <a:latin typeface="Calibri" pitchFamily="34" charset="0"/>
                <a:ea typeface="Calibri" pitchFamily="34" charset="-122"/>
                <a:cs typeface="Calibri" pitchFamily="34" charset="-120"/>
              </a:rPr>
              <a:t>ruta</a:t>
            </a:r>
            <a:r>
              <a:rPr lang="en-US" sz="1200" dirty="0">
                <a:solidFill>
                  <a:srgbClr val="4A5568"/>
                </a:solidFill>
                <a:latin typeface="Calibri" pitchFamily="34" charset="0"/>
                <a:ea typeface="Calibri" pitchFamily="34" charset="-122"/>
                <a:cs typeface="Calibri" pitchFamily="34" charset="-120"/>
              </a:rPr>
              <a:t> para </a:t>
            </a:r>
            <a:r>
              <a:rPr lang="en-US" sz="1200" dirty="0" err="1">
                <a:solidFill>
                  <a:srgbClr val="4A5568"/>
                </a:solidFill>
                <a:latin typeface="Calibri" pitchFamily="34" charset="0"/>
                <a:ea typeface="Calibri" pitchFamily="34" charset="-122"/>
                <a:cs typeface="Calibri" pitchFamily="34" charset="-120"/>
              </a:rPr>
              <a:t>aplicar</a:t>
            </a:r>
            <a:r>
              <a:rPr lang="en-US" sz="1200" dirty="0">
                <a:solidFill>
                  <a:srgbClr val="4A5568"/>
                </a:solidFill>
                <a:latin typeface="Calibri" pitchFamily="34" charset="0"/>
                <a:ea typeface="Calibri" pitchFamily="34" charset="-122"/>
                <a:cs typeface="Calibri" pitchFamily="34" charset="-120"/>
              </a:rPr>
              <a:t> pandas es </a:t>
            </a:r>
            <a:r>
              <a:rPr lang="en-US" sz="1200" b="1" dirty="0">
                <a:solidFill>
                  <a:srgbClr val="4A5568"/>
                </a:solidFill>
                <a:latin typeface="Calibri" pitchFamily="34" charset="0"/>
                <a:ea typeface="Calibri" pitchFamily="34" charset="-122"/>
                <a:cs typeface="Calibri" pitchFamily="34" charset="-120"/>
              </a:rPr>
              <a:t>/Volumes/workspace/</a:t>
            </a:r>
            <a:r>
              <a:rPr lang="en-US" sz="1200" b="1" dirty="0" err="1">
                <a:solidFill>
                  <a:srgbClr val="4A5568"/>
                </a:solidFill>
                <a:latin typeface="Calibri" pitchFamily="34" charset="0"/>
                <a:ea typeface="Calibri" pitchFamily="34" charset="-122"/>
                <a:cs typeface="Calibri" pitchFamily="34" charset="-120"/>
              </a:rPr>
              <a:t>etsformer</a:t>
            </a:r>
            <a:r>
              <a:rPr lang="en-US" sz="1200" b="1" dirty="0">
                <a:solidFill>
                  <a:srgbClr val="4A5568"/>
                </a:solidFill>
                <a:latin typeface="Calibri" pitchFamily="34" charset="0"/>
                <a:ea typeface="Calibri" pitchFamily="34" charset="-122"/>
                <a:cs typeface="Calibri" pitchFamily="34" charset="-120"/>
              </a:rPr>
              <a:t>/</a:t>
            </a:r>
            <a:r>
              <a:rPr lang="en-US" sz="1200" b="1" dirty="0" err="1">
                <a:solidFill>
                  <a:srgbClr val="4A5568"/>
                </a:solidFill>
                <a:latin typeface="Calibri" pitchFamily="34" charset="0"/>
                <a:ea typeface="Calibri" pitchFamily="34" charset="-122"/>
                <a:cs typeface="Calibri" pitchFamily="34" charset="-120"/>
              </a:rPr>
              <a:t>raw_files</a:t>
            </a:r>
            <a:r>
              <a:rPr lang="en-US" sz="1200" b="1" dirty="0">
                <a:solidFill>
                  <a:srgbClr val="4A5568"/>
                </a:solidFill>
                <a:latin typeface="Calibri" pitchFamily="34" charset="0"/>
                <a:ea typeface="Calibri" pitchFamily="34" charset="-122"/>
                <a:cs typeface="Calibri" pitchFamily="34" charset="-120"/>
              </a:rPr>
              <a:t>/LD2011_2014.txt</a:t>
            </a:r>
            <a:endParaRPr lang="en-US" sz="12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4" name="Imagen 13">
            <a:extLst>
              <a:ext uri="{FF2B5EF4-FFF2-40B4-BE49-F238E27FC236}">
                <a16:creationId xmlns:a16="http://schemas.microsoft.com/office/drawing/2014/main" id="{FC2F7408-B868-41A6-9109-67B13DA4A22A}"/>
              </a:ext>
            </a:extLst>
          </p:cNvPr>
          <p:cNvPicPr>
            <a:picLocks noChangeAspect="1"/>
          </p:cNvPicPr>
          <p:nvPr/>
        </p:nvPicPr>
        <p:blipFill>
          <a:blip r:embed="rId3"/>
          <a:stretch>
            <a:fillRect/>
          </a:stretch>
        </p:blipFill>
        <p:spPr>
          <a:xfrm>
            <a:off x="640081" y="3091099"/>
            <a:ext cx="9401542" cy="3126821"/>
          </a:xfrm>
          <a:prstGeom prst="rect">
            <a:avLst/>
          </a:prstGeom>
        </p:spPr>
      </p:pic>
    </p:spTree>
    <p:extLst>
      <p:ext uri="{BB962C8B-B14F-4D97-AF65-F5344CB8AC3E}">
        <p14:creationId xmlns:p14="http://schemas.microsoft.com/office/powerpoint/2010/main" val="507645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Cargar el </a:t>
            </a:r>
            <a:r>
              <a:rPr lang="es-MX" sz="1600" b="1" dirty="0" err="1">
                <a:solidFill>
                  <a:srgbClr val="1E2761"/>
                </a:solidFill>
                <a:latin typeface="Georgia" pitchFamily="34" charset="0"/>
                <a:ea typeface="Georgia" pitchFamily="34" charset="-122"/>
                <a:cs typeface="Georgia" pitchFamily="34" charset="-120"/>
              </a:rPr>
              <a:t>dataset</a:t>
            </a:r>
            <a:r>
              <a:rPr lang="es-MX" sz="1600" b="1" dirty="0">
                <a:solidFill>
                  <a:srgbClr val="1E2761"/>
                </a:solidFill>
                <a:latin typeface="Georgia" pitchFamily="34" charset="0"/>
                <a:ea typeface="Georgia" pitchFamily="34" charset="-122"/>
                <a:cs typeface="Georgia" pitchFamily="34" charset="-120"/>
              </a:rPr>
              <a:t> completo</a:t>
            </a:r>
            <a:endParaRPr lang="en-US" sz="16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9" name="Imagen 8">
            <a:extLst>
              <a:ext uri="{FF2B5EF4-FFF2-40B4-BE49-F238E27FC236}">
                <a16:creationId xmlns:a16="http://schemas.microsoft.com/office/drawing/2014/main" id="{65603A81-4A05-4174-B410-9BE8B606AD77}"/>
              </a:ext>
            </a:extLst>
          </p:cNvPr>
          <p:cNvPicPr>
            <a:picLocks noChangeAspect="1"/>
          </p:cNvPicPr>
          <p:nvPr/>
        </p:nvPicPr>
        <p:blipFill rotWithShape="1">
          <a:blip r:embed="rId3"/>
          <a:srcRect r="49136"/>
          <a:stretch/>
        </p:blipFill>
        <p:spPr>
          <a:xfrm>
            <a:off x="6230363" y="1955554"/>
            <a:ext cx="5382517" cy="2907709"/>
          </a:xfrm>
          <a:prstGeom prst="rect">
            <a:avLst/>
          </a:prstGeom>
        </p:spPr>
      </p:pic>
      <p:sp>
        <p:nvSpPr>
          <p:cNvPr id="20" name="Shape 5">
            <a:extLst>
              <a:ext uri="{FF2B5EF4-FFF2-40B4-BE49-F238E27FC236}">
                <a16:creationId xmlns:a16="http://schemas.microsoft.com/office/drawing/2014/main" id="{AE698763-B2CB-4466-8CBD-324D512396CF}"/>
              </a:ext>
            </a:extLst>
          </p:cNvPr>
          <p:cNvSpPr/>
          <p:nvPr/>
        </p:nvSpPr>
        <p:spPr>
          <a:xfrm>
            <a:off x="640080" y="1955554"/>
            <a:ext cx="5486400" cy="2297664"/>
          </a:xfrm>
          <a:prstGeom prst="rect">
            <a:avLst/>
          </a:prstGeom>
          <a:solidFill>
            <a:srgbClr val="FFFFFF"/>
          </a:solidFill>
          <a:ln/>
          <a:effectLst>
            <a:outerShdw blurRad="101600" dist="12700" dir="5400000" algn="bl" rotWithShape="0">
              <a:srgbClr val="1E2761">
                <a:alpha val="8000"/>
              </a:srgbClr>
            </a:outerShdw>
          </a:effectLst>
        </p:spPr>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2297664"/>
          </a:xfrm>
          <a:prstGeom prst="rect">
            <a:avLst/>
          </a:prstGeom>
          <a:solidFill>
            <a:srgbClr val="B8860B"/>
          </a:solidFill>
          <a:ln/>
        </p:spPr>
      </p:sp>
      <p:sp>
        <p:nvSpPr>
          <p:cNvPr id="22" name="Text 7">
            <a:extLst>
              <a:ext uri="{FF2B5EF4-FFF2-40B4-BE49-F238E27FC236}">
                <a16:creationId xmlns:a16="http://schemas.microsoft.com/office/drawing/2014/main" id="{17F01A77-C88C-430A-B57C-58B563FDDC02}"/>
              </a:ext>
            </a:extLst>
          </p:cNvPr>
          <p:cNvSpPr/>
          <p:nvPr/>
        </p:nvSpPr>
        <p:spPr>
          <a:xfrm>
            <a:off x="914400" y="2090502"/>
            <a:ext cx="4389120" cy="3003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Características</a:t>
            </a:r>
            <a:r>
              <a:rPr lang="en-US" sz="1400" b="1" dirty="0">
                <a:solidFill>
                  <a:srgbClr val="1E2761"/>
                </a:solidFill>
                <a:latin typeface="Calibri" pitchFamily="34" charset="0"/>
                <a:ea typeface="Calibri" pitchFamily="34" charset="-122"/>
                <a:cs typeface="Calibri" pitchFamily="34" charset="-120"/>
              </a:rPr>
              <a:t> del </a:t>
            </a:r>
            <a:r>
              <a:rPr lang="en-US" sz="1400" b="1" dirty="0" err="1">
                <a:solidFill>
                  <a:srgbClr val="1E2761"/>
                </a:solidFill>
                <a:latin typeface="Calibri" pitchFamily="34" charset="0"/>
                <a:ea typeface="Calibri" pitchFamily="34" charset="-122"/>
                <a:cs typeface="Calibri" pitchFamily="34" charset="-120"/>
              </a:rPr>
              <a:t>archivo</a:t>
            </a:r>
            <a:endParaRPr lang="en-US" sz="1400" dirty="0"/>
          </a:p>
        </p:txBody>
      </p:sp>
      <p:sp>
        <p:nvSpPr>
          <p:cNvPr id="23" name="Text 8">
            <a:extLst>
              <a:ext uri="{FF2B5EF4-FFF2-40B4-BE49-F238E27FC236}">
                <a16:creationId xmlns:a16="http://schemas.microsoft.com/office/drawing/2014/main" id="{BDA2F796-B442-408C-84FB-CE459006B483}"/>
              </a:ext>
            </a:extLst>
          </p:cNvPr>
          <p:cNvSpPr/>
          <p:nvPr/>
        </p:nvSpPr>
        <p:spPr>
          <a:xfrm>
            <a:off x="914400" y="2462715"/>
            <a:ext cx="4389120" cy="1294938"/>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El archivo tiene estas características:</a:t>
            </a:r>
          </a:p>
          <a:p>
            <a:pPr marL="0" indent="0">
              <a:buNone/>
            </a:pPr>
            <a:endParaRPr lang="es-MX" sz="1200" dirty="0">
              <a:solidFill>
                <a:srgbClr val="4A5568"/>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Separador de columnas: ;</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Decimal europeo: ,</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Primera columna: fecha/hora</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Columnas restantes: clientes eléctricos</a:t>
            </a:r>
          </a:p>
          <a:p>
            <a:pPr marL="0" indent="0">
              <a:buNone/>
            </a:pPr>
            <a:endParaRPr lang="es-MX" sz="1200" dirty="0">
              <a:solidFill>
                <a:srgbClr val="4A5568"/>
              </a:solidFill>
              <a:latin typeface="Calibri" pitchFamily="34" charset="0"/>
              <a:ea typeface="Calibri" pitchFamily="34" charset="-122"/>
              <a:cs typeface="Calibri" pitchFamily="34" charset="-120"/>
            </a:endParaRPr>
          </a:p>
          <a:p>
            <a:pPr marL="0" indent="0">
              <a:buNone/>
            </a:pPr>
            <a:r>
              <a:rPr lang="es-MX" sz="1200" dirty="0">
                <a:solidFill>
                  <a:srgbClr val="4A5568"/>
                </a:solidFill>
                <a:latin typeface="Calibri" pitchFamily="34" charset="0"/>
                <a:ea typeface="Calibri" pitchFamily="34" charset="-122"/>
                <a:cs typeface="Calibri" pitchFamily="34" charset="-120"/>
              </a:rPr>
              <a:t>Cada fila representa una medición cada 15 minutos.</a:t>
            </a:r>
            <a:endParaRPr lang="en-US" sz="1200" dirty="0"/>
          </a:p>
        </p:txBody>
      </p:sp>
      <p:pic>
        <p:nvPicPr>
          <p:cNvPr id="18" name="Imagen 17">
            <a:extLst>
              <a:ext uri="{FF2B5EF4-FFF2-40B4-BE49-F238E27FC236}">
                <a16:creationId xmlns:a16="http://schemas.microsoft.com/office/drawing/2014/main" id="{8BF7F04B-A5DE-4FF3-AF09-6B3C648A5FC0}"/>
              </a:ext>
            </a:extLst>
          </p:cNvPr>
          <p:cNvPicPr>
            <a:picLocks noChangeAspect="1"/>
          </p:cNvPicPr>
          <p:nvPr/>
        </p:nvPicPr>
        <p:blipFill>
          <a:blip r:embed="rId4"/>
          <a:stretch>
            <a:fillRect/>
          </a:stretch>
        </p:blipFill>
        <p:spPr>
          <a:xfrm>
            <a:off x="914400" y="4388166"/>
            <a:ext cx="1754693" cy="1790503"/>
          </a:xfrm>
          <a:prstGeom prst="rect">
            <a:avLst/>
          </a:prstGeom>
        </p:spPr>
      </p:pic>
    </p:spTree>
    <p:extLst>
      <p:ext uri="{BB962C8B-B14F-4D97-AF65-F5344CB8AC3E}">
        <p14:creationId xmlns:p14="http://schemas.microsoft.com/office/powerpoint/2010/main" val="206623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Procesar la columna de fecha</a:t>
            </a:r>
            <a:endParaRPr lang="en-US" sz="16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0" y="1955554"/>
            <a:ext cx="4821153" cy="962785"/>
          </a:xfrm>
          <a:prstGeom prst="rect">
            <a:avLst/>
          </a:prstGeom>
          <a:solidFill>
            <a:srgbClr val="FFFFFF"/>
          </a:solidFill>
          <a:ln/>
          <a:effectLst>
            <a:outerShdw blurRad="101600" dist="12700" dir="5400000" algn="bl" rotWithShape="0">
              <a:srgbClr val="1E2761">
                <a:alpha val="8000"/>
              </a:srgbClr>
            </a:outerShdw>
          </a:effectLst>
        </p:spPr>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962785"/>
          </a:xfrm>
          <a:prstGeom prst="rect">
            <a:avLst/>
          </a:prstGeom>
          <a:solidFill>
            <a:srgbClr val="B8860B"/>
          </a:solidFill>
          <a:ln/>
        </p:spPr>
      </p:sp>
      <p:sp>
        <p:nvSpPr>
          <p:cNvPr id="23" name="Text 8">
            <a:extLst>
              <a:ext uri="{FF2B5EF4-FFF2-40B4-BE49-F238E27FC236}">
                <a16:creationId xmlns:a16="http://schemas.microsoft.com/office/drawing/2014/main" id="{BDA2F796-B442-408C-84FB-CE459006B483}"/>
              </a:ext>
            </a:extLst>
          </p:cNvPr>
          <p:cNvSpPr/>
          <p:nvPr/>
        </p:nvSpPr>
        <p:spPr>
          <a:xfrm>
            <a:off x="914400" y="2003085"/>
            <a:ext cx="4389120" cy="867721"/>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Para trabajar con series temporales y realizar *</a:t>
            </a:r>
            <a:r>
              <a:rPr lang="es-MX" sz="1200" dirty="0" err="1">
                <a:solidFill>
                  <a:srgbClr val="4A5568"/>
                </a:solidFill>
                <a:latin typeface="Calibri" pitchFamily="34" charset="0"/>
                <a:ea typeface="Calibri" pitchFamily="34" charset="-122"/>
                <a:cs typeface="Calibri" pitchFamily="34" charset="-120"/>
              </a:rPr>
              <a:t>forecasting</a:t>
            </a:r>
            <a:r>
              <a:rPr lang="es-MX" sz="1200" dirty="0">
                <a:solidFill>
                  <a:srgbClr val="4A5568"/>
                </a:solidFill>
                <a:latin typeface="Calibri" pitchFamily="34" charset="0"/>
                <a:ea typeface="Calibri" pitchFamily="34" charset="-122"/>
                <a:cs typeface="Calibri" pitchFamily="34" charset="-120"/>
              </a:rPr>
              <a:t>*, es indispensable convertir las fechas a formato real y mantener un orden cronológico estricto, ya que la predicción depende directamente de la secuencia histórica de los datos.</a:t>
            </a:r>
            <a:endParaRPr lang="en-US" sz="1200" dirty="0"/>
          </a:p>
        </p:txBody>
      </p:sp>
      <p:pic>
        <p:nvPicPr>
          <p:cNvPr id="10" name="Imagen 9">
            <a:extLst>
              <a:ext uri="{FF2B5EF4-FFF2-40B4-BE49-F238E27FC236}">
                <a16:creationId xmlns:a16="http://schemas.microsoft.com/office/drawing/2014/main" id="{C8D0586C-13C2-4C43-8A17-3CC471C5A0E2}"/>
              </a:ext>
            </a:extLst>
          </p:cNvPr>
          <p:cNvPicPr>
            <a:picLocks noChangeAspect="1"/>
          </p:cNvPicPr>
          <p:nvPr/>
        </p:nvPicPr>
        <p:blipFill>
          <a:blip r:embed="rId3"/>
          <a:stretch>
            <a:fillRect/>
          </a:stretch>
        </p:blipFill>
        <p:spPr>
          <a:xfrm>
            <a:off x="625539" y="3118787"/>
            <a:ext cx="10895901" cy="3099133"/>
          </a:xfrm>
          <a:prstGeom prst="rect">
            <a:avLst/>
          </a:prstGeom>
        </p:spPr>
      </p:pic>
    </p:spTree>
    <p:extLst>
      <p:ext uri="{BB962C8B-B14F-4D97-AF65-F5344CB8AC3E}">
        <p14:creationId xmlns:p14="http://schemas.microsoft.com/office/powerpoint/2010/main" val="2427883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Convertir los valores a formato numérico</a:t>
            </a:r>
            <a:endParaRPr lang="en-US" sz="16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0" y="1955554"/>
            <a:ext cx="4821153" cy="898376"/>
          </a:xfrm>
          <a:prstGeom prst="rect">
            <a:avLst/>
          </a:prstGeom>
          <a:solidFill>
            <a:srgbClr val="FFFFFF"/>
          </a:solidFill>
          <a:ln/>
          <a:effectLst>
            <a:outerShdw blurRad="101600" dist="12700" dir="5400000" algn="bl" rotWithShape="0">
              <a:srgbClr val="1E2761">
                <a:alpha val="8000"/>
              </a:srgbClr>
            </a:outerShdw>
          </a:effectLst>
        </p:spPr>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898376"/>
          </a:xfrm>
          <a:prstGeom prst="rect">
            <a:avLst/>
          </a:prstGeom>
          <a:solidFill>
            <a:srgbClr val="B8860B"/>
          </a:solidFill>
          <a:ln/>
        </p:spPr>
      </p:sp>
      <p:sp>
        <p:nvSpPr>
          <p:cNvPr id="23" name="Text 8">
            <a:extLst>
              <a:ext uri="{FF2B5EF4-FFF2-40B4-BE49-F238E27FC236}">
                <a16:creationId xmlns:a16="http://schemas.microsoft.com/office/drawing/2014/main" id="{BDA2F796-B442-408C-84FB-CE459006B483}"/>
              </a:ext>
            </a:extLst>
          </p:cNvPr>
          <p:cNvSpPr/>
          <p:nvPr/>
        </p:nvSpPr>
        <p:spPr>
          <a:xfrm>
            <a:off x="868680" y="2132547"/>
            <a:ext cx="4389120" cy="633680"/>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Algunos valores pueden ser leídos como texto. Convertimos todas las columnas de consumo a valores numéricos para que puedan ser usadas por el modelo.</a:t>
            </a:r>
            <a:endParaRPr lang="en-US" sz="1200" dirty="0"/>
          </a:p>
        </p:txBody>
      </p:sp>
      <p:pic>
        <p:nvPicPr>
          <p:cNvPr id="7" name="Imagen 6">
            <a:extLst>
              <a:ext uri="{FF2B5EF4-FFF2-40B4-BE49-F238E27FC236}">
                <a16:creationId xmlns:a16="http://schemas.microsoft.com/office/drawing/2014/main" id="{78F7DB0A-FFA2-4FC3-AFF3-FFD975B2128B}"/>
              </a:ext>
            </a:extLst>
          </p:cNvPr>
          <p:cNvPicPr>
            <a:picLocks noChangeAspect="1"/>
          </p:cNvPicPr>
          <p:nvPr/>
        </p:nvPicPr>
        <p:blipFill rotWithShape="1">
          <a:blip r:embed="rId3"/>
          <a:srcRect r="49285"/>
          <a:stretch/>
        </p:blipFill>
        <p:spPr>
          <a:xfrm>
            <a:off x="625540" y="3043013"/>
            <a:ext cx="4835694" cy="2042711"/>
          </a:xfrm>
          <a:prstGeom prst="rect">
            <a:avLst/>
          </a:prstGeom>
        </p:spPr>
      </p:pic>
      <p:sp>
        <p:nvSpPr>
          <p:cNvPr id="15" name="Text 4">
            <a:extLst>
              <a:ext uri="{FF2B5EF4-FFF2-40B4-BE49-F238E27FC236}">
                <a16:creationId xmlns:a16="http://schemas.microsoft.com/office/drawing/2014/main" id="{5F8047F8-64E1-4218-8F49-424A546A1A9C}"/>
              </a:ext>
            </a:extLst>
          </p:cNvPr>
          <p:cNvSpPr/>
          <p:nvPr/>
        </p:nvSpPr>
        <p:spPr>
          <a:xfrm>
            <a:off x="5954225" y="1408176"/>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Elegir un cliente eléctrico</a:t>
            </a:r>
            <a:endParaRPr lang="en-US" sz="1600" dirty="0"/>
          </a:p>
        </p:txBody>
      </p:sp>
      <p:sp>
        <p:nvSpPr>
          <p:cNvPr id="16" name="Shape 5">
            <a:extLst>
              <a:ext uri="{FF2B5EF4-FFF2-40B4-BE49-F238E27FC236}">
                <a16:creationId xmlns:a16="http://schemas.microsoft.com/office/drawing/2014/main" id="{0865E583-DBA6-4E43-ABA0-16B685D29D73}"/>
              </a:ext>
            </a:extLst>
          </p:cNvPr>
          <p:cNvSpPr/>
          <p:nvPr/>
        </p:nvSpPr>
        <p:spPr>
          <a:xfrm>
            <a:off x="5968766" y="1908175"/>
            <a:ext cx="4821153" cy="898376"/>
          </a:xfrm>
          <a:prstGeom prst="rect">
            <a:avLst/>
          </a:prstGeom>
          <a:solidFill>
            <a:srgbClr val="FFFFFF"/>
          </a:solidFill>
          <a:ln/>
          <a:effectLst>
            <a:outerShdw blurRad="101600" dist="12700" dir="5400000" algn="bl" rotWithShape="0">
              <a:srgbClr val="1E2761">
                <a:alpha val="8000"/>
              </a:srgbClr>
            </a:outerShdw>
          </a:effectLst>
        </p:spPr>
      </p:sp>
      <p:sp>
        <p:nvSpPr>
          <p:cNvPr id="17" name="Shape 6">
            <a:extLst>
              <a:ext uri="{FF2B5EF4-FFF2-40B4-BE49-F238E27FC236}">
                <a16:creationId xmlns:a16="http://schemas.microsoft.com/office/drawing/2014/main" id="{D80AC0DD-EAF5-42B7-83CE-77CD7BDCA046}"/>
              </a:ext>
            </a:extLst>
          </p:cNvPr>
          <p:cNvSpPr/>
          <p:nvPr/>
        </p:nvSpPr>
        <p:spPr>
          <a:xfrm>
            <a:off x="5968766" y="1908175"/>
            <a:ext cx="73152" cy="898376"/>
          </a:xfrm>
          <a:prstGeom prst="rect">
            <a:avLst/>
          </a:prstGeom>
          <a:solidFill>
            <a:srgbClr val="B8860B"/>
          </a:solidFill>
          <a:ln/>
        </p:spPr>
      </p:sp>
      <p:sp>
        <p:nvSpPr>
          <p:cNvPr id="18" name="Text 8">
            <a:extLst>
              <a:ext uri="{FF2B5EF4-FFF2-40B4-BE49-F238E27FC236}">
                <a16:creationId xmlns:a16="http://schemas.microsoft.com/office/drawing/2014/main" id="{F5439791-EA75-4A20-B7B3-7AE5E2C7E5E0}"/>
              </a:ext>
            </a:extLst>
          </p:cNvPr>
          <p:cNvSpPr/>
          <p:nvPr/>
        </p:nvSpPr>
        <p:spPr>
          <a:xfrm>
            <a:off x="6221358" y="2008739"/>
            <a:ext cx="4389120" cy="707358"/>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El </a:t>
            </a:r>
            <a:r>
              <a:rPr lang="es-MX" sz="1200" dirty="0" err="1">
                <a:solidFill>
                  <a:srgbClr val="4A5568"/>
                </a:solidFill>
                <a:latin typeface="Calibri" pitchFamily="34" charset="0"/>
                <a:ea typeface="Calibri" pitchFamily="34" charset="-122"/>
                <a:cs typeface="Calibri" pitchFamily="34" charset="-120"/>
              </a:rPr>
              <a:t>dataset</a:t>
            </a:r>
            <a:r>
              <a:rPr lang="es-MX" sz="1200" dirty="0">
                <a:solidFill>
                  <a:srgbClr val="4A5568"/>
                </a:solidFill>
                <a:latin typeface="Calibri" pitchFamily="34" charset="0"/>
                <a:ea typeface="Calibri" pitchFamily="34" charset="-122"/>
                <a:cs typeface="Calibri" pitchFamily="34" charset="-120"/>
              </a:rPr>
              <a:t> contiene muchos clientes. Para empezar, usaremos solo uno. Esto se llama </a:t>
            </a:r>
            <a:r>
              <a:rPr lang="es-MX" sz="1200" dirty="0" err="1">
                <a:solidFill>
                  <a:srgbClr val="4A5568"/>
                </a:solidFill>
                <a:latin typeface="Calibri" pitchFamily="34" charset="0"/>
                <a:ea typeface="Calibri" pitchFamily="34" charset="-122"/>
                <a:cs typeface="Calibri" pitchFamily="34" charset="-120"/>
              </a:rPr>
              <a:t>forecasting</a:t>
            </a:r>
            <a:r>
              <a:rPr lang="es-MX" sz="1200" dirty="0">
                <a:solidFill>
                  <a:srgbClr val="4A5568"/>
                </a:solidFill>
                <a:latin typeface="Calibri" pitchFamily="34" charset="0"/>
                <a:ea typeface="Calibri" pitchFamily="34" charset="-122"/>
                <a:cs typeface="Calibri" pitchFamily="34" charset="-120"/>
              </a:rPr>
              <a:t> </a:t>
            </a:r>
            <a:r>
              <a:rPr lang="es-MX" sz="1200" dirty="0" err="1">
                <a:solidFill>
                  <a:srgbClr val="4A5568"/>
                </a:solidFill>
                <a:latin typeface="Calibri" pitchFamily="34" charset="0"/>
                <a:ea typeface="Calibri" pitchFamily="34" charset="-122"/>
                <a:cs typeface="Calibri" pitchFamily="34" charset="-120"/>
              </a:rPr>
              <a:t>univariado</a:t>
            </a:r>
            <a:r>
              <a:rPr lang="es-MX" sz="1200" dirty="0">
                <a:solidFill>
                  <a:srgbClr val="4A5568"/>
                </a:solidFill>
                <a:latin typeface="Calibri" pitchFamily="34" charset="0"/>
                <a:ea typeface="Calibri" pitchFamily="34" charset="-122"/>
                <a:cs typeface="Calibri" pitchFamily="34" charset="-120"/>
              </a:rPr>
              <a:t>. Elegiremos automáticamente el cliente con mayor consumo total porque probablemente tiene una señal más activa y menos vacía.</a:t>
            </a:r>
          </a:p>
        </p:txBody>
      </p:sp>
      <p:pic>
        <p:nvPicPr>
          <p:cNvPr id="9" name="Imagen 8">
            <a:extLst>
              <a:ext uri="{FF2B5EF4-FFF2-40B4-BE49-F238E27FC236}">
                <a16:creationId xmlns:a16="http://schemas.microsoft.com/office/drawing/2014/main" id="{7F50EF09-724C-49BE-B276-80AEDE405D9E}"/>
              </a:ext>
            </a:extLst>
          </p:cNvPr>
          <p:cNvPicPr>
            <a:picLocks noChangeAspect="1"/>
          </p:cNvPicPr>
          <p:nvPr/>
        </p:nvPicPr>
        <p:blipFill>
          <a:blip r:embed="rId4"/>
          <a:stretch>
            <a:fillRect/>
          </a:stretch>
        </p:blipFill>
        <p:spPr>
          <a:xfrm>
            <a:off x="5954225" y="3039209"/>
            <a:ext cx="4835695" cy="2142034"/>
          </a:xfrm>
          <a:prstGeom prst="rect">
            <a:avLst/>
          </a:prstGeom>
        </p:spPr>
      </p:pic>
    </p:spTree>
    <p:extLst>
      <p:ext uri="{BB962C8B-B14F-4D97-AF65-F5344CB8AC3E}">
        <p14:creationId xmlns:p14="http://schemas.microsoft.com/office/powerpoint/2010/main" val="2212785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Crear la serie temporal del cliente seleccionado</a:t>
            </a:r>
            <a:endParaRPr lang="en-US" sz="1600" dirty="0"/>
          </a:p>
        </p:txBody>
      </p:sp>
      <p:sp>
        <p:nvSpPr>
          <p:cNvPr id="7" name="Shape 5"/>
          <p:cNvSpPr/>
          <p:nvPr/>
        </p:nvSpPr>
        <p:spPr>
          <a:xfrm>
            <a:off x="640080" y="1955554"/>
            <a:ext cx="11155680" cy="1005840"/>
          </a:xfrm>
          <a:prstGeom prst="rect">
            <a:avLst/>
          </a:prstGeom>
          <a:solidFill>
            <a:srgbClr val="FFFFFF"/>
          </a:solidFill>
          <a:ln/>
          <a:effectLst>
            <a:outerShdw blurRad="101600" dist="12700" dir="5400000" algn="bl" rotWithShape="0">
              <a:srgbClr val="1E2761">
                <a:alpha val="8000"/>
              </a:srgbClr>
            </a:outerShdw>
          </a:effectLst>
        </p:spPr>
      </p:sp>
      <p:sp>
        <p:nvSpPr>
          <p:cNvPr id="8" name="Shape 6"/>
          <p:cNvSpPr/>
          <p:nvPr/>
        </p:nvSpPr>
        <p:spPr>
          <a:xfrm>
            <a:off x="640080" y="1955554"/>
            <a:ext cx="73152" cy="1005840"/>
          </a:xfrm>
          <a:prstGeom prst="rect">
            <a:avLst/>
          </a:prstGeom>
          <a:solidFill>
            <a:srgbClr val="B8860B"/>
          </a:solidFill>
          <a:ln/>
        </p:spPr>
      </p:sp>
      <p:sp>
        <p:nvSpPr>
          <p:cNvPr id="10" name="Text 7"/>
          <p:cNvSpPr/>
          <p:nvPr/>
        </p:nvSpPr>
        <p:spPr>
          <a:xfrm>
            <a:off x="914400" y="2090502"/>
            <a:ext cx="4389120" cy="365760"/>
          </a:xfrm>
          <a:prstGeom prst="rect">
            <a:avLst/>
          </a:prstGeom>
          <a:noFill/>
          <a:ln/>
        </p:spPr>
        <p:txBody>
          <a:bodyPr wrap="square" lIns="0" tIns="0" rIns="0" bIns="0" rtlCol="0" anchor="ctr"/>
          <a:lstStyle/>
          <a:p>
            <a:pPr marL="0" indent="0">
              <a:buNone/>
            </a:pPr>
            <a:r>
              <a:rPr lang="en-US" sz="1400" b="1" dirty="0" err="1">
                <a:solidFill>
                  <a:srgbClr val="1E2761"/>
                </a:solidFill>
                <a:latin typeface="Calibri" pitchFamily="34" charset="0"/>
                <a:ea typeface="Calibri" pitchFamily="34" charset="-122"/>
                <a:cs typeface="Calibri" pitchFamily="34" charset="-120"/>
              </a:rPr>
              <a:t>Selección</a:t>
            </a:r>
            <a:r>
              <a:rPr lang="en-US" sz="1400" b="1" dirty="0">
                <a:solidFill>
                  <a:srgbClr val="1E2761"/>
                </a:solidFill>
                <a:latin typeface="Calibri" pitchFamily="34" charset="0"/>
                <a:ea typeface="Calibri" pitchFamily="34" charset="-122"/>
                <a:cs typeface="Calibri" pitchFamily="34" charset="-120"/>
              </a:rPr>
              <a:t> de un solo </a:t>
            </a:r>
            <a:r>
              <a:rPr lang="en-US" sz="1400" b="1" dirty="0" err="1">
                <a:solidFill>
                  <a:srgbClr val="1E2761"/>
                </a:solidFill>
                <a:latin typeface="Calibri" pitchFamily="34" charset="0"/>
                <a:ea typeface="Calibri" pitchFamily="34" charset="-122"/>
                <a:cs typeface="Calibri" pitchFamily="34" charset="-120"/>
              </a:rPr>
              <a:t>cliente</a:t>
            </a:r>
            <a:endParaRPr lang="en-US" sz="1400" dirty="0"/>
          </a:p>
        </p:txBody>
      </p:sp>
      <p:sp>
        <p:nvSpPr>
          <p:cNvPr id="11" name="Text 8"/>
          <p:cNvSpPr/>
          <p:nvPr/>
        </p:nvSpPr>
        <p:spPr>
          <a:xfrm>
            <a:off x="914400" y="2456262"/>
            <a:ext cx="7644384" cy="291117"/>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Tomaremos solo el cliente elegido. También recortaremos desde 2012 para evitar posibles tramos iniciales con muchos ceros o poca actividad. El resultado tendrá dos columnas.</a:t>
            </a:r>
            <a:endParaRPr lang="en-US" sz="12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4" name="Imagen 13">
            <a:extLst>
              <a:ext uri="{FF2B5EF4-FFF2-40B4-BE49-F238E27FC236}">
                <a16:creationId xmlns:a16="http://schemas.microsoft.com/office/drawing/2014/main" id="{6835E356-6D5B-442F-80E9-74FA7D2B35F2}"/>
              </a:ext>
            </a:extLst>
          </p:cNvPr>
          <p:cNvPicPr>
            <a:picLocks noChangeAspect="1"/>
          </p:cNvPicPr>
          <p:nvPr/>
        </p:nvPicPr>
        <p:blipFill>
          <a:blip r:embed="rId3"/>
          <a:stretch>
            <a:fillRect/>
          </a:stretch>
        </p:blipFill>
        <p:spPr>
          <a:xfrm>
            <a:off x="640080" y="3049914"/>
            <a:ext cx="11155680" cy="3386844"/>
          </a:xfrm>
          <a:prstGeom prst="rect">
            <a:avLst/>
          </a:prstGeom>
        </p:spPr>
      </p:pic>
      <p:pic>
        <p:nvPicPr>
          <p:cNvPr id="18" name="Imagen 17">
            <a:extLst>
              <a:ext uri="{FF2B5EF4-FFF2-40B4-BE49-F238E27FC236}">
                <a16:creationId xmlns:a16="http://schemas.microsoft.com/office/drawing/2014/main" id="{41A10E2A-41C7-4DFE-AF5E-1A05BBDE9AE9}"/>
              </a:ext>
            </a:extLst>
          </p:cNvPr>
          <p:cNvPicPr>
            <a:picLocks noChangeAspect="1"/>
          </p:cNvPicPr>
          <p:nvPr/>
        </p:nvPicPr>
        <p:blipFill>
          <a:blip r:embed="rId4"/>
          <a:stretch>
            <a:fillRect/>
          </a:stretch>
        </p:blipFill>
        <p:spPr>
          <a:xfrm>
            <a:off x="8558784" y="2122840"/>
            <a:ext cx="1400370" cy="666843"/>
          </a:xfrm>
          <a:prstGeom prst="rect">
            <a:avLst/>
          </a:prstGeom>
          <a:ln>
            <a:solidFill>
              <a:srgbClr val="B8860B"/>
            </a:solidFill>
          </a:ln>
        </p:spPr>
      </p:pic>
    </p:spTree>
    <p:extLst>
      <p:ext uri="{BB962C8B-B14F-4D97-AF65-F5344CB8AC3E}">
        <p14:creationId xmlns:p14="http://schemas.microsoft.com/office/powerpoint/2010/main" val="217904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Visualizar la serie</a:t>
            </a:r>
            <a:endParaRPr lang="en-US" sz="1600" dirty="0"/>
          </a:p>
        </p:txBody>
      </p:sp>
      <p:sp>
        <p:nvSpPr>
          <p:cNvPr id="7" name="Shape 5"/>
          <p:cNvSpPr/>
          <p:nvPr/>
        </p:nvSpPr>
        <p:spPr>
          <a:xfrm>
            <a:off x="640080" y="1955554"/>
            <a:ext cx="11155680" cy="1005840"/>
          </a:xfrm>
          <a:prstGeom prst="rect">
            <a:avLst/>
          </a:prstGeom>
          <a:solidFill>
            <a:srgbClr val="FFFFFF"/>
          </a:solidFill>
          <a:ln/>
          <a:effectLst>
            <a:outerShdw blurRad="101600" dist="12700" dir="5400000" algn="bl" rotWithShape="0">
              <a:srgbClr val="1E2761">
                <a:alpha val="8000"/>
              </a:srgbClr>
            </a:outerShdw>
          </a:effectLst>
        </p:spPr>
      </p:sp>
      <p:sp>
        <p:nvSpPr>
          <p:cNvPr id="8" name="Shape 6"/>
          <p:cNvSpPr/>
          <p:nvPr/>
        </p:nvSpPr>
        <p:spPr>
          <a:xfrm>
            <a:off x="640080" y="1955554"/>
            <a:ext cx="73152" cy="1005840"/>
          </a:xfrm>
          <a:prstGeom prst="rect">
            <a:avLst/>
          </a:prstGeom>
          <a:solidFill>
            <a:srgbClr val="B8860B"/>
          </a:solidFill>
          <a:ln/>
        </p:spPr>
      </p:sp>
      <p:sp>
        <p:nvSpPr>
          <p:cNvPr id="11" name="Text 8"/>
          <p:cNvSpPr/>
          <p:nvPr/>
        </p:nvSpPr>
        <p:spPr>
          <a:xfrm>
            <a:off x="914400" y="2034506"/>
            <a:ext cx="10698480" cy="832965"/>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Antes de entrenar un modelo, es fundamental analizar la estructura de los datos identificando tres componentes clave: el nivel (consumo base), el crecimiento (tendencia alcista, bajista o estable) y la estacionalidad (patrones cíclicos recurrentes); elementos que el modelo ETSformer integra mediante la descomposición aditiva: Serie = </a:t>
            </a:r>
            <a:r>
              <a:rPr lang="es-MX" sz="1200" dirty="0" err="1">
                <a:solidFill>
                  <a:srgbClr val="4A5568"/>
                </a:solidFill>
                <a:latin typeface="Calibri" pitchFamily="34" charset="0"/>
                <a:ea typeface="Calibri" pitchFamily="34" charset="-122"/>
                <a:cs typeface="Calibri" pitchFamily="34" charset="-120"/>
              </a:rPr>
              <a:t>Level</a:t>
            </a:r>
            <a:r>
              <a:rPr lang="es-MX" sz="1200" dirty="0">
                <a:solidFill>
                  <a:srgbClr val="4A5568"/>
                </a:solidFill>
                <a:latin typeface="Calibri" pitchFamily="34" charset="0"/>
                <a:ea typeface="Calibri" pitchFamily="34" charset="-122"/>
                <a:cs typeface="Calibri" pitchFamily="34" charset="-120"/>
              </a:rPr>
              <a:t> + </a:t>
            </a:r>
            <a:r>
              <a:rPr lang="es-MX" sz="1200" dirty="0" err="1">
                <a:solidFill>
                  <a:srgbClr val="4A5568"/>
                </a:solidFill>
                <a:latin typeface="Calibri" pitchFamily="34" charset="0"/>
                <a:ea typeface="Calibri" pitchFamily="34" charset="-122"/>
                <a:cs typeface="Calibri" pitchFamily="34" charset="-120"/>
              </a:rPr>
              <a:t>Growth</a:t>
            </a:r>
            <a:r>
              <a:rPr lang="es-MX" sz="1200" dirty="0">
                <a:solidFill>
                  <a:srgbClr val="4A5568"/>
                </a:solidFill>
                <a:latin typeface="Calibri" pitchFamily="34" charset="0"/>
                <a:ea typeface="Calibri" pitchFamily="34" charset="-122"/>
                <a:cs typeface="Calibri" pitchFamily="34" charset="-120"/>
              </a:rPr>
              <a:t> + </a:t>
            </a:r>
            <a:r>
              <a:rPr lang="es-MX" sz="1200" dirty="0" err="1">
                <a:solidFill>
                  <a:srgbClr val="4A5568"/>
                </a:solidFill>
                <a:latin typeface="Calibri" pitchFamily="34" charset="0"/>
                <a:ea typeface="Calibri" pitchFamily="34" charset="-122"/>
                <a:cs typeface="Calibri" pitchFamily="34" charset="-120"/>
              </a:rPr>
              <a:t>Seasonality</a:t>
            </a:r>
            <a:r>
              <a:rPr lang="es-MX" sz="1200" dirty="0">
                <a:solidFill>
                  <a:srgbClr val="4A5568"/>
                </a:solidFill>
                <a:latin typeface="Calibri" pitchFamily="34" charset="0"/>
                <a:ea typeface="Calibri" pitchFamily="34" charset="-122"/>
                <a:cs typeface="Calibri" pitchFamily="34" charset="-120"/>
              </a:rPr>
              <a:t>.</a:t>
            </a:r>
            <a:endParaRPr lang="en-US" sz="12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9" name="Imagen 8">
            <a:extLst>
              <a:ext uri="{FF2B5EF4-FFF2-40B4-BE49-F238E27FC236}">
                <a16:creationId xmlns:a16="http://schemas.microsoft.com/office/drawing/2014/main" id="{13061807-23A4-4206-8D91-04442631A256}"/>
              </a:ext>
            </a:extLst>
          </p:cNvPr>
          <p:cNvPicPr>
            <a:picLocks noChangeAspect="1"/>
          </p:cNvPicPr>
          <p:nvPr/>
        </p:nvPicPr>
        <p:blipFill>
          <a:blip r:embed="rId3"/>
          <a:stretch>
            <a:fillRect/>
          </a:stretch>
        </p:blipFill>
        <p:spPr>
          <a:xfrm>
            <a:off x="625539" y="3065269"/>
            <a:ext cx="11170221" cy="2702607"/>
          </a:xfrm>
          <a:prstGeom prst="rect">
            <a:avLst/>
          </a:prstGeom>
        </p:spPr>
      </p:pic>
    </p:spTree>
    <p:extLst>
      <p:ext uri="{BB962C8B-B14F-4D97-AF65-F5344CB8AC3E}">
        <p14:creationId xmlns:p14="http://schemas.microsoft.com/office/powerpoint/2010/main" val="3459700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5486400"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Visualizar la serie</a:t>
            </a:r>
            <a:endParaRPr lang="en-US" sz="16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026" name="Picture 2">
            <a:extLst>
              <a:ext uri="{FF2B5EF4-FFF2-40B4-BE49-F238E27FC236}">
                <a16:creationId xmlns:a16="http://schemas.microsoft.com/office/drawing/2014/main" id="{EA902B1B-C612-44C8-AA15-900EF83597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 y="1867035"/>
            <a:ext cx="11263059" cy="441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058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7813786"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Guardar los datos en formato compatible con ETSformer</a:t>
            </a:r>
            <a:endParaRPr lang="en-US" sz="1600" dirty="0"/>
          </a:p>
        </p:txBody>
      </p:sp>
      <p:sp>
        <p:nvSpPr>
          <p:cNvPr id="7" name="Shape 5"/>
          <p:cNvSpPr/>
          <p:nvPr/>
        </p:nvSpPr>
        <p:spPr>
          <a:xfrm>
            <a:off x="640080" y="1955554"/>
            <a:ext cx="11155680" cy="1005840"/>
          </a:xfrm>
          <a:prstGeom prst="rect">
            <a:avLst/>
          </a:prstGeom>
          <a:solidFill>
            <a:srgbClr val="FFFFFF"/>
          </a:solidFill>
          <a:ln/>
          <a:effectLst>
            <a:outerShdw blurRad="101600" dist="12700" dir="5400000" algn="bl" rotWithShape="0">
              <a:srgbClr val="1E2761">
                <a:alpha val="8000"/>
              </a:srgbClr>
            </a:outerShdw>
          </a:effectLst>
        </p:spPr>
      </p:sp>
      <p:sp>
        <p:nvSpPr>
          <p:cNvPr id="8" name="Shape 6"/>
          <p:cNvSpPr/>
          <p:nvPr/>
        </p:nvSpPr>
        <p:spPr>
          <a:xfrm>
            <a:off x="640080" y="1955554"/>
            <a:ext cx="73152" cy="1005840"/>
          </a:xfrm>
          <a:prstGeom prst="rect">
            <a:avLst/>
          </a:prstGeom>
          <a:solidFill>
            <a:srgbClr val="B8860B"/>
          </a:solidFill>
          <a:ln/>
        </p:spPr>
      </p:sp>
      <p:sp>
        <p:nvSpPr>
          <p:cNvPr id="11" name="Text 8"/>
          <p:cNvSpPr/>
          <p:nvPr/>
        </p:nvSpPr>
        <p:spPr>
          <a:xfrm>
            <a:off x="914400" y="2034506"/>
            <a:ext cx="10698480" cy="832965"/>
          </a:xfrm>
          <a:prstGeom prst="rect">
            <a:avLst/>
          </a:prstGeom>
          <a:noFill/>
          <a:ln/>
        </p:spPr>
        <p:txBody>
          <a:bodyPr wrap="square" lIns="0" tIns="0" rIns="0" bIns="0" rtlCol="0" anchor="ctr"/>
          <a:lstStyle/>
          <a:p>
            <a:pPr marL="0" indent="0">
              <a:buNone/>
            </a:pPr>
            <a:r>
              <a:rPr lang="es-MX" sz="1200" dirty="0">
                <a:solidFill>
                  <a:srgbClr val="4A5568"/>
                </a:solidFill>
                <a:latin typeface="Calibri" pitchFamily="34" charset="0"/>
                <a:ea typeface="Calibri" pitchFamily="34" charset="-122"/>
                <a:cs typeface="Calibri" pitchFamily="34" charset="-120"/>
              </a:rPr>
              <a:t>La implementación oficial de ETSformer espera un archivo CSV con:</a:t>
            </a:r>
          </a:p>
          <a:p>
            <a:pPr marL="0" indent="0">
              <a:buNone/>
            </a:pPr>
            <a:endParaRPr lang="es-MX" sz="1200" dirty="0">
              <a:solidFill>
                <a:srgbClr val="4A5568"/>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Una columna date.</a:t>
            </a:r>
          </a:p>
          <a:p>
            <a:pPr marL="171450" indent="-171450">
              <a:buFont typeface="Arial" panose="020B0604020202020204" pitchFamily="34" charset="0"/>
              <a:buChar char="•"/>
            </a:pPr>
            <a:r>
              <a:rPr lang="es-MX" sz="1200" dirty="0">
                <a:solidFill>
                  <a:srgbClr val="4A5568"/>
                </a:solidFill>
                <a:latin typeface="Calibri" pitchFamily="34" charset="0"/>
                <a:ea typeface="Calibri" pitchFamily="34" charset="-122"/>
                <a:cs typeface="Calibri" pitchFamily="34" charset="-120"/>
              </a:rPr>
              <a:t>Una o más columnas numéricas.</a:t>
            </a:r>
            <a:endParaRPr lang="en-US" sz="12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pic>
        <p:nvPicPr>
          <p:cNvPr id="13" name="Imagen 12">
            <a:extLst>
              <a:ext uri="{FF2B5EF4-FFF2-40B4-BE49-F238E27FC236}">
                <a16:creationId xmlns:a16="http://schemas.microsoft.com/office/drawing/2014/main" id="{29B70E4C-2566-4595-8CBA-4A404B9D353F}"/>
              </a:ext>
            </a:extLst>
          </p:cNvPr>
          <p:cNvPicPr>
            <a:picLocks noChangeAspect="1"/>
          </p:cNvPicPr>
          <p:nvPr/>
        </p:nvPicPr>
        <p:blipFill>
          <a:blip r:embed="rId3"/>
          <a:stretch>
            <a:fillRect/>
          </a:stretch>
        </p:blipFill>
        <p:spPr>
          <a:xfrm>
            <a:off x="640080" y="3049913"/>
            <a:ext cx="11155680" cy="2643012"/>
          </a:xfrm>
          <a:prstGeom prst="rect">
            <a:avLst/>
          </a:prstGeom>
        </p:spPr>
      </p:pic>
    </p:spTree>
    <p:extLst>
      <p:ext uri="{BB962C8B-B14F-4D97-AF65-F5344CB8AC3E}">
        <p14:creationId xmlns:p14="http://schemas.microsoft.com/office/powerpoint/2010/main" val="1635114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Entrenar ETSformer</a:t>
            </a:r>
            <a:endParaRPr lang="en-US" sz="16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1" y="1955554"/>
            <a:ext cx="2910812" cy="4262366"/>
          </a:xfrm>
          <a:prstGeom prst="rect">
            <a:avLst/>
          </a:prstGeom>
          <a:solidFill>
            <a:srgbClr val="FFFFFF"/>
          </a:solidFill>
          <a:ln/>
          <a:effectLst>
            <a:outerShdw blurRad="101600" dist="12700" dir="5400000" algn="bl" rotWithShape="0">
              <a:srgbClr val="1E2761">
                <a:alpha val="8000"/>
              </a:srgbClr>
            </a:outerShdw>
          </a:effectLst>
        </p:spPr>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4262366"/>
          </a:xfrm>
          <a:prstGeom prst="rect">
            <a:avLst/>
          </a:prstGeom>
          <a:solidFill>
            <a:srgbClr val="B8860B"/>
          </a:solidFill>
          <a:ln/>
        </p:spPr>
      </p:sp>
      <p:sp>
        <p:nvSpPr>
          <p:cNvPr id="23" name="Text 8">
            <a:extLst>
              <a:ext uri="{FF2B5EF4-FFF2-40B4-BE49-F238E27FC236}">
                <a16:creationId xmlns:a16="http://schemas.microsoft.com/office/drawing/2014/main" id="{BDA2F796-B442-408C-84FB-CE459006B483}"/>
              </a:ext>
            </a:extLst>
          </p:cNvPr>
          <p:cNvSpPr/>
          <p:nvPr/>
        </p:nvSpPr>
        <p:spPr>
          <a:xfrm>
            <a:off x="868680" y="2132547"/>
            <a:ext cx="4389120" cy="476429"/>
          </a:xfrm>
          <a:prstGeom prst="rect">
            <a:avLst/>
          </a:prstGeom>
          <a:noFill/>
          <a:ln/>
        </p:spPr>
        <p:txBody>
          <a:bodyPr wrap="square" lIns="0" tIns="0" rIns="0" bIns="0" rtlCol="0" anchor="ctr"/>
          <a:lstStyle/>
          <a:p>
            <a:pPr algn="l"/>
            <a:r>
              <a:rPr lang="es-MX" sz="1200" b="0" i="0" dirty="0">
                <a:effectLst/>
                <a:latin typeface="-apple-system"/>
              </a:rPr>
              <a:t>Ahora entrenaremos el modelo.</a:t>
            </a:r>
          </a:p>
          <a:p>
            <a:pPr algn="l"/>
            <a:r>
              <a:rPr lang="es-MX" sz="1200" b="0" i="0" dirty="0">
                <a:effectLst/>
                <a:latin typeface="-apple-system"/>
              </a:rPr>
              <a:t>Usaremos:</a:t>
            </a:r>
          </a:p>
        </p:txBody>
      </p:sp>
      <p:pic>
        <p:nvPicPr>
          <p:cNvPr id="8" name="Imagen 7">
            <a:extLst>
              <a:ext uri="{FF2B5EF4-FFF2-40B4-BE49-F238E27FC236}">
                <a16:creationId xmlns:a16="http://schemas.microsoft.com/office/drawing/2014/main" id="{46AA85F1-909B-435E-9987-F4809ADF91AF}"/>
              </a:ext>
            </a:extLst>
          </p:cNvPr>
          <p:cNvPicPr>
            <a:picLocks noChangeAspect="1"/>
          </p:cNvPicPr>
          <p:nvPr/>
        </p:nvPicPr>
        <p:blipFill>
          <a:blip r:embed="rId3"/>
          <a:stretch>
            <a:fillRect/>
          </a:stretch>
        </p:blipFill>
        <p:spPr>
          <a:xfrm>
            <a:off x="868681" y="2608976"/>
            <a:ext cx="2570806" cy="3378774"/>
          </a:xfrm>
          <a:prstGeom prst="rect">
            <a:avLst/>
          </a:prstGeom>
        </p:spPr>
      </p:pic>
      <p:pic>
        <p:nvPicPr>
          <p:cNvPr id="11" name="Imagen 10">
            <a:extLst>
              <a:ext uri="{FF2B5EF4-FFF2-40B4-BE49-F238E27FC236}">
                <a16:creationId xmlns:a16="http://schemas.microsoft.com/office/drawing/2014/main" id="{7E581FA1-200B-45DF-B522-B9BE046610D2}"/>
              </a:ext>
            </a:extLst>
          </p:cNvPr>
          <p:cNvPicPr>
            <a:picLocks noChangeAspect="1"/>
          </p:cNvPicPr>
          <p:nvPr/>
        </p:nvPicPr>
        <p:blipFill>
          <a:blip r:embed="rId4"/>
          <a:stretch>
            <a:fillRect/>
          </a:stretch>
        </p:blipFill>
        <p:spPr>
          <a:xfrm>
            <a:off x="3706341" y="1955553"/>
            <a:ext cx="7906539" cy="3398527"/>
          </a:xfrm>
          <a:prstGeom prst="rect">
            <a:avLst/>
          </a:prstGeom>
        </p:spPr>
      </p:pic>
    </p:spTree>
    <p:extLst>
      <p:ext uri="{BB962C8B-B14F-4D97-AF65-F5344CB8AC3E}">
        <p14:creationId xmlns:p14="http://schemas.microsoft.com/office/powerpoint/2010/main" val="2757755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Buscar archivos de resultados</a:t>
            </a:r>
            <a:endParaRPr lang="en-US" sz="16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1" y="1955554"/>
            <a:ext cx="2910812" cy="4262366"/>
          </a:xfrm>
          <a:prstGeom prst="rect">
            <a:avLst/>
          </a:prstGeom>
          <a:solidFill>
            <a:srgbClr val="FFFFFF"/>
          </a:solidFill>
          <a:ln/>
          <a:effectLst>
            <a:outerShdw blurRad="101600" dist="12700" dir="5400000" algn="bl" rotWithShape="0">
              <a:srgbClr val="1E2761">
                <a:alpha val="8000"/>
              </a:srgbClr>
            </a:outerShdw>
          </a:effectLst>
        </p:spPr>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4262366"/>
          </a:xfrm>
          <a:prstGeom prst="rect">
            <a:avLst/>
          </a:prstGeom>
          <a:solidFill>
            <a:srgbClr val="B8860B"/>
          </a:solidFill>
          <a:ln/>
        </p:spPr>
      </p:sp>
      <p:sp>
        <p:nvSpPr>
          <p:cNvPr id="23" name="Text 8">
            <a:extLst>
              <a:ext uri="{FF2B5EF4-FFF2-40B4-BE49-F238E27FC236}">
                <a16:creationId xmlns:a16="http://schemas.microsoft.com/office/drawing/2014/main" id="{BDA2F796-B442-408C-84FB-CE459006B483}"/>
              </a:ext>
            </a:extLst>
          </p:cNvPr>
          <p:cNvSpPr/>
          <p:nvPr/>
        </p:nvSpPr>
        <p:spPr>
          <a:xfrm>
            <a:off x="868680" y="2132547"/>
            <a:ext cx="2495305" cy="1296453"/>
          </a:xfrm>
          <a:prstGeom prst="rect">
            <a:avLst/>
          </a:prstGeom>
          <a:noFill/>
          <a:ln/>
        </p:spPr>
        <p:txBody>
          <a:bodyPr wrap="square" lIns="0" tIns="0" rIns="0" bIns="0" rtlCol="0" anchor="ctr"/>
          <a:lstStyle/>
          <a:p>
            <a:pPr algn="l"/>
            <a:r>
              <a:rPr lang="es-MX" sz="1200" b="0" i="0" dirty="0">
                <a:effectLst/>
                <a:latin typeface="-apple-system"/>
              </a:rPr>
              <a:t>Después del entrenamiento, ETSformer guarda resultados dentro de:</a:t>
            </a:r>
          </a:p>
          <a:p>
            <a:pPr algn="l"/>
            <a:endParaRPr lang="es-MX" sz="1200" b="0" i="0" dirty="0">
              <a:effectLst/>
              <a:latin typeface="-apple-system"/>
            </a:endParaRPr>
          </a:p>
          <a:p>
            <a:pPr marL="171450" indent="-171450" algn="l">
              <a:buFont typeface="Arial" panose="020B0604020202020204" pitchFamily="34" charset="0"/>
              <a:buChar char="•"/>
            </a:pPr>
            <a:r>
              <a:rPr lang="es-MX" sz="1200" dirty="0" err="1">
                <a:latin typeface="-apple-system"/>
              </a:rPr>
              <a:t>R</a:t>
            </a:r>
            <a:r>
              <a:rPr lang="es-MX" sz="1200" b="0" i="0" dirty="0" err="1">
                <a:effectLst/>
                <a:latin typeface="-apple-system"/>
              </a:rPr>
              <a:t>esults</a:t>
            </a:r>
            <a:r>
              <a:rPr lang="es-MX" sz="1200" b="0" i="0" dirty="0">
                <a:effectLst/>
                <a:latin typeface="-apple-system"/>
              </a:rPr>
              <a:t>/</a:t>
            </a:r>
          </a:p>
          <a:p>
            <a:pPr marL="171450" indent="-171450" algn="l">
              <a:buFont typeface="Arial" panose="020B0604020202020204" pitchFamily="34" charset="0"/>
              <a:buChar char="•"/>
            </a:pPr>
            <a:r>
              <a:rPr lang="es-MX" sz="1200" dirty="0" err="1">
                <a:latin typeface="-apple-system"/>
              </a:rPr>
              <a:t>C</a:t>
            </a:r>
            <a:r>
              <a:rPr lang="es-MX" sz="1200" b="0" i="0" dirty="0" err="1">
                <a:effectLst/>
                <a:latin typeface="-apple-system"/>
              </a:rPr>
              <a:t>heckpoints</a:t>
            </a:r>
            <a:r>
              <a:rPr lang="es-MX" sz="1200" b="0" i="0" dirty="0">
                <a:effectLst/>
                <a:latin typeface="-apple-system"/>
              </a:rPr>
              <a:t>/</a:t>
            </a:r>
          </a:p>
          <a:p>
            <a:pPr marL="171450" indent="-171450" algn="l">
              <a:buFont typeface="Arial" panose="020B0604020202020204" pitchFamily="34" charset="0"/>
              <a:buChar char="•"/>
            </a:pPr>
            <a:endParaRPr lang="es-MX" sz="1200" b="0" i="0" dirty="0">
              <a:effectLst/>
              <a:latin typeface="-apple-system"/>
            </a:endParaRPr>
          </a:p>
          <a:p>
            <a:pPr algn="l"/>
            <a:r>
              <a:rPr lang="es-MX" sz="1200" b="0" i="0" dirty="0">
                <a:effectLst/>
                <a:latin typeface="-apple-system"/>
              </a:rPr>
              <a:t>Ahí encontraremos métricas, valores reales y predicciones.</a:t>
            </a:r>
          </a:p>
        </p:txBody>
      </p:sp>
      <p:pic>
        <p:nvPicPr>
          <p:cNvPr id="7" name="Imagen 6">
            <a:extLst>
              <a:ext uri="{FF2B5EF4-FFF2-40B4-BE49-F238E27FC236}">
                <a16:creationId xmlns:a16="http://schemas.microsoft.com/office/drawing/2014/main" id="{3A71FD86-2525-41BD-9DFE-E27B1BFF5308}"/>
              </a:ext>
            </a:extLst>
          </p:cNvPr>
          <p:cNvPicPr>
            <a:picLocks noChangeAspect="1"/>
          </p:cNvPicPr>
          <p:nvPr/>
        </p:nvPicPr>
        <p:blipFill>
          <a:blip r:embed="rId3"/>
          <a:stretch>
            <a:fillRect/>
          </a:stretch>
        </p:blipFill>
        <p:spPr>
          <a:xfrm>
            <a:off x="3706341" y="1955554"/>
            <a:ext cx="7906539" cy="3439858"/>
          </a:xfrm>
          <a:prstGeom prst="rect">
            <a:avLst/>
          </a:prstGeom>
        </p:spPr>
      </p:pic>
    </p:spTree>
    <p:extLst>
      <p:ext uri="{BB962C8B-B14F-4D97-AF65-F5344CB8AC3E}">
        <p14:creationId xmlns:p14="http://schemas.microsoft.com/office/powerpoint/2010/main" val="2157977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Caso de estudio: pronóstico de consumo eléctrico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6" name="Text 4"/>
          <p:cNvSpPr/>
          <p:nvPr/>
        </p:nvSpPr>
        <p:spPr>
          <a:xfrm>
            <a:off x="625539" y="1455555"/>
            <a:ext cx="4835695" cy="411480"/>
          </a:xfrm>
          <a:prstGeom prst="rect">
            <a:avLst/>
          </a:prstGeom>
          <a:noFill/>
          <a:ln/>
        </p:spPr>
        <p:txBody>
          <a:bodyPr wrap="square" lIns="0" tIns="0" rIns="0" bIns="0" rtlCol="0" anchor="ctr"/>
          <a:lstStyle/>
          <a:p>
            <a:pPr marL="0" indent="0">
              <a:buNone/>
            </a:pPr>
            <a:r>
              <a:rPr lang="es-MX" sz="1600" b="1" dirty="0">
                <a:solidFill>
                  <a:srgbClr val="1E2761"/>
                </a:solidFill>
                <a:latin typeface="Georgia" pitchFamily="34" charset="0"/>
                <a:ea typeface="Georgia" pitchFamily="34" charset="-122"/>
                <a:cs typeface="Georgia" pitchFamily="34" charset="-120"/>
              </a:rPr>
              <a:t>Cargar predicciones</a:t>
            </a:r>
            <a:endParaRPr lang="en-US" sz="1600" dirty="0"/>
          </a:p>
        </p:txBody>
      </p:sp>
      <p:sp>
        <p:nvSpPr>
          <p:cNvPr id="30" name="Shape 24"/>
          <p:cNvSpPr/>
          <p:nvPr/>
        </p:nvSpPr>
        <p:spPr>
          <a:xfrm>
            <a:off x="548640" y="6473952"/>
            <a:ext cx="11064240" cy="18288"/>
          </a:xfrm>
          <a:prstGeom prst="rect">
            <a:avLst/>
          </a:prstGeom>
          <a:solidFill>
            <a:srgbClr val="D1D5DB"/>
          </a:solidFill>
          <a:ln/>
        </p:spPr>
      </p:sp>
      <p:sp>
        <p:nvSpPr>
          <p:cNvPr id="31"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2"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4 / 11</a:t>
            </a:r>
            <a:endParaRPr lang="en-US" sz="900" dirty="0"/>
          </a:p>
        </p:txBody>
      </p:sp>
      <p:sp>
        <p:nvSpPr>
          <p:cNvPr id="20" name="Shape 5">
            <a:extLst>
              <a:ext uri="{FF2B5EF4-FFF2-40B4-BE49-F238E27FC236}">
                <a16:creationId xmlns:a16="http://schemas.microsoft.com/office/drawing/2014/main" id="{AE698763-B2CB-4466-8CBD-324D512396CF}"/>
              </a:ext>
            </a:extLst>
          </p:cNvPr>
          <p:cNvSpPr/>
          <p:nvPr/>
        </p:nvSpPr>
        <p:spPr>
          <a:xfrm>
            <a:off x="640081" y="1955554"/>
            <a:ext cx="2910812" cy="4262366"/>
          </a:xfrm>
          <a:prstGeom prst="rect">
            <a:avLst/>
          </a:prstGeom>
          <a:solidFill>
            <a:srgbClr val="FFFFFF"/>
          </a:solidFill>
          <a:ln/>
          <a:effectLst>
            <a:outerShdw blurRad="101600" dist="12700" dir="5400000" algn="bl" rotWithShape="0">
              <a:srgbClr val="1E2761">
                <a:alpha val="8000"/>
              </a:srgbClr>
            </a:outerShdw>
          </a:effectLst>
        </p:spPr>
      </p:sp>
      <p:sp>
        <p:nvSpPr>
          <p:cNvPr id="21" name="Shape 6">
            <a:extLst>
              <a:ext uri="{FF2B5EF4-FFF2-40B4-BE49-F238E27FC236}">
                <a16:creationId xmlns:a16="http://schemas.microsoft.com/office/drawing/2014/main" id="{6A6F679D-CEFB-4356-B127-52D7D9ECC69F}"/>
              </a:ext>
            </a:extLst>
          </p:cNvPr>
          <p:cNvSpPr/>
          <p:nvPr/>
        </p:nvSpPr>
        <p:spPr>
          <a:xfrm>
            <a:off x="640080" y="1955554"/>
            <a:ext cx="73152" cy="4262366"/>
          </a:xfrm>
          <a:prstGeom prst="rect">
            <a:avLst/>
          </a:prstGeom>
          <a:solidFill>
            <a:srgbClr val="B8860B"/>
          </a:solidFill>
          <a:ln/>
        </p:spPr>
      </p:sp>
      <p:sp>
        <p:nvSpPr>
          <p:cNvPr id="23" name="Text 8">
            <a:extLst>
              <a:ext uri="{FF2B5EF4-FFF2-40B4-BE49-F238E27FC236}">
                <a16:creationId xmlns:a16="http://schemas.microsoft.com/office/drawing/2014/main" id="{BDA2F796-B442-408C-84FB-CE459006B483}"/>
              </a:ext>
            </a:extLst>
          </p:cNvPr>
          <p:cNvSpPr/>
          <p:nvPr/>
        </p:nvSpPr>
        <p:spPr>
          <a:xfrm>
            <a:off x="868680" y="2132547"/>
            <a:ext cx="2495305" cy="3009904"/>
          </a:xfrm>
          <a:prstGeom prst="rect">
            <a:avLst/>
          </a:prstGeom>
          <a:noFill/>
          <a:ln/>
        </p:spPr>
        <p:txBody>
          <a:bodyPr wrap="square" lIns="0" tIns="0" rIns="0" bIns="0" rtlCol="0" anchor="ctr"/>
          <a:lstStyle/>
          <a:p>
            <a:pPr algn="l"/>
            <a:r>
              <a:rPr lang="es-MX" sz="1200" b="0" i="0" dirty="0">
                <a:effectLst/>
                <a:latin typeface="-apple-system"/>
              </a:rPr>
              <a:t>ETSformer suele guardar dos archivos principales:</a:t>
            </a:r>
          </a:p>
          <a:p>
            <a:pPr algn="l"/>
            <a:endParaRPr lang="es-MX" sz="1200" b="0" i="0" dirty="0">
              <a:effectLst/>
              <a:latin typeface="-apple-system"/>
            </a:endParaRPr>
          </a:p>
          <a:p>
            <a:pPr marL="171450" indent="-171450" algn="l">
              <a:buFont typeface="Arial" panose="020B0604020202020204" pitchFamily="34" charset="0"/>
              <a:buChar char="•"/>
            </a:pPr>
            <a:r>
              <a:rPr lang="es-MX" sz="1200" b="0" i="0" dirty="0" err="1">
                <a:effectLst/>
                <a:latin typeface="-apple-system"/>
              </a:rPr>
              <a:t>pred.npy</a:t>
            </a:r>
            <a:r>
              <a:rPr lang="es-MX" sz="1200" b="0" i="0" dirty="0">
                <a:effectLst/>
                <a:latin typeface="-apple-system"/>
              </a:rPr>
              <a:t>: predicciones del modelo.</a:t>
            </a:r>
          </a:p>
          <a:p>
            <a:pPr marL="171450" indent="-171450" algn="l">
              <a:buFont typeface="Arial" panose="020B0604020202020204" pitchFamily="34" charset="0"/>
              <a:buChar char="•"/>
            </a:pPr>
            <a:r>
              <a:rPr lang="es-MX" sz="1200" b="0" i="0" dirty="0" err="1">
                <a:effectLst/>
                <a:latin typeface="-apple-system"/>
              </a:rPr>
              <a:t>true.npy</a:t>
            </a:r>
            <a:r>
              <a:rPr lang="es-MX" sz="1200" b="0" i="0" dirty="0">
                <a:effectLst/>
                <a:latin typeface="-apple-system"/>
              </a:rPr>
              <a:t>: valores reales.</a:t>
            </a:r>
          </a:p>
          <a:p>
            <a:pPr algn="l"/>
            <a:endParaRPr lang="es-MX" sz="1200" b="0" i="0" dirty="0">
              <a:effectLst/>
              <a:latin typeface="-apple-system"/>
            </a:endParaRPr>
          </a:p>
          <a:p>
            <a:pPr algn="l"/>
            <a:r>
              <a:rPr lang="es-MX" sz="1200" b="0" i="0" dirty="0">
                <a:effectLst/>
                <a:latin typeface="-apple-system"/>
              </a:rPr>
              <a:t>Cada predicción tiene 24 pasos futuros.</a:t>
            </a:r>
          </a:p>
          <a:p>
            <a:pPr algn="l"/>
            <a:endParaRPr lang="es-MX" sz="1200" b="0" i="0" dirty="0">
              <a:effectLst/>
              <a:latin typeface="-apple-system"/>
            </a:endParaRPr>
          </a:p>
          <a:p>
            <a:pPr algn="l"/>
            <a:r>
              <a:rPr lang="es-MX" sz="1200" b="0" i="0" dirty="0">
                <a:effectLst/>
                <a:latin typeface="-apple-system"/>
              </a:rPr>
              <a:t>Como cada paso equivale a 15 minutos:</a:t>
            </a:r>
          </a:p>
          <a:p>
            <a:pPr algn="l"/>
            <a:endParaRPr lang="es-MX" sz="1200" b="0" i="0" dirty="0">
              <a:effectLst/>
              <a:latin typeface="-apple-system"/>
            </a:endParaRPr>
          </a:p>
          <a:p>
            <a:pPr algn="l"/>
            <a:r>
              <a:rPr lang="es-MX" sz="1200" b="0" i="0" dirty="0">
                <a:effectLst/>
                <a:latin typeface="-apple-system"/>
              </a:rPr>
              <a:t>[ 24 \times 15 = 360 \</a:t>
            </a:r>
            <a:r>
              <a:rPr lang="es-MX" sz="1200" b="0" i="0" dirty="0" err="1">
                <a:effectLst/>
                <a:latin typeface="-apple-system"/>
              </a:rPr>
              <a:t>text</a:t>
            </a:r>
            <a:r>
              <a:rPr lang="es-MX" sz="1200" b="0" i="0" dirty="0">
                <a:effectLst/>
                <a:latin typeface="-apple-system"/>
              </a:rPr>
              <a:t>{ minutos} ]</a:t>
            </a:r>
          </a:p>
          <a:p>
            <a:pPr algn="l"/>
            <a:endParaRPr lang="es-MX" sz="1200" b="0" i="0" dirty="0">
              <a:effectLst/>
              <a:latin typeface="-apple-system"/>
            </a:endParaRPr>
          </a:p>
          <a:p>
            <a:pPr algn="l"/>
            <a:r>
              <a:rPr lang="es-MX" sz="1200" b="0" i="0" dirty="0">
                <a:effectLst/>
                <a:latin typeface="-apple-system"/>
              </a:rPr>
              <a:t>Es decir, cada predicción cubre las próximas 6 horas.</a:t>
            </a:r>
          </a:p>
        </p:txBody>
      </p:sp>
    </p:spTree>
    <p:extLst>
      <p:ext uri="{BB962C8B-B14F-4D97-AF65-F5344CB8AC3E}">
        <p14:creationId xmlns:p14="http://schemas.microsoft.com/office/powerpoint/2010/main" val="1941531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Dataset: LD2011_2014</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Consumo eléctrico real de 370 clientes en Portugal — UCI Repository</a:t>
            </a:r>
            <a:endParaRPr lang="en-US" sz="1300" dirty="0"/>
          </a:p>
        </p:txBody>
      </p:sp>
      <p:sp>
        <p:nvSpPr>
          <p:cNvPr id="6" name="Shape 4"/>
          <p:cNvSpPr/>
          <p:nvPr/>
        </p:nvSpPr>
        <p:spPr>
          <a:xfrm>
            <a:off x="640080" y="1965960"/>
            <a:ext cx="5303520" cy="4251960"/>
          </a:xfrm>
          <a:prstGeom prst="rect">
            <a:avLst/>
          </a:prstGeom>
          <a:solidFill>
            <a:srgbClr val="FFFFFF"/>
          </a:solidFill>
          <a:ln/>
          <a:effectLst>
            <a:outerShdw blurRad="101600" dist="12700" dir="5400000" algn="bl" rotWithShape="0">
              <a:srgbClr val="1E2761">
                <a:alpha val="8000"/>
              </a:srgbClr>
            </a:outerShdw>
          </a:effectLst>
        </p:spPr>
      </p:sp>
      <p:sp>
        <p:nvSpPr>
          <p:cNvPr id="7" name="Shape 5"/>
          <p:cNvSpPr/>
          <p:nvPr/>
        </p:nvSpPr>
        <p:spPr>
          <a:xfrm>
            <a:off x="640080" y="1965960"/>
            <a:ext cx="5303520" cy="548640"/>
          </a:xfrm>
          <a:prstGeom prst="rect">
            <a:avLst/>
          </a:prstGeom>
          <a:solidFill>
            <a:srgbClr val="1E2761"/>
          </a:solidFill>
          <a:ln/>
        </p:spPr>
      </p:sp>
      <p:pic>
        <p:nvPicPr>
          <p:cNvPr id="8" name="Image 0" descr="preencoded.png"/>
          <p:cNvPicPr>
            <a:picLocks noChangeAspect="1"/>
          </p:cNvPicPr>
          <p:nvPr/>
        </p:nvPicPr>
        <p:blipFill>
          <a:blip r:embed="rId3"/>
          <a:stretch>
            <a:fillRect/>
          </a:stretch>
        </p:blipFill>
        <p:spPr>
          <a:xfrm>
            <a:off x="868680" y="2075688"/>
            <a:ext cx="320040" cy="320040"/>
          </a:xfrm>
          <a:prstGeom prst="rect">
            <a:avLst/>
          </a:prstGeom>
        </p:spPr>
      </p:pic>
      <p:sp>
        <p:nvSpPr>
          <p:cNvPr id="9" name="Text 6"/>
          <p:cNvSpPr/>
          <p:nvPr/>
        </p:nvSpPr>
        <p:spPr>
          <a:xfrm>
            <a:off x="1280160" y="2075688"/>
            <a:ext cx="4572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Ficha del dataset</a:t>
            </a:r>
            <a:endParaRPr lang="en-US" sz="1400" dirty="0"/>
          </a:p>
        </p:txBody>
      </p:sp>
      <p:sp>
        <p:nvSpPr>
          <p:cNvPr id="10" name="Text 7"/>
          <p:cNvSpPr/>
          <p:nvPr/>
        </p:nvSpPr>
        <p:spPr>
          <a:xfrm>
            <a:off x="868680" y="26517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Fuente</a:t>
            </a:r>
            <a:endParaRPr lang="en-US" sz="1200" dirty="0"/>
          </a:p>
        </p:txBody>
      </p:sp>
      <p:sp>
        <p:nvSpPr>
          <p:cNvPr id="11" name="Text 8"/>
          <p:cNvSpPr/>
          <p:nvPr/>
        </p:nvSpPr>
        <p:spPr>
          <a:xfrm>
            <a:off x="2926080" y="26517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UCI Machine Learning Repository</a:t>
            </a:r>
            <a:endParaRPr lang="en-US" sz="1200" dirty="0"/>
          </a:p>
        </p:txBody>
      </p:sp>
      <p:sp>
        <p:nvSpPr>
          <p:cNvPr id="12" name="Text 9"/>
          <p:cNvSpPr/>
          <p:nvPr/>
        </p:nvSpPr>
        <p:spPr>
          <a:xfrm>
            <a:off x="868680" y="31089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Periodo</a:t>
            </a:r>
            <a:endParaRPr lang="en-US" sz="1200" dirty="0"/>
          </a:p>
        </p:txBody>
      </p:sp>
      <p:sp>
        <p:nvSpPr>
          <p:cNvPr id="13" name="Text 10"/>
          <p:cNvSpPr/>
          <p:nvPr/>
        </p:nvSpPr>
        <p:spPr>
          <a:xfrm>
            <a:off x="2926080" y="31089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2011 – 2014 (4 años)</a:t>
            </a:r>
            <a:endParaRPr lang="en-US" sz="1200" dirty="0"/>
          </a:p>
        </p:txBody>
      </p:sp>
      <p:sp>
        <p:nvSpPr>
          <p:cNvPr id="14" name="Text 11"/>
          <p:cNvSpPr/>
          <p:nvPr/>
        </p:nvSpPr>
        <p:spPr>
          <a:xfrm>
            <a:off x="868680" y="35661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Frecuencia</a:t>
            </a:r>
            <a:endParaRPr lang="en-US" sz="1200" dirty="0"/>
          </a:p>
        </p:txBody>
      </p:sp>
      <p:sp>
        <p:nvSpPr>
          <p:cNvPr id="15" name="Text 12"/>
          <p:cNvSpPr/>
          <p:nvPr/>
        </p:nvSpPr>
        <p:spPr>
          <a:xfrm>
            <a:off x="2926080" y="35661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1 medición cada 15 minutos</a:t>
            </a:r>
            <a:endParaRPr lang="en-US" sz="1200" dirty="0"/>
          </a:p>
        </p:txBody>
      </p:sp>
      <p:sp>
        <p:nvSpPr>
          <p:cNvPr id="16" name="Text 13"/>
          <p:cNvSpPr/>
          <p:nvPr/>
        </p:nvSpPr>
        <p:spPr>
          <a:xfrm>
            <a:off x="868680" y="40233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Total registros</a:t>
            </a:r>
            <a:endParaRPr lang="en-US" sz="1200" dirty="0"/>
          </a:p>
        </p:txBody>
      </p:sp>
      <p:sp>
        <p:nvSpPr>
          <p:cNvPr id="17" name="Text 14"/>
          <p:cNvSpPr/>
          <p:nvPr/>
        </p:nvSpPr>
        <p:spPr>
          <a:xfrm>
            <a:off x="2926080" y="40233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140,256 filas × 370 clientes</a:t>
            </a:r>
            <a:endParaRPr lang="en-US" sz="1200" dirty="0"/>
          </a:p>
        </p:txBody>
      </p:sp>
      <p:sp>
        <p:nvSpPr>
          <p:cNvPr id="18" name="Text 15"/>
          <p:cNvSpPr/>
          <p:nvPr/>
        </p:nvSpPr>
        <p:spPr>
          <a:xfrm>
            <a:off x="868680" y="44805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Cliente elegido</a:t>
            </a:r>
            <a:endParaRPr lang="en-US" sz="1200" dirty="0"/>
          </a:p>
        </p:txBody>
      </p:sp>
      <p:sp>
        <p:nvSpPr>
          <p:cNvPr id="19" name="Text 16"/>
          <p:cNvSpPr/>
          <p:nvPr/>
        </p:nvSpPr>
        <p:spPr>
          <a:xfrm>
            <a:off x="2926080" y="44805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MT_362 (mayor consumo)</a:t>
            </a:r>
            <a:endParaRPr lang="en-US" sz="1200" dirty="0"/>
          </a:p>
        </p:txBody>
      </p:sp>
      <p:sp>
        <p:nvSpPr>
          <p:cNvPr id="20" name="Text 17"/>
          <p:cNvSpPr/>
          <p:nvPr/>
        </p:nvSpPr>
        <p:spPr>
          <a:xfrm>
            <a:off x="868680" y="49377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Ventana de estudio</a:t>
            </a:r>
            <a:endParaRPr lang="en-US" sz="1200" dirty="0"/>
          </a:p>
        </p:txBody>
      </p:sp>
      <p:sp>
        <p:nvSpPr>
          <p:cNvPr id="21" name="Text 18"/>
          <p:cNvSpPr/>
          <p:nvPr/>
        </p:nvSpPr>
        <p:spPr>
          <a:xfrm>
            <a:off x="2926080" y="49377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desde 2012 (105,217 registros)</a:t>
            </a:r>
            <a:endParaRPr lang="en-US" sz="1200" dirty="0"/>
          </a:p>
        </p:txBody>
      </p:sp>
      <p:sp>
        <p:nvSpPr>
          <p:cNvPr id="22" name="Text 19"/>
          <p:cNvSpPr/>
          <p:nvPr/>
        </p:nvSpPr>
        <p:spPr>
          <a:xfrm>
            <a:off x="868680" y="5394960"/>
            <a:ext cx="2011680" cy="365760"/>
          </a:xfrm>
          <a:prstGeom prst="rect">
            <a:avLst/>
          </a:prstGeom>
          <a:noFill/>
          <a:ln/>
        </p:spPr>
        <p:txBody>
          <a:bodyPr wrap="square" lIns="0" tIns="0" rIns="0" bIns="0" rtlCol="0" anchor="ctr"/>
          <a:lstStyle/>
          <a:p>
            <a:pPr marL="0" indent="0">
              <a:buNone/>
            </a:pPr>
            <a:r>
              <a:rPr lang="en-US" sz="1200" b="1" kern="0" spc="100" dirty="0">
                <a:solidFill>
                  <a:srgbClr val="B8860B"/>
                </a:solidFill>
                <a:latin typeface="Calibri" pitchFamily="34" charset="0"/>
                <a:ea typeface="Calibri" pitchFamily="34" charset="-122"/>
                <a:cs typeface="Calibri" pitchFamily="34" charset="-120"/>
              </a:rPr>
              <a:t>Tipo de problema</a:t>
            </a:r>
            <a:endParaRPr lang="en-US" sz="1200" dirty="0"/>
          </a:p>
        </p:txBody>
      </p:sp>
      <p:sp>
        <p:nvSpPr>
          <p:cNvPr id="23" name="Text 20"/>
          <p:cNvSpPr/>
          <p:nvPr/>
        </p:nvSpPr>
        <p:spPr>
          <a:xfrm>
            <a:off x="2926080" y="5394960"/>
            <a:ext cx="2926080" cy="36576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Forecasting univariado</a:t>
            </a:r>
            <a:endParaRPr lang="en-US" sz="1200" dirty="0"/>
          </a:p>
        </p:txBody>
      </p:sp>
      <p:sp>
        <p:nvSpPr>
          <p:cNvPr id="24" name="Shape 21"/>
          <p:cNvSpPr/>
          <p:nvPr/>
        </p:nvSpPr>
        <p:spPr>
          <a:xfrm>
            <a:off x="6217920" y="1965960"/>
            <a:ext cx="5303520" cy="4251960"/>
          </a:xfrm>
          <a:prstGeom prst="rect">
            <a:avLst/>
          </a:prstGeom>
          <a:solidFill>
            <a:srgbClr val="FFFFFF"/>
          </a:solidFill>
          <a:ln/>
          <a:effectLst>
            <a:outerShdw blurRad="101600" dist="12700" dir="5400000" algn="bl" rotWithShape="0">
              <a:srgbClr val="1E2761">
                <a:alpha val="8000"/>
              </a:srgbClr>
            </a:outerShdw>
          </a:effectLst>
        </p:spPr>
      </p:sp>
      <p:sp>
        <p:nvSpPr>
          <p:cNvPr id="25" name="Text 22"/>
          <p:cNvSpPr/>
          <p:nvPr/>
        </p:nvSpPr>
        <p:spPr>
          <a:xfrm>
            <a:off x="6400800" y="2103120"/>
            <a:ext cx="493776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Vista previa: 2 semanas de consumo</a:t>
            </a:r>
            <a:endParaRPr lang="en-US" sz="1300" dirty="0"/>
          </a:p>
        </p:txBody>
      </p:sp>
      <p:sp>
        <p:nvSpPr>
          <p:cNvPr id="26" name="Text 23"/>
          <p:cNvSpPr/>
          <p:nvPr/>
        </p:nvSpPr>
        <p:spPr>
          <a:xfrm>
            <a:off x="6400800" y="2423160"/>
            <a:ext cx="493776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Patrón diario claro · picos en la noche · ciclos repetitivos</a:t>
            </a:r>
            <a:endParaRPr lang="en-US" sz="1100" dirty="0"/>
          </a:p>
        </p:txBody>
      </p:sp>
      <p:graphicFrame>
        <p:nvGraphicFramePr>
          <p:cNvPr id="27" name="Chart 0"/>
          <p:cNvGraphicFramePr/>
          <p:nvPr/>
        </p:nvGraphicFramePr>
        <p:xfrm>
          <a:off x="6400800" y="2788920"/>
          <a:ext cx="502920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28" name="Shape 24"/>
          <p:cNvSpPr/>
          <p:nvPr/>
        </p:nvSpPr>
        <p:spPr>
          <a:xfrm>
            <a:off x="548640" y="6473952"/>
            <a:ext cx="11064240" cy="18288"/>
          </a:xfrm>
          <a:prstGeom prst="rect">
            <a:avLst/>
          </a:prstGeom>
          <a:solidFill>
            <a:srgbClr val="D1D5DB"/>
          </a:solidFill>
          <a:ln/>
        </p:spPr>
      </p:sp>
      <p:sp>
        <p:nvSpPr>
          <p:cNvPr id="29" name="Text 25"/>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0" name="Text 26"/>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IV</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Metodología aplicada</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Pipeline completo: del dato bruto al pronóstico</a:t>
            </a:r>
            <a:endParaRPr lang="en-US" sz="1300" dirty="0"/>
          </a:p>
        </p:txBody>
      </p:sp>
      <p:sp>
        <p:nvSpPr>
          <p:cNvPr id="6" name="Shape 4"/>
          <p:cNvSpPr/>
          <p:nvPr/>
        </p:nvSpPr>
        <p:spPr>
          <a:xfrm>
            <a:off x="708660" y="1965960"/>
            <a:ext cx="1965960" cy="1371600"/>
          </a:xfrm>
          <a:prstGeom prst="rect">
            <a:avLst/>
          </a:prstGeom>
          <a:solidFill>
            <a:srgbClr val="FFFFFF"/>
          </a:solidFill>
          <a:ln/>
          <a:effectLst>
            <a:outerShdw blurRad="101600" dist="12700" dir="5400000" algn="bl" rotWithShape="0">
              <a:srgbClr val="1E2761">
                <a:alpha val="8000"/>
              </a:srgbClr>
            </a:outerShdw>
          </a:effectLst>
        </p:spPr>
      </p:sp>
      <p:sp>
        <p:nvSpPr>
          <p:cNvPr id="7" name="Shape 5"/>
          <p:cNvSpPr/>
          <p:nvPr/>
        </p:nvSpPr>
        <p:spPr>
          <a:xfrm>
            <a:off x="708660" y="1965960"/>
            <a:ext cx="1965960" cy="73152"/>
          </a:xfrm>
          <a:prstGeom prst="rect">
            <a:avLst/>
          </a:prstGeom>
          <a:solidFill>
            <a:srgbClr val="1E2761"/>
          </a:solidFill>
          <a:ln/>
        </p:spPr>
      </p:sp>
      <p:pic>
        <p:nvPicPr>
          <p:cNvPr id="8" name="Image 0" descr="preencoded.png"/>
          <p:cNvPicPr>
            <a:picLocks noChangeAspect="1"/>
          </p:cNvPicPr>
          <p:nvPr/>
        </p:nvPicPr>
        <p:blipFill>
          <a:blip r:embed="rId3"/>
          <a:stretch>
            <a:fillRect/>
          </a:stretch>
        </p:blipFill>
        <p:spPr>
          <a:xfrm>
            <a:off x="1417320" y="2194560"/>
            <a:ext cx="548640" cy="548640"/>
          </a:xfrm>
          <a:prstGeom prst="rect">
            <a:avLst/>
          </a:prstGeom>
        </p:spPr>
      </p:pic>
      <p:sp>
        <p:nvSpPr>
          <p:cNvPr id="9" name="Text 6"/>
          <p:cNvSpPr/>
          <p:nvPr/>
        </p:nvSpPr>
        <p:spPr>
          <a:xfrm>
            <a:off x="80010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Carga</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de datos</a:t>
            </a:r>
            <a:endParaRPr lang="en-US" sz="1200" dirty="0"/>
          </a:p>
        </p:txBody>
      </p:sp>
      <p:sp>
        <p:nvSpPr>
          <p:cNvPr id="10" name="Shape 7"/>
          <p:cNvSpPr/>
          <p:nvPr/>
        </p:nvSpPr>
        <p:spPr>
          <a:xfrm rot="5400000">
            <a:off x="2656332" y="2487168"/>
            <a:ext cx="228600" cy="329184"/>
          </a:xfrm>
          <a:prstGeom prst="rtTriangle">
            <a:avLst/>
          </a:prstGeom>
          <a:solidFill>
            <a:srgbClr val="B8860B"/>
          </a:solidFill>
          <a:ln/>
        </p:spPr>
      </p:sp>
      <p:sp>
        <p:nvSpPr>
          <p:cNvPr id="11" name="Shape 8"/>
          <p:cNvSpPr/>
          <p:nvPr/>
        </p:nvSpPr>
        <p:spPr>
          <a:xfrm>
            <a:off x="2903220" y="1965960"/>
            <a:ext cx="1965960" cy="1371600"/>
          </a:xfrm>
          <a:prstGeom prst="rect">
            <a:avLst/>
          </a:prstGeom>
          <a:solidFill>
            <a:srgbClr val="FFFFFF"/>
          </a:solidFill>
          <a:ln/>
          <a:effectLst>
            <a:outerShdw blurRad="101600" dist="12700" dir="5400000" algn="bl" rotWithShape="0">
              <a:srgbClr val="1E2761">
                <a:alpha val="8000"/>
              </a:srgbClr>
            </a:outerShdw>
          </a:effectLst>
        </p:spPr>
      </p:sp>
      <p:sp>
        <p:nvSpPr>
          <p:cNvPr id="12" name="Shape 9"/>
          <p:cNvSpPr/>
          <p:nvPr/>
        </p:nvSpPr>
        <p:spPr>
          <a:xfrm>
            <a:off x="2903220" y="1965960"/>
            <a:ext cx="1965960" cy="73152"/>
          </a:xfrm>
          <a:prstGeom prst="rect">
            <a:avLst/>
          </a:prstGeom>
          <a:solidFill>
            <a:srgbClr val="1E2761"/>
          </a:solidFill>
          <a:ln/>
        </p:spPr>
      </p:sp>
      <p:pic>
        <p:nvPicPr>
          <p:cNvPr id="13" name="Image 1" descr="preencoded.png"/>
          <p:cNvPicPr>
            <a:picLocks noChangeAspect="1"/>
          </p:cNvPicPr>
          <p:nvPr/>
        </p:nvPicPr>
        <p:blipFill>
          <a:blip r:embed="rId4"/>
          <a:stretch>
            <a:fillRect/>
          </a:stretch>
        </p:blipFill>
        <p:spPr>
          <a:xfrm>
            <a:off x="3611880" y="2194560"/>
            <a:ext cx="548640" cy="548640"/>
          </a:xfrm>
          <a:prstGeom prst="rect">
            <a:avLst/>
          </a:prstGeom>
        </p:spPr>
      </p:pic>
      <p:sp>
        <p:nvSpPr>
          <p:cNvPr id="14" name="Text 10"/>
          <p:cNvSpPr/>
          <p:nvPr/>
        </p:nvSpPr>
        <p:spPr>
          <a:xfrm>
            <a:off x="299466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Selección</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de cliente</a:t>
            </a:r>
            <a:endParaRPr lang="en-US" sz="1200" dirty="0"/>
          </a:p>
        </p:txBody>
      </p:sp>
      <p:sp>
        <p:nvSpPr>
          <p:cNvPr id="15" name="Shape 11"/>
          <p:cNvSpPr/>
          <p:nvPr/>
        </p:nvSpPr>
        <p:spPr>
          <a:xfrm rot="5400000">
            <a:off x="4850892" y="2487168"/>
            <a:ext cx="228600" cy="329184"/>
          </a:xfrm>
          <a:prstGeom prst="rtTriangle">
            <a:avLst/>
          </a:prstGeom>
          <a:solidFill>
            <a:srgbClr val="B8860B"/>
          </a:solidFill>
          <a:ln/>
        </p:spPr>
      </p:sp>
      <p:sp>
        <p:nvSpPr>
          <p:cNvPr id="16" name="Shape 12"/>
          <p:cNvSpPr/>
          <p:nvPr/>
        </p:nvSpPr>
        <p:spPr>
          <a:xfrm>
            <a:off x="5097780" y="1965960"/>
            <a:ext cx="1965960" cy="1371600"/>
          </a:xfrm>
          <a:prstGeom prst="rect">
            <a:avLst/>
          </a:prstGeom>
          <a:solidFill>
            <a:srgbClr val="FFFFFF"/>
          </a:solidFill>
          <a:ln/>
          <a:effectLst>
            <a:outerShdw blurRad="101600" dist="12700" dir="5400000" algn="bl" rotWithShape="0">
              <a:srgbClr val="1E2761">
                <a:alpha val="8000"/>
              </a:srgbClr>
            </a:outerShdw>
          </a:effectLst>
        </p:spPr>
      </p:sp>
      <p:sp>
        <p:nvSpPr>
          <p:cNvPr id="17" name="Shape 13"/>
          <p:cNvSpPr/>
          <p:nvPr/>
        </p:nvSpPr>
        <p:spPr>
          <a:xfrm>
            <a:off x="5097780" y="1965960"/>
            <a:ext cx="1965960" cy="73152"/>
          </a:xfrm>
          <a:prstGeom prst="rect">
            <a:avLst/>
          </a:prstGeom>
          <a:solidFill>
            <a:srgbClr val="1E2761"/>
          </a:solidFill>
          <a:ln/>
        </p:spPr>
      </p:sp>
      <p:pic>
        <p:nvPicPr>
          <p:cNvPr id="18" name="Image 2" descr="preencoded.png"/>
          <p:cNvPicPr>
            <a:picLocks noChangeAspect="1"/>
          </p:cNvPicPr>
          <p:nvPr/>
        </p:nvPicPr>
        <p:blipFill>
          <a:blip r:embed="rId5"/>
          <a:stretch>
            <a:fillRect/>
          </a:stretch>
        </p:blipFill>
        <p:spPr>
          <a:xfrm>
            <a:off x="5806440" y="2194560"/>
            <a:ext cx="548640" cy="548640"/>
          </a:xfrm>
          <a:prstGeom prst="rect">
            <a:avLst/>
          </a:prstGeom>
        </p:spPr>
      </p:pic>
      <p:sp>
        <p:nvSpPr>
          <p:cNvPr id="19" name="Text 14"/>
          <p:cNvSpPr/>
          <p:nvPr/>
        </p:nvSpPr>
        <p:spPr>
          <a:xfrm>
            <a:off x="518922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Preprocesar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y limpiar</a:t>
            </a:r>
            <a:endParaRPr lang="en-US" sz="1200" dirty="0"/>
          </a:p>
        </p:txBody>
      </p:sp>
      <p:sp>
        <p:nvSpPr>
          <p:cNvPr id="20" name="Shape 15"/>
          <p:cNvSpPr/>
          <p:nvPr/>
        </p:nvSpPr>
        <p:spPr>
          <a:xfrm rot="5400000">
            <a:off x="7045452" y="2487168"/>
            <a:ext cx="228600" cy="329184"/>
          </a:xfrm>
          <a:prstGeom prst="rtTriangle">
            <a:avLst/>
          </a:prstGeom>
          <a:solidFill>
            <a:srgbClr val="B8860B"/>
          </a:solidFill>
          <a:ln/>
        </p:spPr>
      </p:sp>
      <p:sp>
        <p:nvSpPr>
          <p:cNvPr id="21" name="Shape 16"/>
          <p:cNvSpPr/>
          <p:nvPr/>
        </p:nvSpPr>
        <p:spPr>
          <a:xfrm>
            <a:off x="7292340" y="1965960"/>
            <a:ext cx="1965960" cy="1371600"/>
          </a:xfrm>
          <a:prstGeom prst="rect">
            <a:avLst/>
          </a:prstGeom>
          <a:solidFill>
            <a:srgbClr val="FFFFFF"/>
          </a:solidFill>
          <a:ln/>
          <a:effectLst>
            <a:outerShdw blurRad="101600" dist="12700" dir="5400000" algn="bl" rotWithShape="0">
              <a:srgbClr val="1E2761">
                <a:alpha val="8000"/>
              </a:srgbClr>
            </a:outerShdw>
          </a:effectLst>
        </p:spPr>
      </p:sp>
      <p:sp>
        <p:nvSpPr>
          <p:cNvPr id="22" name="Shape 17"/>
          <p:cNvSpPr/>
          <p:nvPr/>
        </p:nvSpPr>
        <p:spPr>
          <a:xfrm>
            <a:off x="7292340" y="1965960"/>
            <a:ext cx="1965960" cy="73152"/>
          </a:xfrm>
          <a:prstGeom prst="rect">
            <a:avLst/>
          </a:prstGeom>
          <a:solidFill>
            <a:srgbClr val="1E2761"/>
          </a:solidFill>
          <a:ln/>
        </p:spPr>
      </p:sp>
      <p:pic>
        <p:nvPicPr>
          <p:cNvPr id="23" name="Image 3" descr="preencoded.png"/>
          <p:cNvPicPr>
            <a:picLocks noChangeAspect="1"/>
          </p:cNvPicPr>
          <p:nvPr/>
        </p:nvPicPr>
        <p:blipFill>
          <a:blip r:embed="rId6"/>
          <a:stretch>
            <a:fillRect/>
          </a:stretch>
        </p:blipFill>
        <p:spPr>
          <a:xfrm>
            <a:off x="8001000" y="2194560"/>
            <a:ext cx="548640" cy="548640"/>
          </a:xfrm>
          <a:prstGeom prst="rect">
            <a:avLst/>
          </a:prstGeom>
        </p:spPr>
      </p:pic>
      <p:sp>
        <p:nvSpPr>
          <p:cNvPr id="24" name="Text 18"/>
          <p:cNvSpPr/>
          <p:nvPr/>
        </p:nvSpPr>
        <p:spPr>
          <a:xfrm>
            <a:off x="738378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Entrenar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ETSformer</a:t>
            </a:r>
            <a:endParaRPr lang="en-US" sz="1200" dirty="0"/>
          </a:p>
        </p:txBody>
      </p:sp>
      <p:sp>
        <p:nvSpPr>
          <p:cNvPr id="25" name="Shape 19"/>
          <p:cNvSpPr/>
          <p:nvPr/>
        </p:nvSpPr>
        <p:spPr>
          <a:xfrm rot="5400000">
            <a:off x="9240012" y="2487168"/>
            <a:ext cx="228600" cy="329184"/>
          </a:xfrm>
          <a:prstGeom prst="rtTriangle">
            <a:avLst/>
          </a:prstGeom>
          <a:solidFill>
            <a:srgbClr val="B8860B"/>
          </a:solidFill>
          <a:ln/>
        </p:spPr>
      </p:sp>
      <p:sp>
        <p:nvSpPr>
          <p:cNvPr id="26" name="Shape 20"/>
          <p:cNvSpPr/>
          <p:nvPr/>
        </p:nvSpPr>
        <p:spPr>
          <a:xfrm>
            <a:off x="9486900" y="1965960"/>
            <a:ext cx="1965960" cy="1371600"/>
          </a:xfrm>
          <a:prstGeom prst="rect">
            <a:avLst/>
          </a:prstGeom>
          <a:solidFill>
            <a:srgbClr val="FFFFFF"/>
          </a:solidFill>
          <a:ln/>
          <a:effectLst>
            <a:outerShdw blurRad="101600" dist="12700" dir="5400000" algn="bl" rotWithShape="0">
              <a:srgbClr val="1E2761">
                <a:alpha val="8000"/>
              </a:srgbClr>
            </a:outerShdw>
          </a:effectLst>
        </p:spPr>
      </p:sp>
      <p:sp>
        <p:nvSpPr>
          <p:cNvPr id="27" name="Shape 21"/>
          <p:cNvSpPr/>
          <p:nvPr/>
        </p:nvSpPr>
        <p:spPr>
          <a:xfrm>
            <a:off x="9486900" y="1965960"/>
            <a:ext cx="1965960" cy="73152"/>
          </a:xfrm>
          <a:prstGeom prst="rect">
            <a:avLst/>
          </a:prstGeom>
          <a:solidFill>
            <a:srgbClr val="1E2761"/>
          </a:solidFill>
          <a:ln/>
        </p:spPr>
      </p:sp>
      <p:pic>
        <p:nvPicPr>
          <p:cNvPr id="28" name="Image 4" descr="preencoded.png"/>
          <p:cNvPicPr>
            <a:picLocks noChangeAspect="1"/>
          </p:cNvPicPr>
          <p:nvPr/>
        </p:nvPicPr>
        <p:blipFill>
          <a:blip r:embed="rId7"/>
          <a:stretch>
            <a:fillRect/>
          </a:stretch>
        </p:blipFill>
        <p:spPr>
          <a:xfrm>
            <a:off x="10195560" y="2194560"/>
            <a:ext cx="548640" cy="548640"/>
          </a:xfrm>
          <a:prstGeom prst="rect">
            <a:avLst/>
          </a:prstGeom>
        </p:spPr>
      </p:pic>
      <p:sp>
        <p:nvSpPr>
          <p:cNvPr id="29" name="Text 22"/>
          <p:cNvSpPr/>
          <p:nvPr/>
        </p:nvSpPr>
        <p:spPr>
          <a:xfrm>
            <a:off x="9578340" y="2788920"/>
            <a:ext cx="1783080" cy="5029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Generar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predicción</a:t>
            </a:r>
            <a:endParaRPr lang="en-US" sz="1200" dirty="0"/>
          </a:p>
        </p:txBody>
      </p:sp>
      <p:sp>
        <p:nvSpPr>
          <p:cNvPr id="30" name="Text 23"/>
          <p:cNvSpPr/>
          <p:nvPr/>
        </p:nvSpPr>
        <p:spPr>
          <a:xfrm>
            <a:off x="640080" y="3657600"/>
            <a:ext cx="10881360" cy="36576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Configuración del modelo (parámetros principales)</a:t>
            </a:r>
            <a:endParaRPr lang="en-US" sz="1600" dirty="0"/>
          </a:p>
        </p:txBody>
      </p:sp>
      <p:sp>
        <p:nvSpPr>
          <p:cNvPr id="31" name="Shape 24"/>
          <p:cNvSpPr/>
          <p:nvPr/>
        </p:nvSpPr>
        <p:spPr>
          <a:xfrm>
            <a:off x="640080" y="4023360"/>
            <a:ext cx="457200" cy="27432"/>
          </a:xfrm>
          <a:prstGeom prst="rect">
            <a:avLst/>
          </a:prstGeom>
          <a:solidFill>
            <a:srgbClr val="B8860B"/>
          </a:solidFill>
          <a:ln/>
        </p:spPr>
      </p:sp>
      <p:sp>
        <p:nvSpPr>
          <p:cNvPr id="32" name="Shape 25"/>
          <p:cNvSpPr/>
          <p:nvPr/>
        </p:nvSpPr>
        <p:spPr>
          <a:xfrm>
            <a:off x="640080" y="420624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33" name="Shape 26"/>
          <p:cNvSpPr/>
          <p:nvPr/>
        </p:nvSpPr>
        <p:spPr>
          <a:xfrm>
            <a:off x="640080" y="4206240"/>
            <a:ext cx="73152" cy="868680"/>
          </a:xfrm>
          <a:prstGeom prst="rect">
            <a:avLst/>
          </a:prstGeom>
          <a:solidFill>
            <a:srgbClr val="B8860B"/>
          </a:solidFill>
          <a:ln/>
        </p:spPr>
      </p:sp>
      <p:sp>
        <p:nvSpPr>
          <p:cNvPr id="34" name="Text 27"/>
          <p:cNvSpPr/>
          <p:nvPr/>
        </p:nvSpPr>
        <p:spPr>
          <a:xfrm>
            <a:off x="86868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seq_len</a:t>
            </a:r>
            <a:endParaRPr lang="en-US" sz="1100" dirty="0"/>
          </a:p>
        </p:txBody>
      </p:sp>
      <p:sp>
        <p:nvSpPr>
          <p:cNvPr id="35" name="Text 28"/>
          <p:cNvSpPr/>
          <p:nvPr/>
        </p:nvSpPr>
        <p:spPr>
          <a:xfrm>
            <a:off x="86868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48</a:t>
            </a:r>
            <a:endParaRPr lang="en-US" sz="1800" dirty="0"/>
          </a:p>
        </p:txBody>
      </p:sp>
      <p:sp>
        <p:nvSpPr>
          <p:cNvPr id="36" name="Text 29"/>
          <p:cNvSpPr/>
          <p:nvPr/>
        </p:nvSpPr>
        <p:spPr>
          <a:xfrm>
            <a:off x="86868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12 h de historia</a:t>
            </a:r>
            <a:endParaRPr lang="en-US" sz="1000" dirty="0"/>
          </a:p>
        </p:txBody>
      </p:sp>
      <p:sp>
        <p:nvSpPr>
          <p:cNvPr id="37" name="Shape 30"/>
          <p:cNvSpPr/>
          <p:nvPr/>
        </p:nvSpPr>
        <p:spPr>
          <a:xfrm>
            <a:off x="3360420" y="420624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38" name="Shape 31"/>
          <p:cNvSpPr/>
          <p:nvPr/>
        </p:nvSpPr>
        <p:spPr>
          <a:xfrm>
            <a:off x="3360420" y="4206240"/>
            <a:ext cx="73152" cy="868680"/>
          </a:xfrm>
          <a:prstGeom prst="rect">
            <a:avLst/>
          </a:prstGeom>
          <a:solidFill>
            <a:srgbClr val="B8860B"/>
          </a:solidFill>
          <a:ln/>
        </p:spPr>
      </p:sp>
      <p:sp>
        <p:nvSpPr>
          <p:cNvPr id="39" name="Text 32"/>
          <p:cNvSpPr/>
          <p:nvPr/>
        </p:nvSpPr>
        <p:spPr>
          <a:xfrm>
            <a:off x="358902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pred_len</a:t>
            </a:r>
            <a:endParaRPr lang="en-US" sz="1100" dirty="0"/>
          </a:p>
        </p:txBody>
      </p:sp>
      <p:sp>
        <p:nvSpPr>
          <p:cNvPr id="40" name="Text 33"/>
          <p:cNvSpPr/>
          <p:nvPr/>
        </p:nvSpPr>
        <p:spPr>
          <a:xfrm>
            <a:off x="358902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12</a:t>
            </a:r>
            <a:endParaRPr lang="en-US" sz="1800" dirty="0"/>
          </a:p>
        </p:txBody>
      </p:sp>
      <p:sp>
        <p:nvSpPr>
          <p:cNvPr id="41" name="Text 34"/>
          <p:cNvSpPr/>
          <p:nvPr/>
        </p:nvSpPr>
        <p:spPr>
          <a:xfrm>
            <a:off x="358902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3 h de predicción</a:t>
            </a:r>
            <a:endParaRPr lang="en-US" sz="1000" dirty="0"/>
          </a:p>
        </p:txBody>
      </p:sp>
      <p:sp>
        <p:nvSpPr>
          <p:cNvPr id="42" name="Shape 35"/>
          <p:cNvSpPr/>
          <p:nvPr/>
        </p:nvSpPr>
        <p:spPr>
          <a:xfrm>
            <a:off x="6080760" y="420624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43" name="Shape 36"/>
          <p:cNvSpPr/>
          <p:nvPr/>
        </p:nvSpPr>
        <p:spPr>
          <a:xfrm>
            <a:off x="6080760" y="4206240"/>
            <a:ext cx="73152" cy="868680"/>
          </a:xfrm>
          <a:prstGeom prst="rect">
            <a:avLst/>
          </a:prstGeom>
          <a:solidFill>
            <a:srgbClr val="B8860B"/>
          </a:solidFill>
          <a:ln/>
        </p:spPr>
      </p:sp>
      <p:sp>
        <p:nvSpPr>
          <p:cNvPr id="44" name="Text 37"/>
          <p:cNvSpPr/>
          <p:nvPr/>
        </p:nvSpPr>
        <p:spPr>
          <a:xfrm>
            <a:off x="630936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features</a:t>
            </a:r>
            <a:endParaRPr lang="en-US" sz="1100" dirty="0"/>
          </a:p>
        </p:txBody>
      </p:sp>
      <p:sp>
        <p:nvSpPr>
          <p:cNvPr id="45" name="Text 38"/>
          <p:cNvSpPr/>
          <p:nvPr/>
        </p:nvSpPr>
        <p:spPr>
          <a:xfrm>
            <a:off x="630936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S</a:t>
            </a:r>
            <a:endParaRPr lang="en-US" sz="1800" dirty="0"/>
          </a:p>
        </p:txBody>
      </p:sp>
      <p:sp>
        <p:nvSpPr>
          <p:cNvPr id="46" name="Text 39"/>
          <p:cNvSpPr/>
          <p:nvPr/>
        </p:nvSpPr>
        <p:spPr>
          <a:xfrm>
            <a:off x="630936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univariado</a:t>
            </a:r>
            <a:endParaRPr lang="en-US" sz="1000" dirty="0"/>
          </a:p>
        </p:txBody>
      </p:sp>
      <p:sp>
        <p:nvSpPr>
          <p:cNvPr id="47" name="Shape 40"/>
          <p:cNvSpPr/>
          <p:nvPr/>
        </p:nvSpPr>
        <p:spPr>
          <a:xfrm>
            <a:off x="8801100" y="420624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48" name="Shape 41"/>
          <p:cNvSpPr/>
          <p:nvPr/>
        </p:nvSpPr>
        <p:spPr>
          <a:xfrm>
            <a:off x="8801100" y="4206240"/>
            <a:ext cx="73152" cy="868680"/>
          </a:xfrm>
          <a:prstGeom prst="rect">
            <a:avLst/>
          </a:prstGeom>
          <a:solidFill>
            <a:srgbClr val="B8860B"/>
          </a:solidFill>
          <a:ln/>
        </p:spPr>
      </p:sp>
      <p:sp>
        <p:nvSpPr>
          <p:cNvPr id="49" name="Text 42"/>
          <p:cNvSpPr/>
          <p:nvPr/>
        </p:nvSpPr>
        <p:spPr>
          <a:xfrm>
            <a:off x="9029700" y="429768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K</a:t>
            </a:r>
            <a:endParaRPr lang="en-US" sz="1100" dirty="0"/>
          </a:p>
        </p:txBody>
      </p:sp>
      <p:sp>
        <p:nvSpPr>
          <p:cNvPr id="50" name="Text 43"/>
          <p:cNvSpPr/>
          <p:nvPr/>
        </p:nvSpPr>
        <p:spPr>
          <a:xfrm>
            <a:off x="9029700" y="452628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a:t>
            </a:r>
            <a:endParaRPr lang="en-US" sz="1800" dirty="0"/>
          </a:p>
        </p:txBody>
      </p:sp>
      <p:sp>
        <p:nvSpPr>
          <p:cNvPr id="51" name="Text 44"/>
          <p:cNvSpPr/>
          <p:nvPr/>
        </p:nvSpPr>
        <p:spPr>
          <a:xfrm>
            <a:off x="9029700" y="484632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1 frecuencia (FA)</a:t>
            </a:r>
            <a:endParaRPr lang="en-US" sz="1000" dirty="0"/>
          </a:p>
        </p:txBody>
      </p:sp>
      <p:sp>
        <p:nvSpPr>
          <p:cNvPr id="52" name="Shape 45"/>
          <p:cNvSpPr/>
          <p:nvPr/>
        </p:nvSpPr>
        <p:spPr>
          <a:xfrm>
            <a:off x="640080" y="516636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53" name="Shape 46"/>
          <p:cNvSpPr/>
          <p:nvPr/>
        </p:nvSpPr>
        <p:spPr>
          <a:xfrm>
            <a:off x="640080" y="5166360"/>
            <a:ext cx="73152" cy="868680"/>
          </a:xfrm>
          <a:prstGeom prst="rect">
            <a:avLst/>
          </a:prstGeom>
          <a:solidFill>
            <a:srgbClr val="B8860B"/>
          </a:solidFill>
          <a:ln/>
        </p:spPr>
      </p:sp>
      <p:sp>
        <p:nvSpPr>
          <p:cNvPr id="54" name="Text 47"/>
          <p:cNvSpPr/>
          <p:nvPr/>
        </p:nvSpPr>
        <p:spPr>
          <a:xfrm>
            <a:off x="86868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d_model</a:t>
            </a:r>
            <a:endParaRPr lang="en-US" sz="1100" dirty="0"/>
          </a:p>
        </p:txBody>
      </p:sp>
      <p:sp>
        <p:nvSpPr>
          <p:cNvPr id="55" name="Text 48"/>
          <p:cNvSpPr/>
          <p:nvPr/>
        </p:nvSpPr>
        <p:spPr>
          <a:xfrm>
            <a:off x="86868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32</a:t>
            </a:r>
            <a:endParaRPr lang="en-US" sz="1800" dirty="0"/>
          </a:p>
        </p:txBody>
      </p:sp>
      <p:sp>
        <p:nvSpPr>
          <p:cNvPr id="56" name="Text 49"/>
          <p:cNvSpPr/>
          <p:nvPr/>
        </p:nvSpPr>
        <p:spPr>
          <a:xfrm>
            <a:off x="86868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tamaño interno</a:t>
            </a:r>
            <a:endParaRPr lang="en-US" sz="1000" dirty="0"/>
          </a:p>
        </p:txBody>
      </p:sp>
      <p:sp>
        <p:nvSpPr>
          <p:cNvPr id="57" name="Shape 50"/>
          <p:cNvSpPr/>
          <p:nvPr/>
        </p:nvSpPr>
        <p:spPr>
          <a:xfrm>
            <a:off x="3360420" y="516636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58" name="Shape 51"/>
          <p:cNvSpPr/>
          <p:nvPr/>
        </p:nvSpPr>
        <p:spPr>
          <a:xfrm>
            <a:off x="3360420" y="5166360"/>
            <a:ext cx="73152" cy="868680"/>
          </a:xfrm>
          <a:prstGeom prst="rect">
            <a:avLst/>
          </a:prstGeom>
          <a:solidFill>
            <a:srgbClr val="B8860B"/>
          </a:solidFill>
          <a:ln/>
        </p:spPr>
      </p:sp>
      <p:sp>
        <p:nvSpPr>
          <p:cNvPr id="59" name="Text 52"/>
          <p:cNvSpPr/>
          <p:nvPr/>
        </p:nvSpPr>
        <p:spPr>
          <a:xfrm>
            <a:off x="358902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epochs</a:t>
            </a:r>
            <a:endParaRPr lang="en-US" sz="1100" dirty="0"/>
          </a:p>
        </p:txBody>
      </p:sp>
      <p:sp>
        <p:nvSpPr>
          <p:cNvPr id="60" name="Text 53"/>
          <p:cNvSpPr/>
          <p:nvPr/>
        </p:nvSpPr>
        <p:spPr>
          <a:xfrm>
            <a:off x="358902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a:t>
            </a:r>
            <a:endParaRPr lang="en-US" sz="1800" dirty="0"/>
          </a:p>
        </p:txBody>
      </p:sp>
      <p:sp>
        <p:nvSpPr>
          <p:cNvPr id="61" name="Text 54"/>
          <p:cNvSpPr/>
          <p:nvPr/>
        </p:nvSpPr>
        <p:spPr>
          <a:xfrm>
            <a:off x="358902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demo rápida</a:t>
            </a:r>
            <a:endParaRPr lang="en-US" sz="1000" dirty="0"/>
          </a:p>
        </p:txBody>
      </p:sp>
      <p:sp>
        <p:nvSpPr>
          <p:cNvPr id="62" name="Shape 55"/>
          <p:cNvSpPr/>
          <p:nvPr/>
        </p:nvSpPr>
        <p:spPr>
          <a:xfrm>
            <a:off x="6080760" y="516636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63" name="Shape 56"/>
          <p:cNvSpPr/>
          <p:nvPr/>
        </p:nvSpPr>
        <p:spPr>
          <a:xfrm>
            <a:off x="6080760" y="5166360"/>
            <a:ext cx="73152" cy="868680"/>
          </a:xfrm>
          <a:prstGeom prst="rect">
            <a:avLst/>
          </a:prstGeom>
          <a:solidFill>
            <a:srgbClr val="B8860B"/>
          </a:solidFill>
          <a:ln/>
        </p:spPr>
      </p:sp>
      <p:sp>
        <p:nvSpPr>
          <p:cNvPr id="64" name="Text 57"/>
          <p:cNvSpPr/>
          <p:nvPr/>
        </p:nvSpPr>
        <p:spPr>
          <a:xfrm>
            <a:off x="630936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batch</a:t>
            </a:r>
            <a:endParaRPr lang="en-US" sz="1100" dirty="0"/>
          </a:p>
        </p:txBody>
      </p:sp>
      <p:sp>
        <p:nvSpPr>
          <p:cNvPr id="65" name="Text 58"/>
          <p:cNvSpPr/>
          <p:nvPr/>
        </p:nvSpPr>
        <p:spPr>
          <a:xfrm>
            <a:off x="630936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16</a:t>
            </a:r>
            <a:endParaRPr lang="en-US" sz="1800" dirty="0"/>
          </a:p>
        </p:txBody>
      </p:sp>
      <p:sp>
        <p:nvSpPr>
          <p:cNvPr id="66" name="Text 59"/>
          <p:cNvSpPr/>
          <p:nvPr/>
        </p:nvSpPr>
        <p:spPr>
          <a:xfrm>
            <a:off x="630936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tamaño de lote</a:t>
            </a:r>
            <a:endParaRPr lang="en-US" sz="1000" dirty="0"/>
          </a:p>
        </p:txBody>
      </p:sp>
      <p:sp>
        <p:nvSpPr>
          <p:cNvPr id="67" name="Shape 60"/>
          <p:cNvSpPr/>
          <p:nvPr/>
        </p:nvSpPr>
        <p:spPr>
          <a:xfrm>
            <a:off x="8801100" y="5166360"/>
            <a:ext cx="2583180" cy="868680"/>
          </a:xfrm>
          <a:prstGeom prst="rect">
            <a:avLst/>
          </a:prstGeom>
          <a:solidFill>
            <a:srgbClr val="FFFFFF"/>
          </a:solidFill>
          <a:ln/>
          <a:effectLst>
            <a:outerShdw blurRad="101600" dist="12700" dir="5400000" algn="bl" rotWithShape="0">
              <a:srgbClr val="1E2761">
                <a:alpha val="8000"/>
              </a:srgbClr>
            </a:outerShdw>
          </a:effectLst>
        </p:spPr>
      </p:sp>
      <p:sp>
        <p:nvSpPr>
          <p:cNvPr id="68" name="Shape 61"/>
          <p:cNvSpPr/>
          <p:nvPr/>
        </p:nvSpPr>
        <p:spPr>
          <a:xfrm>
            <a:off x="8801100" y="5166360"/>
            <a:ext cx="73152" cy="868680"/>
          </a:xfrm>
          <a:prstGeom prst="rect">
            <a:avLst/>
          </a:prstGeom>
          <a:solidFill>
            <a:srgbClr val="B8860B"/>
          </a:solidFill>
          <a:ln/>
        </p:spPr>
      </p:sp>
      <p:sp>
        <p:nvSpPr>
          <p:cNvPr id="69" name="Text 62"/>
          <p:cNvSpPr/>
          <p:nvPr/>
        </p:nvSpPr>
        <p:spPr>
          <a:xfrm>
            <a:off x="9029700" y="5257800"/>
            <a:ext cx="2354580" cy="274320"/>
          </a:xfrm>
          <a:prstGeom prst="rect">
            <a:avLst/>
          </a:prstGeom>
          <a:noFill/>
          <a:ln/>
        </p:spPr>
        <p:txBody>
          <a:bodyPr wrap="square" lIns="0" tIns="0" rIns="0" bIns="0" rtlCol="0" anchor="ctr"/>
          <a:lstStyle/>
          <a:p>
            <a:pPr marL="0" indent="0">
              <a:buNone/>
            </a:pPr>
            <a:r>
              <a:rPr lang="en-US" sz="1100" b="1" kern="0" spc="100" dirty="0">
                <a:solidFill>
                  <a:srgbClr val="B8860B"/>
                </a:solidFill>
                <a:latin typeface="Calibri" pitchFamily="34" charset="0"/>
                <a:ea typeface="Calibri" pitchFamily="34" charset="-122"/>
                <a:cs typeface="Calibri" pitchFamily="34" charset="-120"/>
              </a:rPr>
              <a:t>lr</a:t>
            </a:r>
            <a:endParaRPr lang="en-US" sz="1100" dirty="0"/>
          </a:p>
        </p:txBody>
      </p:sp>
      <p:sp>
        <p:nvSpPr>
          <p:cNvPr id="70" name="Text 63"/>
          <p:cNvSpPr/>
          <p:nvPr/>
        </p:nvSpPr>
        <p:spPr>
          <a:xfrm>
            <a:off x="9029700" y="5486400"/>
            <a:ext cx="2354580" cy="320040"/>
          </a:xfrm>
          <a:prstGeom prst="rect">
            <a:avLst/>
          </a:prstGeom>
          <a:noFill/>
          <a:ln/>
        </p:spPr>
        <p:txBody>
          <a:bodyPr wrap="square" lIns="0" tIns="0" rIns="0" bIns="0" rtlCol="0" anchor="ctr"/>
          <a:lstStyle/>
          <a:p>
            <a:pPr marL="0" indent="0">
              <a:buNone/>
            </a:pPr>
            <a:r>
              <a:rPr lang="en-US" sz="1800" b="1" dirty="0">
                <a:solidFill>
                  <a:srgbClr val="1E2761"/>
                </a:solidFill>
                <a:latin typeface="Georgia" pitchFamily="34" charset="0"/>
                <a:ea typeface="Georgia" pitchFamily="34" charset="-122"/>
                <a:cs typeface="Georgia" pitchFamily="34" charset="-120"/>
              </a:rPr>
              <a:t>1e-4</a:t>
            </a:r>
            <a:endParaRPr lang="en-US" sz="1800" dirty="0"/>
          </a:p>
        </p:txBody>
      </p:sp>
      <p:sp>
        <p:nvSpPr>
          <p:cNvPr id="71" name="Text 64"/>
          <p:cNvSpPr/>
          <p:nvPr/>
        </p:nvSpPr>
        <p:spPr>
          <a:xfrm>
            <a:off x="9029700" y="5806440"/>
            <a:ext cx="2354580" cy="228600"/>
          </a:xfrm>
          <a:prstGeom prst="rect">
            <a:avLst/>
          </a:prstGeom>
          <a:noFill/>
          <a:ln/>
        </p:spPr>
        <p:txBody>
          <a:bodyPr wrap="square" lIns="0" tIns="0" rIns="0" bIns="0"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tasa de aprendizaje</a:t>
            </a:r>
            <a:endParaRPr lang="en-US" sz="1000" dirty="0"/>
          </a:p>
        </p:txBody>
      </p:sp>
      <p:sp>
        <p:nvSpPr>
          <p:cNvPr id="72" name="Shape 65"/>
          <p:cNvSpPr/>
          <p:nvPr/>
        </p:nvSpPr>
        <p:spPr>
          <a:xfrm>
            <a:off x="548640" y="6473952"/>
            <a:ext cx="11064240" cy="18288"/>
          </a:xfrm>
          <a:prstGeom prst="rect">
            <a:avLst/>
          </a:prstGeom>
          <a:solidFill>
            <a:srgbClr val="D1D5DB"/>
          </a:solidFill>
          <a:ln/>
        </p:spPr>
      </p:sp>
      <p:sp>
        <p:nvSpPr>
          <p:cNvPr id="73" name="Text 66"/>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74" name="Text 67"/>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V</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Resultados obtenidos</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Métricas y comparación predicción vs valor real</a:t>
            </a:r>
            <a:endParaRPr lang="en-US" sz="1300" dirty="0"/>
          </a:p>
        </p:txBody>
      </p:sp>
      <p:sp>
        <p:nvSpPr>
          <p:cNvPr id="6" name="Shape 4"/>
          <p:cNvSpPr/>
          <p:nvPr/>
        </p:nvSpPr>
        <p:spPr>
          <a:xfrm>
            <a:off x="640080" y="1965960"/>
            <a:ext cx="3840480" cy="4251960"/>
          </a:xfrm>
          <a:prstGeom prst="rect">
            <a:avLst/>
          </a:prstGeom>
          <a:solidFill>
            <a:srgbClr val="1E2761"/>
          </a:solidFill>
          <a:ln/>
          <a:effectLst>
            <a:outerShdw blurRad="101600" dist="12700" dir="5400000" algn="bl" rotWithShape="0">
              <a:srgbClr val="1E2761">
                <a:alpha val="8000"/>
              </a:srgbClr>
            </a:outerShdw>
          </a:effectLst>
        </p:spPr>
      </p:sp>
      <p:pic>
        <p:nvPicPr>
          <p:cNvPr id="7" name="Image 0" descr="preencoded.png"/>
          <p:cNvPicPr>
            <a:picLocks noChangeAspect="1"/>
          </p:cNvPicPr>
          <p:nvPr/>
        </p:nvPicPr>
        <p:blipFill>
          <a:blip r:embed="rId3"/>
          <a:stretch>
            <a:fillRect/>
          </a:stretch>
        </p:blipFill>
        <p:spPr>
          <a:xfrm>
            <a:off x="868680" y="2148840"/>
            <a:ext cx="457200" cy="457200"/>
          </a:xfrm>
          <a:prstGeom prst="rect">
            <a:avLst/>
          </a:prstGeom>
        </p:spPr>
      </p:pic>
      <p:sp>
        <p:nvSpPr>
          <p:cNvPr id="8" name="Text 5"/>
          <p:cNvSpPr/>
          <p:nvPr/>
        </p:nvSpPr>
        <p:spPr>
          <a:xfrm>
            <a:off x="1417320" y="2194560"/>
            <a:ext cx="274320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Métricas del modelo</a:t>
            </a:r>
            <a:endParaRPr lang="en-US" sz="1400" dirty="0"/>
          </a:p>
        </p:txBody>
      </p:sp>
      <p:sp>
        <p:nvSpPr>
          <p:cNvPr id="9" name="Text 6"/>
          <p:cNvSpPr/>
          <p:nvPr/>
        </p:nvSpPr>
        <p:spPr>
          <a:xfrm>
            <a:off x="868680" y="2788920"/>
            <a:ext cx="3383280" cy="274320"/>
          </a:xfrm>
          <a:prstGeom prst="rect">
            <a:avLst/>
          </a:prstGeom>
          <a:noFill/>
          <a:ln/>
        </p:spPr>
        <p:txBody>
          <a:bodyPr wrap="square" lIns="0" tIns="0" rIns="0" bIns="0" rtlCol="0" anchor="ctr"/>
          <a:lstStyle/>
          <a:p>
            <a:pPr marL="0" indent="0">
              <a:buNone/>
            </a:pPr>
            <a:r>
              <a:rPr lang="en-US" sz="1000" b="1" kern="0" spc="300" dirty="0">
                <a:solidFill>
                  <a:srgbClr val="C9A961"/>
                </a:solidFill>
                <a:latin typeface="Calibri" pitchFamily="34" charset="0"/>
                <a:ea typeface="Calibri" pitchFamily="34" charset="-122"/>
                <a:cs typeface="Calibri" pitchFamily="34" charset="-120"/>
              </a:rPr>
              <a:t>VALIDACIÓN</a:t>
            </a:r>
            <a:endParaRPr lang="en-US" sz="1000" dirty="0"/>
          </a:p>
        </p:txBody>
      </p:sp>
      <p:sp>
        <p:nvSpPr>
          <p:cNvPr id="10" name="Text 7"/>
          <p:cNvSpPr/>
          <p:nvPr/>
        </p:nvSpPr>
        <p:spPr>
          <a:xfrm>
            <a:off x="868680" y="306324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MSE  0.196</a:t>
            </a:r>
            <a:endParaRPr lang="en-US" sz="2400" dirty="0"/>
          </a:p>
        </p:txBody>
      </p:sp>
      <p:sp>
        <p:nvSpPr>
          <p:cNvPr id="11" name="Text 8"/>
          <p:cNvSpPr/>
          <p:nvPr/>
        </p:nvSpPr>
        <p:spPr>
          <a:xfrm>
            <a:off x="868680" y="352044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MAE  0.352</a:t>
            </a:r>
            <a:endParaRPr lang="en-US" sz="2400" dirty="0"/>
          </a:p>
        </p:txBody>
      </p:sp>
      <p:sp>
        <p:nvSpPr>
          <p:cNvPr id="12" name="Shape 9"/>
          <p:cNvSpPr/>
          <p:nvPr/>
        </p:nvSpPr>
        <p:spPr>
          <a:xfrm>
            <a:off x="868680" y="4114800"/>
            <a:ext cx="3383280" cy="18288"/>
          </a:xfrm>
          <a:prstGeom prst="rect">
            <a:avLst/>
          </a:prstGeom>
          <a:solidFill>
            <a:srgbClr val="C9A961"/>
          </a:solidFill>
          <a:ln/>
        </p:spPr>
      </p:sp>
      <p:sp>
        <p:nvSpPr>
          <p:cNvPr id="13" name="Text 10"/>
          <p:cNvSpPr/>
          <p:nvPr/>
        </p:nvSpPr>
        <p:spPr>
          <a:xfrm>
            <a:off x="868680" y="4206240"/>
            <a:ext cx="3383280" cy="274320"/>
          </a:xfrm>
          <a:prstGeom prst="rect">
            <a:avLst/>
          </a:prstGeom>
          <a:noFill/>
          <a:ln/>
        </p:spPr>
        <p:txBody>
          <a:bodyPr wrap="square" lIns="0" tIns="0" rIns="0" bIns="0" rtlCol="0" anchor="ctr"/>
          <a:lstStyle/>
          <a:p>
            <a:pPr marL="0" indent="0">
              <a:buNone/>
            </a:pPr>
            <a:r>
              <a:rPr lang="en-US" sz="1000" b="1" kern="0" spc="300" dirty="0">
                <a:solidFill>
                  <a:srgbClr val="C9A961"/>
                </a:solidFill>
                <a:latin typeface="Calibri" pitchFamily="34" charset="0"/>
                <a:ea typeface="Calibri" pitchFamily="34" charset="-122"/>
                <a:cs typeface="Calibri" pitchFamily="34" charset="-120"/>
              </a:rPr>
              <a:t>TEST</a:t>
            </a:r>
            <a:endParaRPr lang="en-US" sz="1000" dirty="0"/>
          </a:p>
        </p:txBody>
      </p:sp>
      <p:sp>
        <p:nvSpPr>
          <p:cNvPr id="14" name="Text 11"/>
          <p:cNvSpPr/>
          <p:nvPr/>
        </p:nvSpPr>
        <p:spPr>
          <a:xfrm>
            <a:off x="868680" y="448056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MSE  0.629</a:t>
            </a:r>
            <a:endParaRPr lang="en-US" sz="2400" dirty="0"/>
          </a:p>
        </p:txBody>
      </p:sp>
      <p:sp>
        <p:nvSpPr>
          <p:cNvPr id="15" name="Text 12"/>
          <p:cNvSpPr/>
          <p:nvPr/>
        </p:nvSpPr>
        <p:spPr>
          <a:xfrm>
            <a:off x="868680" y="4937760"/>
            <a:ext cx="3383280" cy="4572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MAE  0.609</a:t>
            </a:r>
            <a:endParaRPr lang="en-US" sz="2400" dirty="0"/>
          </a:p>
        </p:txBody>
      </p:sp>
      <p:sp>
        <p:nvSpPr>
          <p:cNvPr id="16" name="Text 13"/>
          <p:cNvSpPr/>
          <p:nvPr/>
        </p:nvSpPr>
        <p:spPr>
          <a:xfrm>
            <a:off x="868680" y="5532120"/>
            <a:ext cx="3383280" cy="594360"/>
          </a:xfrm>
          <a:prstGeom prst="rect">
            <a:avLst/>
          </a:prstGeom>
          <a:noFill/>
          <a:ln/>
        </p:spPr>
        <p:txBody>
          <a:bodyPr wrap="square" lIns="0" tIns="0" rIns="0" bIns="0" rtlCol="0" anchor="ctr"/>
          <a:lstStyle/>
          <a:p>
            <a:pPr marL="0" indent="0">
              <a:buNone/>
            </a:pPr>
            <a:r>
              <a:rPr lang="en-US" sz="1000" i="1" dirty="0">
                <a:solidFill>
                  <a:srgbClr val="E8EDF5"/>
                </a:solidFill>
                <a:latin typeface="Calibri" pitchFamily="34" charset="0"/>
                <a:ea typeface="Calibri" pitchFamily="34" charset="-122"/>
                <a:cs typeface="Calibri" pitchFamily="34" charset="-120"/>
              </a:rPr>
              <a:t>Solo 1 época de entrenamiento</a:t>
            </a:r>
            <a:endParaRPr lang="en-US" sz="1000" dirty="0"/>
          </a:p>
          <a:p>
            <a:pPr marL="0" indent="0">
              <a:buNone/>
            </a:pPr>
            <a:r>
              <a:rPr lang="en-US" sz="1000" i="1" dirty="0">
                <a:solidFill>
                  <a:srgbClr val="E8EDF5"/>
                </a:solidFill>
                <a:latin typeface="Calibri" pitchFamily="34" charset="0"/>
                <a:ea typeface="Calibri" pitchFamily="34" charset="-122"/>
                <a:cs typeface="Calibri" pitchFamily="34" charset="-120"/>
              </a:rPr>
              <a:t>(demostración rápida)</a:t>
            </a:r>
            <a:endParaRPr lang="en-US" sz="1000" dirty="0"/>
          </a:p>
        </p:txBody>
      </p:sp>
      <p:sp>
        <p:nvSpPr>
          <p:cNvPr id="17" name="Shape 14"/>
          <p:cNvSpPr/>
          <p:nvPr/>
        </p:nvSpPr>
        <p:spPr>
          <a:xfrm>
            <a:off x="4754880" y="1965960"/>
            <a:ext cx="6766560" cy="4251960"/>
          </a:xfrm>
          <a:prstGeom prst="rect">
            <a:avLst/>
          </a:prstGeom>
          <a:solidFill>
            <a:srgbClr val="FFFFFF"/>
          </a:solidFill>
          <a:ln/>
          <a:effectLst>
            <a:outerShdw blurRad="101600" dist="12700" dir="5400000" algn="bl" rotWithShape="0">
              <a:srgbClr val="1E2761">
                <a:alpha val="8000"/>
              </a:srgbClr>
            </a:outerShdw>
          </a:effectLst>
        </p:spPr>
      </p:sp>
      <p:sp>
        <p:nvSpPr>
          <p:cNvPr id="18" name="Text 15"/>
          <p:cNvSpPr/>
          <p:nvPr/>
        </p:nvSpPr>
        <p:spPr>
          <a:xfrm>
            <a:off x="4937760" y="2103120"/>
            <a:ext cx="6400800" cy="36576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Predicción vs valor real — primer ejemplo del test</a:t>
            </a:r>
            <a:endParaRPr lang="en-US" sz="1300" dirty="0"/>
          </a:p>
        </p:txBody>
      </p:sp>
      <p:sp>
        <p:nvSpPr>
          <p:cNvPr id="19" name="Text 16"/>
          <p:cNvSpPr/>
          <p:nvPr/>
        </p:nvSpPr>
        <p:spPr>
          <a:xfrm>
            <a:off x="4937760" y="2377440"/>
            <a:ext cx="640080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Horizonte: 12 pasos × 15 min = 3 horas hacia el futuro</a:t>
            </a:r>
            <a:endParaRPr lang="en-US" sz="1100" dirty="0"/>
          </a:p>
        </p:txBody>
      </p:sp>
      <p:graphicFrame>
        <p:nvGraphicFramePr>
          <p:cNvPr id="20" name="Chart 0"/>
          <p:cNvGraphicFramePr/>
          <p:nvPr/>
        </p:nvGraphicFramePr>
        <p:xfrm>
          <a:off x="4846320" y="2743200"/>
          <a:ext cx="658368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p:nvPr/>
        </p:nvSpPr>
        <p:spPr>
          <a:xfrm>
            <a:off x="4846320" y="6217920"/>
            <a:ext cx="6766560" cy="274320"/>
          </a:xfrm>
          <a:prstGeom prst="rect">
            <a:avLst/>
          </a:prstGeom>
          <a:noFill/>
          <a:ln/>
        </p:spPr>
        <p:txBody>
          <a:bodyPr wrap="square" lIns="0" tIns="0" rIns="0" bIns="0" rtlCol="0" anchor="ctr"/>
          <a:lstStyle/>
          <a:p>
            <a:pPr marL="0" indent="0" algn="ctr">
              <a:buNone/>
            </a:pPr>
            <a:r>
              <a:rPr lang="en-US" sz="1100" b="1" i="1" dirty="0">
                <a:solidFill>
                  <a:srgbClr val="1E2761"/>
                </a:solidFill>
                <a:latin typeface="Calibri" pitchFamily="34" charset="0"/>
                <a:ea typeface="Calibri" pitchFamily="34" charset="-122"/>
                <a:cs typeface="Calibri" pitchFamily="34" charset="-120"/>
              </a:rPr>
              <a:t>El modelo captura la dirección y suaviza fluctuaciones de corto plazo.</a:t>
            </a:r>
            <a:endParaRPr lang="en-US" sz="1100" dirty="0"/>
          </a:p>
        </p:txBody>
      </p:sp>
      <p:sp>
        <p:nvSpPr>
          <p:cNvPr id="22" name="Shape 18"/>
          <p:cNvSpPr/>
          <p:nvPr/>
        </p:nvSpPr>
        <p:spPr>
          <a:xfrm>
            <a:off x="548640" y="6473952"/>
            <a:ext cx="11064240" cy="18288"/>
          </a:xfrm>
          <a:prstGeom prst="rect">
            <a:avLst/>
          </a:prstGeom>
          <a:solidFill>
            <a:srgbClr val="D1D5DB"/>
          </a:solidFill>
          <a:ln/>
        </p:spPr>
      </p:sp>
      <p:sp>
        <p:nvSpPr>
          <p:cNvPr id="23" name="Text 19"/>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24" name="Text 20"/>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VI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Interpretación desde el negocio</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¿Para qué le sirve esto a una empresa eléctrica?</a:t>
            </a:r>
            <a:endParaRPr lang="en-US" sz="1300" dirty="0"/>
          </a:p>
        </p:txBody>
      </p:sp>
      <p:sp>
        <p:nvSpPr>
          <p:cNvPr id="6" name="Shape 4"/>
          <p:cNvSpPr/>
          <p:nvPr/>
        </p:nvSpPr>
        <p:spPr>
          <a:xfrm>
            <a:off x="640080" y="2011680"/>
            <a:ext cx="5349240" cy="1874520"/>
          </a:xfrm>
          <a:prstGeom prst="rect">
            <a:avLst/>
          </a:prstGeom>
          <a:solidFill>
            <a:srgbClr val="FFFFFF"/>
          </a:solidFill>
          <a:ln/>
          <a:effectLst>
            <a:outerShdw blurRad="101600" dist="12700" dir="5400000" algn="bl" rotWithShape="0">
              <a:srgbClr val="1E2761">
                <a:alpha val="8000"/>
              </a:srgbClr>
            </a:outerShdw>
          </a:effectLst>
        </p:spPr>
      </p:sp>
      <p:sp>
        <p:nvSpPr>
          <p:cNvPr id="7" name="Shape 5"/>
          <p:cNvSpPr/>
          <p:nvPr/>
        </p:nvSpPr>
        <p:spPr>
          <a:xfrm>
            <a:off x="640080" y="2011680"/>
            <a:ext cx="73152" cy="1874520"/>
          </a:xfrm>
          <a:prstGeom prst="rect">
            <a:avLst/>
          </a:prstGeom>
          <a:solidFill>
            <a:srgbClr val="B8860B"/>
          </a:solidFill>
          <a:ln/>
        </p:spPr>
      </p:sp>
      <p:pic>
        <p:nvPicPr>
          <p:cNvPr id="8" name="Image 0" descr="preencoded.png"/>
          <p:cNvPicPr>
            <a:picLocks noChangeAspect="1"/>
          </p:cNvPicPr>
          <p:nvPr/>
        </p:nvPicPr>
        <p:blipFill>
          <a:blip r:embed="rId3"/>
          <a:stretch>
            <a:fillRect/>
          </a:stretch>
        </p:blipFill>
        <p:spPr>
          <a:xfrm>
            <a:off x="914400" y="2377440"/>
            <a:ext cx="594360" cy="594360"/>
          </a:xfrm>
          <a:prstGeom prst="rect">
            <a:avLst/>
          </a:prstGeom>
        </p:spPr>
      </p:pic>
      <p:sp>
        <p:nvSpPr>
          <p:cNvPr id="9" name="Text 6"/>
          <p:cNvSpPr/>
          <p:nvPr/>
        </p:nvSpPr>
        <p:spPr>
          <a:xfrm>
            <a:off x="173736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Planificación de la red</a:t>
            </a:r>
            <a:endParaRPr lang="en-US" sz="1600" dirty="0"/>
          </a:p>
        </p:txBody>
      </p:sp>
      <p:sp>
        <p:nvSpPr>
          <p:cNvPr id="10" name="Text 7"/>
          <p:cNvSpPr/>
          <p:nvPr/>
        </p:nvSpPr>
        <p:spPr>
          <a:xfrm>
            <a:off x="1737360" y="278892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Saber con 3 horas de anticipación cuánto se va a consumir permite encender o apagar generadores más eficientes, reduciendo costos operativos.</a:t>
            </a:r>
            <a:endParaRPr lang="en-US" sz="1200" dirty="0"/>
          </a:p>
        </p:txBody>
      </p:sp>
      <p:sp>
        <p:nvSpPr>
          <p:cNvPr id="11" name="Shape 8"/>
          <p:cNvSpPr/>
          <p:nvPr/>
        </p:nvSpPr>
        <p:spPr>
          <a:xfrm>
            <a:off x="6263640" y="2011680"/>
            <a:ext cx="5349240" cy="1874520"/>
          </a:xfrm>
          <a:prstGeom prst="rect">
            <a:avLst/>
          </a:prstGeom>
          <a:solidFill>
            <a:srgbClr val="FFFFFF"/>
          </a:solidFill>
          <a:ln/>
          <a:effectLst>
            <a:outerShdw blurRad="101600" dist="12700" dir="5400000" algn="bl" rotWithShape="0">
              <a:srgbClr val="1E2761">
                <a:alpha val="8000"/>
              </a:srgbClr>
            </a:outerShdw>
          </a:effectLst>
        </p:spPr>
      </p:sp>
      <p:sp>
        <p:nvSpPr>
          <p:cNvPr id="12" name="Shape 9"/>
          <p:cNvSpPr/>
          <p:nvPr/>
        </p:nvSpPr>
        <p:spPr>
          <a:xfrm>
            <a:off x="6263640" y="2011680"/>
            <a:ext cx="73152" cy="1874520"/>
          </a:xfrm>
          <a:prstGeom prst="rect">
            <a:avLst/>
          </a:prstGeom>
          <a:solidFill>
            <a:srgbClr val="B8860B"/>
          </a:solidFill>
          <a:ln/>
        </p:spPr>
      </p:sp>
      <p:pic>
        <p:nvPicPr>
          <p:cNvPr id="13" name="Image 1" descr="preencoded.png"/>
          <p:cNvPicPr>
            <a:picLocks noChangeAspect="1"/>
          </p:cNvPicPr>
          <p:nvPr/>
        </p:nvPicPr>
        <p:blipFill>
          <a:blip r:embed="rId4"/>
          <a:stretch>
            <a:fillRect/>
          </a:stretch>
        </p:blipFill>
        <p:spPr>
          <a:xfrm>
            <a:off x="6537960" y="2377440"/>
            <a:ext cx="594360" cy="594360"/>
          </a:xfrm>
          <a:prstGeom prst="rect">
            <a:avLst/>
          </a:prstGeom>
        </p:spPr>
      </p:pic>
      <p:sp>
        <p:nvSpPr>
          <p:cNvPr id="14" name="Text 10"/>
          <p:cNvSpPr/>
          <p:nvPr/>
        </p:nvSpPr>
        <p:spPr>
          <a:xfrm>
            <a:off x="736092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Anticipar picos de demanda</a:t>
            </a:r>
            <a:endParaRPr lang="en-US" sz="1600" dirty="0"/>
          </a:p>
        </p:txBody>
      </p:sp>
      <p:sp>
        <p:nvSpPr>
          <p:cNvPr id="15" name="Text 11"/>
          <p:cNvSpPr/>
          <p:nvPr/>
        </p:nvSpPr>
        <p:spPr>
          <a:xfrm>
            <a:off x="7360920" y="278892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Detectar antes los picos críticos (verano a las 8 PM, eventos masivos) permite preparar la red y evitar apagones o sobrecarga de equipos.</a:t>
            </a:r>
            <a:endParaRPr lang="en-US" sz="1200" dirty="0"/>
          </a:p>
        </p:txBody>
      </p:sp>
      <p:sp>
        <p:nvSpPr>
          <p:cNvPr id="16" name="Shape 12"/>
          <p:cNvSpPr/>
          <p:nvPr/>
        </p:nvSpPr>
        <p:spPr>
          <a:xfrm>
            <a:off x="640080" y="4023360"/>
            <a:ext cx="5349240" cy="1874520"/>
          </a:xfrm>
          <a:prstGeom prst="rect">
            <a:avLst/>
          </a:prstGeom>
          <a:solidFill>
            <a:srgbClr val="FFFFFF"/>
          </a:solidFill>
          <a:ln/>
          <a:effectLst>
            <a:outerShdw blurRad="101600" dist="12700" dir="5400000" algn="bl" rotWithShape="0">
              <a:srgbClr val="1E2761">
                <a:alpha val="8000"/>
              </a:srgbClr>
            </a:outerShdw>
          </a:effectLst>
        </p:spPr>
      </p:sp>
      <p:sp>
        <p:nvSpPr>
          <p:cNvPr id="17" name="Shape 13"/>
          <p:cNvSpPr/>
          <p:nvPr/>
        </p:nvSpPr>
        <p:spPr>
          <a:xfrm>
            <a:off x="640080" y="4023360"/>
            <a:ext cx="73152" cy="1874520"/>
          </a:xfrm>
          <a:prstGeom prst="rect">
            <a:avLst/>
          </a:prstGeom>
          <a:solidFill>
            <a:srgbClr val="B8860B"/>
          </a:solidFill>
          <a:ln/>
        </p:spPr>
      </p:sp>
      <p:pic>
        <p:nvPicPr>
          <p:cNvPr id="18" name="Image 2" descr="preencoded.png"/>
          <p:cNvPicPr>
            <a:picLocks noChangeAspect="1"/>
          </p:cNvPicPr>
          <p:nvPr/>
        </p:nvPicPr>
        <p:blipFill>
          <a:blip r:embed="rId5"/>
          <a:stretch>
            <a:fillRect/>
          </a:stretch>
        </p:blipFill>
        <p:spPr>
          <a:xfrm>
            <a:off x="914400" y="4389120"/>
            <a:ext cx="594360" cy="594360"/>
          </a:xfrm>
          <a:prstGeom prst="rect">
            <a:avLst/>
          </a:prstGeom>
        </p:spPr>
      </p:pic>
      <p:sp>
        <p:nvSpPr>
          <p:cNvPr id="19" name="Text 14"/>
          <p:cNvSpPr/>
          <p:nvPr/>
        </p:nvSpPr>
        <p:spPr>
          <a:xfrm>
            <a:off x="1737360" y="434340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Negociación y trading</a:t>
            </a:r>
            <a:endParaRPr lang="en-US" sz="1600" dirty="0"/>
          </a:p>
        </p:txBody>
      </p:sp>
      <p:sp>
        <p:nvSpPr>
          <p:cNvPr id="20" name="Text 15"/>
          <p:cNvSpPr/>
          <p:nvPr/>
        </p:nvSpPr>
        <p:spPr>
          <a:xfrm>
            <a:off x="1737360" y="480060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Pronósticos precisos mejoran la compra de energía en mercados spot y la oferta de contratos a futuro. Diferencia directa en márgenes.</a:t>
            </a:r>
            <a:endParaRPr lang="en-US" sz="1200" dirty="0"/>
          </a:p>
        </p:txBody>
      </p:sp>
      <p:sp>
        <p:nvSpPr>
          <p:cNvPr id="21" name="Shape 16"/>
          <p:cNvSpPr/>
          <p:nvPr/>
        </p:nvSpPr>
        <p:spPr>
          <a:xfrm>
            <a:off x="6263640" y="4023360"/>
            <a:ext cx="5349240" cy="1874520"/>
          </a:xfrm>
          <a:prstGeom prst="rect">
            <a:avLst/>
          </a:prstGeom>
          <a:solidFill>
            <a:srgbClr val="FFFFFF"/>
          </a:solidFill>
          <a:ln/>
          <a:effectLst>
            <a:outerShdw blurRad="101600" dist="12700" dir="5400000" algn="bl" rotWithShape="0">
              <a:srgbClr val="1E2761">
                <a:alpha val="8000"/>
              </a:srgbClr>
            </a:outerShdw>
          </a:effectLst>
        </p:spPr>
      </p:sp>
      <p:sp>
        <p:nvSpPr>
          <p:cNvPr id="22" name="Shape 17"/>
          <p:cNvSpPr/>
          <p:nvPr/>
        </p:nvSpPr>
        <p:spPr>
          <a:xfrm>
            <a:off x="6263640" y="4023360"/>
            <a:ext cx="73152" cy="1874520"/>
          </a:xfrm>
          <a:prstGeom prst="rect">
            <a:avLst/>
          </a:prstGeom>
          <a:solidFill>
            <a:srgbClr val="B8860B"/>
          </a:solidFill>
          <a:ln/>
        </p:spPr>
      </p:sp>
      <p:pic>
        <p:nvPicPr>
          <p:cNvPr id="23" name="Image 3" descr="preencoded.png"/>
          <p:cNvPicPr>
            <a:picLocks noChangeAspect="1"/>
          </p:cNvPicPr>
          <p:nvPr/>
        </p:nvPicPr>
        <p:blipFill>
          <a:blip r:embed="rId6"/>
          <a:stretch>
            <a:fillRect/>
          </a:stretch>
        </p:blipFill>
        <p:spPr>
          <a:xfrm>
            <a:off x="6537960" y="4389120"/>
            <a:ext cx="594360" cy="594360"/>
          </a:xfrm>
          <a:prstGeom prst="rect">
            <a:avLst/>
          </a:prstGeom>
        </p:spPr>
      </p:pic>
      <p:sp>
        <p:nvSpPr>
          <p:cNvPr id="24" name="Text 18"/>
          <p:cNvSpPr/>
          <p:nvPr/>
        </p:nvSpPr>
        <p:spPr>
          <a:xfrm>
            <a:off x="7360920" y="434340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Atención al cliente</a:t>
            </a:r>
            <a:endParaRPr lang="en-US" sz="1600" dirty="0"/>
          </a:p>
        </p:txBody>
      </p:sp>
      <p:sp>
        <p:nvSpPr>
          <p:cNvPr id="25" name="Text 19"/>
          <p:cNvSpPr/>
          <p:nvPr/>
        </p:nvSpPr>
        <p:spPr>
          <a:xfrm>
            <a:off x="7360920" y="4800600"/>
            <a:ext cx="4114800" cy="105156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Detectar consumos anómalos por cliente permite alertar de equipos defectuosos, fugas eléctricas o fraudes — generando valor agregado.</a:t>
            </a:r>
            <a:endParaRPr lang="en-US" sz="1200" dirty="0"/>
          </a:p>
        </p:txBody>
      </p:sp>
      <p:sp>
        <p:nvSpPr>
          <p:cNvPr id="26" name="Shape 20"/>
          <p:cNvSpPr/>
          <p:nvPr/>
        </p:nvSpPr>
        <p:spPr>
          <a:xfrm>
            <a:off x="640080" y="5897880"/>
            <a:ext cx="10881360" cy="502920"/>
          </a:xfrm>
          <a:prstGeom prst="rect">
            <a:avLst/>
          </a:prstGeom>
          <a:solidFill>
            <a:srgbClr val="E8EDF5"/>
          </a:solidFill>
          <a:ln/>
        </p:spPr>
      </p:sp>
      <p:sp>
        <p:nvSpPr>
          <p:cNvPr id="27" name="Text 21"/>
          <p:cNvSpPr/>
          <p:nvPr/>
        </p:nvSpPr>
        <p:spPr>
          <a:xfrm>
            <a:off x="868680" y="5943600"/>
            <a:ext cx="10515600" cy="45720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En resumen:  </a:t>
            </a:r>
            <a:r>
              <a:rPr lang="en-US" sz="1300" i="1" dirty="0">
                <a:solidFill>
                  <a:srgbClr val="1A1A2E"/>
                </a:solidFill>
                <a:latin typeface="Calibri" pitchFamily="34" charset="0"/>
                <a:ea typeface="Calibri" pitchFamily="34" charset="-122"/>
                <a:cs typeface="Calibri" pitchFamily="34" charset="-120"/>
              </a:rPr>
              <a:t>predecir bien la demanda eléctrica reduce costos, evita pérdidas y mejora el servicio.</a:t>
            </a:r>
            <a:endParaRPr lang="en-US" sz="1300" dirty="0"/>
          </a:p>
        </p:txBody>
      </p:sp>
      <p:sp>
        <p:nvSpPr>
          <p:cNvPr id="28" name="Shape 22"/>
          <p:cNvSpPr/>
          <p:nvPr/>
        </p:nvSpPr>
        <p:spPr>
          <a:xfrm>
            <a:off x="548640" y="6473952"/>
            <a:ext cx="11064240" cy="18288"/>
          </a:xfrm>
          <a:prstGeom prst="rect">
            <a:avLst/>
          </a:prstGeom>
          <a:solidFill>
            <a:srgbClr val="D1D5DB"/>
          </a:solidFill>
          <a:ln/>
        </p:spPr>
      </p:sp>
      <p:sp>
        <p:nvSpPr>
          <p:cNvPr id="29" name="Text 23"/>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0" name="Text 24"/>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sp>
      <p:sp>
        <p:nvSpPr>
          <p:cNvPr id="3" name="Shape 1"/>
          <p:cNvSpPr/>
          <p:nvPr/>
        </p:nvSpPr>
        <p:spPr>
          <a:xfrm>
            <a:off x="0" y="6693408"/>
            <a:ext cx="12161520" cy="164592"/>
          </a:xfrm>
          <a:prstGeom prst="rect">
            <a:avLst/>
          </a:prstGeom>
          <a:solidFill>
            <a:srgbClr val="B8860B"/>
          </a:solidFill>
          <a:ln/>
        </p:spPr>
      </p:sp>
      <p:sp>
        <p:nvSpPr>
          <p:cNvPr id="4" name="Text 2"/>
          <p:cNvSpPr/>
          <p:nvPr/>
        </p:nvSpPr>
        <p:spPr>
          <a:xfrm>
            <a:off x="548640" y="640080"/>
            <a:ext cx="11064240" cy="365760"/>
          </a:xfrm>
          <a:prstGeom prst="rect">
            <a:avLst/>
          </a:prstGeom>
          <a:noFill/>
          <a:ln/>
        </p:spPr>
        <p:txBody>
          <a:bodyPr wrap="square" lIns="0" tIns="0" rIns="0" bIns="0" rtlCol="0" anchor="ctr"/>
          <a:lstStyle/>
          <a:p>
            <a:pPr marL="0" indent="0" algn="ctr">
              <a:buNone/>
            </a:pPr>
            <a:r>
              <a:rPr lang="en-US" sz="1200" b="1" kern="0" spc="800" dirty="0">
                <a:solidFill>
                  <a:srgbClr val="C9A961"/>
                </a:solidFill>
                <a:latin typeface="Calibri" pitchFamily="34" charset="0"/>
                <a:ea typeface="Calibri" pitchFamily="34" charset="-122"/>
                <a:cs typeface="Calibri" pitchFamily="34" charset="-120"/>
              </a:rPr>
              <a:t>PARTE  ·  II</a:t>
            </a:r>
            <a:endParaRPr lang="en-US" sz="1200" dirty="0"/>
          </a:p>
        </p:txBody>
      </p:sp>
      <p:sp>
        <p:nvSpPr>
          <p:cNvPr id="5" name="Shape 3"/>
          <p:cNvSpPr/>
          <p:nvPr/>
        </p:nvSpPr>
        <p:spPr>
          <a:xfrm>
            <a:off x="5532120" y="1188720"/>
            <a:ext cx="1097280" cy="1097280"/>
          </a:xfrm>
          <a:prstGeom prst="ellipse">
            <a:avLst/>
          </a:prstGeom>
          <a:solidFill>
            <a:srgbClr val="B8860B"/>
          </a:solidFill>
          <a:ln/>
        </p:spPr>
      </p:sp>
      <p:pic>
        <p:nvPicPr>
          <p:cNvPr id="6" name="Image 0" descr="preencoded.png"/>
          <p:cNvPicPr>
            <a:picLocks noChangeAspect="1"/>
          </p:cNvPicPr>
          <p:nvPr/>
        </p:nvPicPr>
        <p:blipFill>
          <a:blip r:embed="rId3"/>
          <a:stretch>
            <a:fillRect/>
          </a:stretch>
        </p:blipFill>
        <p:spPr>
          <a:xfrm>
            <a:off x="5852160" y="1508760"/>
            <a:ext cx="457200" cy="457200"/>
          </a:xfrm>
          <a:prstGeom prst="rect">
            <a:avLst/>
          </a:prstGeom>
        </p:spPr>
      </p:pic>
      <p:sp>
        <p:nvSpPr>
          <p:cNvPr id="7" name="Text 4"/>
          <p:cNvSpPr/>
          <p:nvPr/>
        </p:nvSpPr>
        <p:spPr>
          <a:xfrm>
            <a:off x="548640" y="2560320"/>
            <a:ext cx="11064240" cy="914400"/>
          </a:xfrm>
          <a:prstGeom prst="rect">
            <a:avLst/>
          </a:prstGeom>
          <a:noFill/>
          <a:ln/>
        </p:spPr>
        <p:txBody>
          <a:bodyPr wrap="square" lIns="0" tIns="0" rIns="0" bIns="0" rtlCol="0" anchor="ctr"/>
          <a:lstStyle/>
          <a:p>
            <a:pPr marL="0" indent="0" algn="ctr">
              <a:buNone/>
            </a:pPr>
            <a:r>
              <a:rPr lang="en-US" sz="6000" b="1" dirty="0">
                <a:solidFill>
                  <a:srgbClr val="FFFFFF"/>
                </a:solidFill>
                <a:latin typeface="Georgia" pitchFamily="34" charset="0"/>
                <a:ea typeface="Georgia" pitchFamily="34" charset="-122"/>
                <a:cs typeface="Georgia" pitchFamily="34" charset="-120"/>
              </a:rPr>
              <a:t>Demo en vivo</a:t>
            </a:r>
            <a:endParaRPr lang="en-US" sz="6000" dirty="0"/>
          </a:p>
        </p:txBody>
      </p:sp>
      <p:sp>
        <p:nvSpPr>
          <p:cNvPr id="8" name="Shape 5"/>
          <p:cNvSpPr/>
          <p:nvPr/>
        </p:nvSpPr>
        <p:spPr>
          <a:xfrm>
            <a:off x="5623560" y="3566160"/>
            <a:ext cx="914400" cy="54864"/>
          </a:xfrm>
          <a:prstGeom prst="rect">
            <a:avLst/>
          </a:prstGeom>
          <a:solidFill>
            <a:srgbClr val="B8860B"/>
          </a:solidFill>
          <a:ln/>
        </p:spPr>
      </p:sp>
      <p:sp>
        <p:nvSpPr>
          <p:cNvPr id="9" name="Text 6"/>
          <p:cNvSpPr/>
          <p:nvPr/>
        </p:nvSpPr>
        <p:spPr>
          <a:xfrm>
            <a:off x="548640" y="3749040"/>
            <a:ext cx="11064240" cy="457200"/>
          </a:xfrm>
          <a:prstGeom prst="rect">
            <a:avLst/>
          </a:prstGeom>
          <a:noFill/>
          <a:ln/>
        </p:spPr>
        <p:txBody>
          <a:bodyPr wrap="square" lIns="0" tIns="0" rIns="0" bIns="0" rtlCol="0" anchor="ctr"/>
          <a:lstStyle/>
          <a:p>
            <a:pPr marL="0" indent="0" algn="ctr">
              <a:buNone/>
            </a:pPr>
            <a:r>
              <a:rPr lang="en-US" sz="1800" i="1" dirty="0">
                <a:solidFill>
                  <a:srgbClr val="E8EDF5"/>
                </a:solidFill>
                <a:latin typeface="Calibri" pitchFamily="34" charset="0"/>
                <a:ea typeface="Calibri" pitchFamily="34" charset="-122"/>
                <a:cs typeface="Calibri" pitchFamily="34" charset="-120"/>
              </a:rPr>
              <a:t>Vamos a ver ETSformer ejecutándose sobre datos reales</a:t>
            </a:r>
            <a:endParaRPr lang="en-US" sz="1800" dirty="0"/>
          </a:p>
        </p:txBody>
      </p:sp>
      <p:sp>
        <p:nvSpPr>
          <p:cNvPr id="10" name="Shape 7"/>
          <p:cNvSpPr/>
          <p:nvPr/>
        </p:nvSpPr>
        <p:spPr>
          <a:xfrm>
            <a:off x="2743200" y="4572000"/>
            <a:ext cx="6675120" cy="1280160"/>
          </a:xfrm>
          <a:prstGeom prst="rect">
            <a:avLst/>
          </a:prstGeom>
          <a:solidFill>
            <a:srgbClr val="2F3C7E"/>
          </a:solidFill>
          <a:ln/>
        </p:spPr>
      </p:sp>
      <p:sp>
        <p:nvSpPr>
          <p:cNvPr id="11" name="Shape 8"/>
          <p:cNvSpPr/>
          <p:nvPr/>
        </p:nvSpPr>
        <p:spPr>
          <a:xfrm>
            <a:off x="2743200" y="4572000"/>
            <a:ext cx="91440" cy="1280160"/>
          </a:xfrm>
          <a:prstGeom prst="rect">
            <a:avLst/>
          </a:prstGeom>
          <a:solidFill>
            <a:srgbClr val="B8860B"/>
          </a:solidFill>
          <a:ln/>
        </p:spPr>
      </p:sp>
      <p:sp>
        <p:nvSpPr>
          <p:cNvPr id="12" name="Text 9"/>
          <p:cNvSpPr/>
          <p:nvPr/>
        </p:nvSpPr>
        <p:spPr>
          <a:xfrm>
            <a:off x="3017520" y="4709160"/>
            <a:ext cx="6217920" cy="274320"/>
          </a:xfrm>
          <a:prstGeom prst="rect">
            <a:avLst/>
          </a:prstGeom>
          <a:noFill/>
          <a:ln/>
        </p:spPr>
        <p:txBody>
          <a:bodyPr wrap="square" lIns="0" tIns="0" rIns="0" bIns="0" rtlCol="0" anchor="ctr"/>
          <a:lstStyle/>
          <a:p>
            <a:pPr marL="0" indent="0">
              <a:buNone/>
            </a:pPr>
            <a:r>
              <a:rPr lang="en-US" sz="1000" b="1" kern="0" spc="400" dirty="0">
                <a:solidFill>
                  <a:srgbClr val="C9A961"/>
                </a:solidFill>
                <a:latin typeface="Calibri" pitchFamily="34" charset="0"/>
                <a:ea typeface="Calibri" pitchFamily="34" charset="-122"/>
                <a:cs typeface="Calibri" pitchFamily="34" charset="-120"/>
              </a:rPr>
              <a:t>EXPONE</a:t>
            </a:r>
            <a:endParaRPr lang="en-US" sz="1000" dirty="0"/>
          </a:p>
        </p:txBody>
      </p:sp>
      <p:sp>
        <p:nvSpPr>
          <p:cNvPr id="13" name="Text 10"/>
          <p:cNvSpPr/>
          <p:nvPr/>
        </p:nvSpPr>
        <p:spPr>
          <a:xfrm>
            <a:off x="3017520" y="4983480"/>
            <a:ext cx="6217920" cy="4572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[Nombre del compañero/a]</a:t>
            </a:r>
            <a:endParaRPr lang="en-US" sz="2200" dirty="0"/>
          </a:p>
        </p:txBody>
      </p:sp>
      <p:sp>
        <p:nvSpPr>
          <p:cNvPr id="14" name="Text 11"/>
          <p:cNvSpPr/>
          <p:nvPr/>
        </p:nvSpPr>
        <p:spPr>
          <a:xfrm>
            <a:off x="3017520" y="5440680"/>
            <a:ext cx="6217920" cy="320040"/>
          </a:xfrm>
          <a:prstGeom prst="rect">
            <a:avLst/>
          </a:prstGeom>
          <a:noFill/>
          <a:ln/>
        </p:spPr>
        <p:txBody>
          <a:bodyPr wrap="square" lIns="0" tIns="0" rIns="0" bIns="0" rtlCol="0" anchor="ctr"/>
          <a:lstStyle/>
          <a:p>
            <a:pPr marL="0" indent="0">
              <a:buNone/>
            </a:pPr>
            <a:r>
              <a:rPr lang="en-US" sz="1200" i="1" dirty="0">
                <a:solidFill>
                  <a:srgbClr val="E8EDF5"/>
                </a:solidFill>
                <a:latin typeface="Calibri" pitchFamily="34" charset="0"/>
                <a:ea typeface="Calibri" pitchFamily="34" charset="-122"/>
                <a:cs typeface="Calibri" pitchFamily="34" charset="-120"/>
              </a:rPr>
              <a:t>Notebook: ETSformer Consumo Eléctrico.ipynb  ·  Databricks</a:t>
            </a:r>
            <a:endParaRPr lang="en-US" sz="1200" dirty="0"/>
          </a:p>
        </p:txBody>
      </p:sp>
      <p:sp>
        <p:nvSpPr>
          <p:cNvPr id="15" name="Text 12"/>
          <p:cNvSpPr/>
          <p:nvPr/>
        </p:nvSpPr>
        <p:spPr>
          <a:xfrm>
            <a:off x="548640" y="6217920"/>
            <a:ext cx="11064240" cy="320040"/>
          </a:xfrm>
          <a:prstGeom prst="rect">
            <a:avLst/>
          </a:prstGeom>
          <a:noFill/>
          <a:ln/>
        </p:spPr>
        <p:txBody>
          <a:bodyPr wrap="square" lIns="0" tIns="0" rIns="0" bIns="0" rtlCol="0" anchor="ctr"/>
          <a:lstStyle/>
          <a:p>
            <a:pPr marL="0" indent="0" algn="ctr">
              <a:buNone/>
            </a:pPr>
            <a:r>
              <a:rPr lang="en-US" sz="1300" b="1" dirty="0">
                <a:solidFill>
                  <a:srgbClr val="C9A961"/>
                </a:solidFill>
                <a:latin typeface="Calibri" pitchFamily="34" charset="0"/>
                <a:ea typeface="Calibri" pitchFamily="34" charset="-122"/>
                <a:cs typeface="Calibri" pitchFamily="34" charset="-120"/>
              </a:rPr>
              <a:t>Duración estimada:  ~7 minutos</a:t>
            </a:r>
            <a:endParaRPr lang="en-US" sz="1300" dirty="0"/>
          </a:p>
        </p:txBody>
      </p:sp>
      <p:sp>
        <p:nvSpPr>
          <p:cNvPr id="16" name="Text 13"/>
          <p:cNvSpPr/>
          <p:nvPr/>
        </p:nvSpPr>
        <p:spPr>
          <a:xfrm>
            <a:off x="10789920" y="6446520"/>
            <a:ext cx="822960" cy="228600"/>
          </a:xfrm>
          <a:prstGeom prst="rect">
            <a:avLst/>
          </a:prstGeom>
          <a:noFill/>
          <a:ln/>
        </p:spPr>
        <p:txBody>
          <a:bodyPr wrap="square" lIns="0" tIns="0" rIns="0" bIns="0" rtlCol="0" anchor="ctr"/>
          <a:lstStyle/>
          <a:p>
            <a:pPr marL="0" indent="0" algn="r">
              <a:buNone/>
            </a:pPr>
            <a:r>
              <a:rPr lang="en-US" sz="900" dirty="0">
                <a:solidFill>
                  <a:srgbClr val="C9A961"/>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CFAF7"/>
        </a:solidFill>
        <a:effectLst/>
      </p:bgPr>
    </p:bg>
    <p:spTree>
      <p:nvGrpSpPr>
        <p:cNvPr id="1" name=""/>
        <p:cNvGrpSpPr/>
        <p:nvPr/>
      </p:nvGrpSpPr>
      <p:grpSpPr>
        <a:xfrm>
          <a:off x="0" y="0"/>
          <a:ext cx="0" cy="0"/>
          <a:chOff x="0" y="0"/>
          <a:chExt cx="0" cy="0"/>
        </a:xfrm>
      </p:grpSpPr>
      <p:sp>
        <p:nvSpPr>
          <p:cNvPr id="2" name="Text 0"/>
          <p:cNvSpPr/>
          <p:nvPr/>
        </p:nvSpPr>
        <p:spPr>
          <a:xfrm>
            <a:off x="548640" y="365760"/>
            <a:ext cx="1371600" cy="457200"/>
          </a:xfrm>
          <a:prstGeom prst="rect">
            <a:avLst/>
          </a:prstGeom>
          <a:noFill/>
          <a:ln/>
        </p:spPr>
        <p:txBody>
          <a:bodyPr wrap="square" lIns="0" tIns="0" rIns="0" bIns="0" rtlCol="0" anchor="ctr"/>
          <a:lstStyle/>
          <a:p>
            <a:pPr marL="0" indent="0">
              <a:buNone/>
            </a:pPr>
            <a:r>
              <a:rPr lang="en-US" sz="1400" b="1" kern="0" spc="400" dirty="0">
                <a:solidFill>
                  <a:srgbClr val="B8860B"/>
                </a:solidFill>
                <a:latin typeface="Georgia" pitchFamily="34" charset="0"/>
                <a:ea typeface="Georgia" pitchFamily="34" charset="-122"/>
                <a:cs typeface="Georgia" pitchFamily="34" charset="-120"/>
              </a:rPr>
              <a:t>VII</a:t>
            </a:r>
            <a:endParaRPr lang="en-US" sz="1400" dirty="0"/>
          </a:p>
        </p:txBody>
      </p:sp>
      <p:sp>
        <p:nvSpPr>
          <p:cNvPr id="3" name="Text 1"/>
          <p:cNvSpPr/>
          <p:nvPr/>
        </p:nvSpPr>
        <p:spPr>
          <a:xfrm>
            <a:off x="548640" y="640080"/>
            <a:ext cx="10972800" cy="73152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Conclusiones</a:t>
            </a:r>
            <a:endParaRPr lang="en-US" sz="3000" dirty="0"/>
          </a:p>
        </p:txBody>
      </p:sp>
      <p:sp>
        <p:nvSpPr>
          <p:cNvPr id="4" name="Shape 2"/>
          <p:cNvSpPr/>
          <p:nvPr/>
        </p:nvSpPr>
        <p:spPr>
          <a:xfrm>
            <a:off x="548640" y="1371600"/>
            <a:ext cx="640080" cy="36576"/>
          </a:xfrm>
          <a:prstGeom prst="rect">
            <a:avLst/>
          </a:prstGeom>
          <a:solidFill>
            <a:srgbClr val="B8860B"/>
          </a:solidFill>
          <a:ln/>
        </p:spPr>
      </p:sp>
      <p:sp>
        <p:nvSpPr>
          <p:cNvPr id="5" name="Text 3"/>
          <p:cNvSpPr/>
          <p:nvPr/>
        </p:nvSpPr>
        <p:spPr>
          <a:xfrm>
            <a:off x="548640" y="1463040"/>
            <a:ext cx="10972800" cy="365760"/>
          </a:xfrm>
          <a:prstGeom prst="rect">
            <a:avLst/>
          </a:prstGeom>
          <a:noFill/>
          <a:ln/>
        </p:spPr>
        <p:txBody>
          <a:bodyPr wrap="square" lIns="0" tIns="0" rIns="0" bIns="0"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 que demostramos con esta aplicación práctica</a:t>
            </a:r>
            <a:endParaRPr lang="en-US" sz="1300" dirty="0"/>
          </a:p>
        </p:txBody>
      </p:sp>
      <p:sp>
        <p:nvSpPr>
          <p:cNvPr id="6" name="Shape 4"/>
          <p:cNvSpPr/>
          <p:nvPr/>
        </p:nvSpPr>
        <p:spPr>
          <a:xfrm>
            <a:off x="640080" y="2011680"/>
            <a:ext cx="5349240" cy="1828800"/>
          </a:xfrm>
          <a:prstGeom prst="rect">
            <a:avLst/>
          </a:prstGeom>
          <a:solidFill>
            <a:srgbClr val="FFFFFF"/>
          </a:solidFill>
          <a:ln/>
          <a:effectLst>
            <a:outerShdw blurRad="101600" dist="12700" dir="5400000" algn="bl" rotWithShape="0">
              <a:srgbClr val="1E2761">
                <a:alpha val="8000"/>
              </a:srgbClr>
            </a:outerShdw>
          </a:effectLst>
        </p:spPr>
      </p:sp>
      <p:sp>
        <p:nvSpPr>
          <p:cNvPr id="7" name="Shape 5"/>
          <p:cNvSpPr/>
          <p:nvPr/>
        </p:nvSpPr>
        <p:spPr>
          <a:xfrm>
            <a:off x="640080" y="2011680"/>
            <a:ext cx="73152" cy="1828800"/>
          </a:xfrm>
          <a:prstGeom prst="rect">
            <a:avLst/>
          </a:prstGeom>
          <a:solidFill>
            <a:srgbClr val="B8860B"/>
          </a:solidFill>
          <a:ln/>
        </p:spPr>
      </p:sp>
      <p:pic>
        <p:nvPicPr>
          <p:cNvPr id="8" name="Image 0" descr="preencoded.png"/>
          <p:cNvPicPr>
            <a:picLocks noChangeAspect="1"/>
          </p:cNvPicPr>
          <p:nvPr/>
        </p:nvPicPr>
        <p:blipFill>
          <a:blip r:embed="rId3"/>
          <a:stretch>
            <a:fillRect/>
          </a:stretch>
        </p:blipFill>
        <p:spPr>
          <a:xfrm>
            <a:off x="1005840" y="2377440"/>
            <a:ext cx="594360" cy="594360"/>
          </a:xfrm>
          <a:prstGeom prst="rect">
            <a:avLst/>
          </a:prstGeom>
        </p:spPr>
      </p:pic>
      <p:sp>
        <p:nvSpPr>
          <p:cNvPr id="9" name="Text 6"/>
          <p:cNvSpPr/>
          <p:nvPr/>
        </p:nvSpPr>
        <p:spPr>
          <a:xfrm>
            <a:off x="182880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ETSformer es aplicable</a:t>
            </a:r>
            <a:endParaRPr lang="en-US" sz="1600" dirty="0"/>
          </a:p>
        </p:txBody>
      </p:sp>
      <p:sp>
        <p:nvSpPr>
          <p:cNvPr id="10" name="Text 7"/>
          <p:cNvSpPr/>
          <p:nvPr/>
        </p:nvSpPr>
        <p:spPr>
          <a:xfrm>
            <a:off x="1828800" y="278892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Se pudo entrenar sobre un dataset real (LD2011_2014) con código del repositorio oficial.</a:t>
            </a:r>
            <a:endParaRPr lang="en-US" sz="1200" dirty="0"/>
          </a:p>
        </p:txBody>
      </p:sp>
      <p:sp>
        <p:nvSpPr>
          <p:cNvPr id="11" name="Shape 8"/>
          <p:cNvSpPr/>
          <p:nvPr/>
        </p:nvSpPr>
        <p:spPr>
          <a:xfrm>
            <a:off x="6263640" y="2011680"/>
            <a:ext cx="5349240" cy="1828800"/>
          </a:xfrm>
          <a:prstGeom prst="rect">
            <a:avLst/>
          </a:prstGeom>
          <a:solidFill>
            <a:srgbClr val="FFFFFF"/>
          </a:solidFill>
          <a:ln/>
          <a:effectLst>
            <a:outerShdw blurRad="101600" dist="12700" dir="5400000" algn="bl" rotWithShape="0">
              <a:srgbClr val="1E2761">
                <a:alpha val="8000"/>
              </a:srgbClr>
            </a:outerShdw>
          </a:effectLst>
        </p:spPr>
      </p:sp>
      <p:sp>
        <p:nvSpPr>
          <p:cNvPr id="12" name="Shape 9"/>
          <p:cNvSpPr/>
          <p:nvPr/>
        </p:nvSpPr>
        <p:spPr>
          <a:xfrm>
            <a:off x="6263640" y="2011680"/>
            <a:ext cx="73152" cy="1828800"/>
          </a:xfrm>
          <a:prstGeom prst="rect">
            <a:avLst/>
          </a:prstGeom>
          <a:solidFill>
            <a:srgbClr val="B8860B"/>
          </a:solidFill>
          <a:ln/>
        </p:spPr>
      </p:sp>
      <p:pic>
        <p:nvPicPr>
          <p:cNvPr id="13" name="Image 1" descr="preencoded.png"/>
          <p:cNvPicPr>
            <a:picLocks noChangeAspect="1"/>
          </p:cNvPicPr>
          <p:nvPr/>
        </p:nvPicPr>
        <p:blipFill>
          <a:blip r:embed="rId4"/>
          <a:stretch>
            <a:fillRect/>
          </a:stretch>
        </p:blipFill>
        <p:spPr>
          <a:xfrm>
            <a:off x="6629400" y="2377440"/>
            <a:ext cx="594360" cy="594360"/>
          </a:xfrm>
          <a:prstGeom prst="rect">
            <a:avLst/>
          </a:prstGeom>
        </p:spPr>
      </p:pic>
      <p:sp>
        <p:nvSpPr>
          <p:cNvPr id="14" name="Text 10"/>
          <p:cNvSpPr/>
          <p:nvPr/>
        </p:nvSpPr>
        <p:spPr>
          <a:xfrm>
            <a:off x="7452360" y="233172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Captura patrones temporales</a:t>
            </a:r>
            <a:endParaRPr lang="en-US" sz="1600" dirty="0"/>
          </a:p>
        </p:txBody>
      </p:sp>
      <p:sp>
        <p:nvSpPr>
          <p:cNvPr id="15" name="Text 11"/>
          <p:cNvSpPr/>
          <p:nvPr/>
        </p:nvSpPr>
        <p:spPr>
          <a:xfrm>
            <a:off x="7452360" y="278892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Reconoce ciclos diarios y suaviza ruido, alineándose con la lógica del suavizado exponencial.</a:t>
            </a:r>
            <a:endParaRPr lang="en-US" sz="1200" dirty="0"/>
          </a:p>
        </p:txBody>
      </p:sp>
      <p:sp>
        <p:nvSpPr>
          <p:cNvPr id="16" name="Shape 12"/>
          <p:cNvSpPr/>
          <p:nvPr/>
        </p:nvSpPr>
        <p:spPr>
          <a:xfrm>
            <a:off x="640080" y="3977640"/>
            <a:ext cx="5349240" cy="1828800"/>
          </a:xfrm>
          <a:prstGeom prst="rect">
            <a:avLst/>
          </a:prstGeom>
          <a:solidFill>
            <a:srgbClr val="FFFFFF"/>
          </a:solidFill>
          <a:ln/>
          <a:effectLst>
            <a:outerShdw blurRad="101600" dist="12700" dir="5400000" algn="bl" rotWithShape="0">
              <a:srgbClr val="1E2761">
                <a:alpha val="8000"/>
              </a:srgbClr>
            </a:outerShdw>
          </a:effectLst>
        </p:spPr>
      </p:sp>
      <p:sp>
        <p:nvSpPr>
          <p:cNvPr id="17" name="Shape 13"/>
          <p:cNvSpPr/>
          <p:nvPr/>
        </p:nvSpPr>
        <p:spPr>
          <a:xfrm>
            <a:off x="640080" y="3977640"/>
            <a:ext cx="73152" cy="1828800"/>
          </a:xfrm>
          <a:prstGeom prst="rect">
            <a:avLst/>
          </a:prstGeom>
          <a:solidFill>
            <a:srgbClr val="B8860B"/>
          </a:solidFill>
          <a:ln/>
        </p:spPr>
      </p:sp>
      <p:pic>
        <p:nvPicPr>
          <p:cNvPr id="18" name="Image 2" descr="preencoded.png"/>
          <p:cNvPicPr>
            <a:picLocks noChangeAspect="1"/>
          </p:cNvPicPr>
          <p:nvPr/>
        </p:nvPicPr>
        <p:blipFill>
          <a:blip r:embed="rId5"/>
          <a:stretch>
            <a:fillRect/>
          </a:stretch>
        </p:blipFill>
        <p:spPr>
          <a:xfrm>
            <a:off x="1005840" y="4343400"/>
            <a:ext cx="594360" cy="594360"/>
          </a:xfrm>
          <a:prstGeom prst="rect">
            <a:avLst/>
          </a:prstGeom>
        </p:spPr>
      </p:pic>
      <p:sp>
        <p:nvSpPr>
          <p:cNvPr id="19" name="Text 14"/>
          <p:cNvSpPr/>
          <p:nvPr/>
        </p:nvSpPr>
        <p:spPr>
          <a:xfrm>
            <a:off x="1828800" y="429768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Valor de negocio claro</a:t>
            </a:r>
            <a:endParaRPr lang="en-US" sz="1600" dirty="0"/>
          </a:p>
        </p:txBody>
      </p:sp>
      <p:sp>
        <p:nvSpPr>
          <p:cNvPr id="20" name="Text 15"/>
          <p:cNvSpPr/>
          <p:nvPr/>
        </p:nvSpPr>
        <p:spPr>
          <a:xfrm>
            <a:off x="1828800" y="475488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Para una empresa eléctrica significa ahorro, anticipación y mejor servicio.</a:t>
            </a:r>
            <a:endParaRPr lang="en-US" sz="1200" dirty="0"/>
          </a:p>
        </p:txBody>
      </p:sp>
      <p:sp>
        <p:nvSpPr>
          <p:cNvPr id="21" name="Shape 16"/>
          <p:cNvSpPr/>
          <p:nvPr/>
        </p:nvSpPr>
        <p:spPr>
          <a:xfrm>
            <a:off x="6263640" y="3977640"/>
            <a:ext cx="5349240" cy="1828800"/>
          </a:xfrm>
          <a:prstGeom prst="rect">
            <a:avLst/>
          </a:prstGeom>
          <a:solidFill>
            <a:srgbClr val="FFFFFF"/>
          </a:solidFill>
          <a:ln/>
          <a:effectLst>
            <a:outerShdw blurRad="101600" dist="12700" dir="5400000" algn="bl" rotWithShape="0">
              <a:srgbClr val="1E2761">
                <a:alpha val="8000"/>
              </a:srgbClr>
            </a:outerShdw>
          </a:effectLst>
        </p:spPr>
      </p:sp>
      <p:sp>
        <p:nvSpPr>
          <p:cNvPr id="22" name="Shape 17"/>
          <p:cNvSpPr/>
          <p:nvPr/>
        </p:nvSpPr>
        <p:spPr>
          <a:xfrm>
            <a:off x="6263640" y="3977640"/>
            <a:ext cx="73152" cy="1828800"/>
          </a:xfrm>
          <a:prstGeom prst="rect">
            <a:avLst/>
          </a:prstGeom>
          <a:solidFill>
            <a:srgbClr val="B8860B"/>
          </a:solidFill>
          <a:ln/>
        </p:spPr>
      </p:sp>
      <p:pic>
        <p:nvPicPr>
          <p:cNvPr id="23" name="Image 3" descr="preencoded.png"/>
          <p:cNvPicPr>
            <a:picLocks noChangeAspect="1"/>
          </p:cNvPicPr>
          <p:nvPr/>
        </p:nvPicPr>
        <p:blipFill>
          <a:blip r:embed="rId6"/>
          <a:stretch>
            <a:fillRect/>
          </a:stretch>
        </p:blipFill>
        <p:spPr>
          <a:xfrm>
            <a:off x="6629400" y="4343400"/>
            <a:ext cx="594360" cy="594360"/>
          </a:xfrm>
          <a:prstGeom prst="rect">
            <a:avLst/>
          </a:prstGeom>
        </p:spPr>
      </p:pic>
      <p:sp>
        <p:nvSpPr>
          <p:cNvPr id="24" name="Text 18"/>
          <p:cNvSpPr/>
          <p:nvPr/>
        </p:nvSpPr>
        <p:spPr>
          <a:xfrm>
            <a:off x="7452360" y="4297680"/>
            <a:ext cx="4114800" cy="457200"/>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Camino a producción</a:t>
            </a:r>
            <a:endParaRPr lang="en-US" sz="1600" dirty="0"/>
          </a:p>
        </p:txBody>
      </p:sp>
      <p:sp>
        <p:nvSpPr>
          <p:cNvPr id="25" name="Text 19"/>
          <p:cNvSpPr/>
          <p:nvPr/>
        </p:nvSpPr>
        <p:spPr>
          <a:xfrm>
            <a:off x="7452360" y="4754880"/>
            <a:ext cx="4114800" cy="10058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Con más entrenamiento (más épocas y datos) y horizonte ajustado, el modelo es desplegable.</a:t>
            </a:r>
            <a:endParaRPr lang="en-US" sz="1200" dirty="0"/>
          </a:p>
        </p:txBody>
      </p:sp>
      <p:sp>
        <p:nvSpPr>
          <p:cNvPr id="26" name="Shape 20"/>
          <p:cNvSpPr/>
          <p:nvPr/>
        </p:nvSpPr>
        <p:spPr>
          <a:xfrm>
            <a:off x="640080" y="5989320"/>
            <a:ext cx="10881360" cy="411480"/>
          </a:xfrm>
          <a:prstGeom prst="rect">
            <a:avLst/>
          </a:prstGeom>
          <a:solidFill>
            <a:srgbClr val="E8EDF5"/>
          </a:solidFill>
          <a:ln/>
        </p:spPr>
      </p:sp>
      <p:sp>
        <p:nvSpPr>
          <p:cNvPr id="27" name="Text 21"/>
          <p:cNvSpPr/>
          <p:nvPr/>
        </p:nvSpPr>
        <p:spPr>
          <a:xfrm>
            <a:off x="640080" y="6035040"/>
            <a:ext cx="10881360" cy="365760"/>
          </a:xfrm>
          <a:prstGeom prst="rect">
            <a:avLst/>
          </a:prstGeom>
          <a:noFill/>
          <a:ln/>
        </p:spPr>
        <p:txBody>
          <a:bodyPr wrap="square" lIns="0" tIns="0" rIns="0" bIns="0" rtlCol="0" anchor="ctr"/>
          <a:lstStyle/>
          <a:p>
            <a:pPr marL="0" indent="0" algn="ctr">
              <a:buNone/>
            </a:pPr>
            <a:r>
              <a:rPr lang="en-US" sz="1300" b="1" i="1" dirty="0">
                <a:solidFill>
                  <a:srgbClr val="1E2761"/>
                </a:solidFill>
                <a:latin typeface="Georgia" pitchFamily="34" charset="0"/>
                <a:ea typeface="Georgia" pitchFamily="34" charset="-122"/>
                <a:cs typeface="Georgia" pitchFamily="34" charset="-120"/>
              </a:rPr>
              <a:t>Combinar teoría (paper) + práctica (notebook) = aprendizaje completo.</a:t>
            </a:r>
            <a:endParaRPr lang="en-US" sz="1300" dirty="0"/>
          </a:p>
        </p:txBody>
      </p:sp>
      <p:sp>
        <p:nvSpPr>
          <p:cNvPr id="28" name="Shape 22"/>
          <p:cNvSpPr/>
          <p:nvPr/>
        </p:nvSpPr>
        <p:spPr>
          <a:xfrm>
            <a:off x="548640" y="6473952"/>
            <a:ext cx="11064240" cy="18288"/>
          </a:xfrm>
          <a:prstGeom prst="rect">
            <a:avLst/>
          </a:prstGeom>
          <a:solidFill>
            <a:srgbClr val="D1D5DB"/>
          </a:solidFill>
          <a:ln/>
        </p:spPr>
      </p:sp>
      <p:sp>
        <p:nvSpPr>
          <p:cNvPr id="29" name="Text 23"/>
          <p:cNvSpPr/>
          <p:nvPr/>
        </p:nvSpPr>
        <p:spPr>
          <a:xfrm>
            <a:off x="548640" y="6565392"/>
            <a:ext cx="8229600" cy="228600"/>
          </a:xfrm>
          <a:prstGeom prst="rect">
            <a:avLst/>
          </a:prstGeom>
          <a:noFill/>
          <a:ln/>
        </p:spPr>
        <p:txBody>
          <a:bodyPr wrap="square" lIns="0" tIns="0" rIns="0" bIns="0"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Aplicación práctica de ETSformer  ·  Consumo eléctrico (LD2011_2014)</a:t>
            </a:r>
            <a:endParaRPr lang="en-US" sz="900" dirty="0"/>
          </a:p>
        </p:txBody>
      </p:sp>
      <p:sp>
        <p:nvSpPr>
          <p:cNvPr id="30" name="Text 24"/>
          <p:cNvSpPr/>
          <p:nvPr/>
        </p:nvSpPr>
        <p:spPr>
          <a:xfrm>
            <a:off x="10789920" y="6565392"/>
            <a:ext cx="822960" cy="228600"/>
          </a:xfrm>
          <a:prstGeom prst="rect">
            <a:avLst/>
          </a:prstGeom>
          <a:noFill/>
          <a:ln/>
        </p:spPr>
        <p:txBody>
          <a:bodyPr wrap="square" lIns="0" tIns="0" rIns="0" bIns="0" rtlCol="0" anchor="ctr"/>
          <a:lstStyle/>
          <a:p>
            <a:pPr marL="0" indent="0" algn="r">
              <a:buNone/>
            </a:pPr>
            <a:r>
              <a:rPr lang="en-US" sz="900" dirty="0">
                <a:solidFill>
                  <a:srgbClr val="4A5568"/>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B8860B"/>
          </a:solidFill>
          <a:ln/>
        </p:spPr>
      </p:sp>
      <p:sp>
        <p:nvSpPr>
          <p:cNvPr id="3" name="Text 1"/>
          <p:cNvSpPr/>
          <p:nvPr/>
        </p:nvSpPr>
        <p:spPr>
          <a:xfrm>
            <a:off x="914400" y="1188720"/>
            <a:ext cx="10332720" cy="640080"/>
          </a:xfrm>
          <a:prstGeom prst="rect">
            <a:avLst/>
          </a:prstGeom>
          <a:noFill/>
          <a:ln/>
        </p:spPr>
        <p:txBody>
          <a:bodyPr wrap="square" lIns="0" tIns="0" rIns="0" bIns="0" rtlCol="0" anchor="ctr"/>
          <a:lstStyle/>
          <a:p>
            <a:pPr marL="0" indent="0" algn="ctr">
              <a:buNone/>
            </a:pPr>
            <a:r>
              <a:rPr lang="en-US" sz="2000" i="1" dirty="0">
                <a:solidFill>
                  <a:srgbClr val="C9A961"/>
                </a:solidFill>
                <a:latin typeface="Calibri" pitchFamily="34" charset="0"/>
                <a:ea typeface="Calibri" pitchFamily="34" charset="-122"/>
                <a:cs typeface="Calibri" pitchFamily="34" charset="-120"/>
              </a:rPr>
              <a:t>Gracias por su atención</a:t>
            </a:r>
            <a:endParaRPr lang="en-US" sz="2000" dirty="0"/>
          </a:p>
        </p:txBody>
      </p:sp>
      <p:sp>
        <p:nvSpPr>
          <p:cNvPr id="4" name="Text 2"/>
          <p:cNvSpPr/>
          <p:nvPr/>
        </p:nvSpPr>
        <p:spPr>
          <a:xfrm>
            <a:off x="914400" y="1920240"/>
            <a:ext cx="10332720" cy="1097280"/>
          </a:xfrm>
          <a:prstGeom prst="rect">
            <a:avLst/>
          </a:prstGeom>
          <a:noFill/>
          <a:ln/>
        </p:spPr>
        <p:txBody>
          <a:bodyPr wrap="square" lIns="0" tIns="0" rIns="0" bIns="0" rtlCol="0" anchor="ctr"/>
          <a:lstStyle/>
          <a:p>
            <a:pPr marL="0" indent="0" algn="ctr">
              <a:buNone/>
            </a:pPr>
            <a:r>
              <a:rPr lang="en-US" sz="7000" b="1" dirty="0">
                <a:solidFill>
                  <a:srgbClr val="FFFFFF"/>
                </a:solidFill>
                <a:latin typeface="Georgia" pitchFamily="34" charset="0"/>
                <a:ea typeface="Georgia" pitchFamily="34" charset="-122"/>
                <a:cs typeface="Georgia" pitchFamily="34" charset="-120"/>
              </a:rPr>
              <a:t>¿Preguntas?</a:t>
            </a:r>
            <a:endParaRPr lang="en-US" sz="7000" dirty="0"/>
          </a:p>
        </p:txBody>
      </p:sp>
      <p:sp>
        <p:nvSpPr>
          <p:cNvPr id="5" name="Shape 3"/>
          <p:cNvSpPr/>
          <p:nvPr/>
        </p:nvSpPr>
        <p:spPr>
          <a:xfrm>
            <a:off x="5623560" y="3291840"/>
            <a:ext cx="914400" cy="54864"/>
          </a:xfrm>
          <a:prstGeom prst="rect">
            <a:avLst/>
          </a:prstGeom>
          <a:solidFill>
            <a:srgbClr val="B8860B"/>
          </a:solidFill>
          <a:ln/>
        </p:spPr>
      </p:sp>
      <p:sp>
        <p:nvSpPr>
          <p:cNvPr id="6" name="Shape 4"/>
          <p:cNvSpPr/>
          <p:nvPr/>
        </p:nvSpPr>
        <p:spPr>
          <a:xfrm>
            <a:off x="1371600" y="3840480"/>
            <a:ext cx="9418320" cy="1920240"/>
          </a:xfrm>
          <a:prstGeom prst="rect">
            <a:avLst/>
          </a:prstGeom>
          <a:solidFill>
            <a:srgbClr val="2F3C7E"/>
          </a:solidFill>
          <a:ln/>
        </p:spPr>
      </p:sp>
      <p:sp>
        <p:nvSpPr>
          <p:cNvPr id="7" name="Text 5"/>
          <p:cNvSpPr/>
          <p:nvPr/>
        </p:nvSpPr>
        <p:spPr>
          <a:xfrm>
            <a:off x="1554480" y="3977640"/>
            <a:ext cx="9052560" cy="320040"/>
          </a:xfrm>
          <a:prstGeom prst="rect">
            <a:avLst/>
          </a:prstGeom>
          <a:noFill/>
          <a:ln/>
        </p:spPr>
        <p:txBody>
          <a:bodyPr wrap="square" lIns="0" tIns="0" rIns="0" bIns="0" rtlCol="0" anchor="ctr"/>
          <a:lstStyle/>
          <a:p>
            <a:pPr marL="0" indent="0" algn="ctr">
              <a:buNone/>
            </a:pPr>
            <a:r>
              <a:rPr lang="en-US" sz="1000" b="1" kern="0" spc="400" dirty="0">
                <a:solidFill>
                  <a:srgbClr val="C9A961"/>
                </a:solidFill>
                <a:latin typeface="Calibri" pitchFamily="34" charset="0"/>
                <a:ea typeface="Calibri" pitchFamily="34" charset="-122"/>
                <a:cs typeface="Calibri" pitchFamily="34" charset="-120"/>
              </a:rPr>
              <a:t>ENTREGABLES</a:t>
            </a:r>
            <a:endParaRPr lang="en-US" sz="1000" dirty="0"/>
          </a:p>
        </p:txBody>
      </p:sp>
      <p:sp>
        <p:nvSpPr>
          <p:cNvPr id="8" name="Text 6"/>
          <p:cNvSpPr/>
          <p:nvPr/>
        </p:nvSpPr>
        <p:spPr>
          <a:xfrm>
            <a:off x="1554480" y="4297680"/>
            <a:ext cx="9052560" cy="1417320"/>
          </a:xfrm>
          <a:prstGeom prst="rect">
            <a:avLst/>
          </a:prstGeom>
          <a:noFill/>
          <a:ln/>
        </p:spPr>
        <p:txBody>
          <a:bodyPr wrap="square" lIns="0" tIns="0" rIns="0" bIns="0" rtlCol="0" anchor="ctr"/>
          <a:lstStyle/>
          <a:p>
            <a:pPr marL="0" indent="0" algn="ctr">
              <a:spcAft>
                <a:spcPts val="300"/>
              </a:spcAft>
              <a:buNone/>
            </a:pPr>
            <a:r>
              <a:rPr lang="en-US" sz="1400" b="1" dirty="0">
                <a:solidFill>
                  <a:srgbClr val="FFFFFF"/>
                </a:solidFill>
                <a:latin typeface="Calibri" pitchFamily="34" charset="0"/>
                <a:ea typeface="Calibri" pitchFamily="34" charset="-122"/>
                <a:cs typeface="Calibri" pitchFamily="34" charset="-120"/>
              </a:rPr>
              <a:t>Esta presentación  </a:t>
            </a:r>
            <a:r>
              <a:rPr lang="en-US" sz="1300" i="1" dirty="0">
                <a:solidFill>
                  <a:srgbClr val="E8EDF5"/>
                </a:solidFill>
                <a:latin typeface="Calibri" pitchFamily="34" charset="0"/>
                <a:ea typeface="Calibri" pitchFamily="34" charset="-122"/>
                <a:cs typeface="Calibri" pitchFamily="34" charset="-120"/>
              </a:rPr>
              <a:t>(.pptx)</a:t>
            </a:r>
            <a:endParaRPr lang="en-US" sz="1300" dirty="0"/>
          </a:p>
          <a:p>
            <a:pPr marL="0" indent="0" algn="ctr">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lgn="ctr">
              <a:spcAft>
                <a:spcPts val="300"/>
              </a:spcAft>
              <a:buNone/>
            </a:pPr>
            <a:r>
              <a:rPr lang="en-US" sz="1400" b="1" dirty="0">
                <a:solidFill>
                  <a:srgbClr val="FFFFFF"/>
                </a:solidFill>
                <a:latin typeface="Calibri" pitchFamily="34" charset="0"/>
                <a:ea typeface="Calibri" pitchFamily="34" charset="-122"/>
                <a:cs typeface="Calibri" pitchFamily="34" charset="-120"/>
              </a:rPr>
              <a:t>Notebook completo  </a:t>
            </a:r>
            <a:r>
              <a:rPr lang="en-US" sz="1300" i="1" dirty="0">
                <a:solidFill>
                  <a:srgbClr val="E8EDF5"/>
                </a:solidFill>
                <a:latin typeface="Calibri" pitchFamily="34" charset="0"/>
                <a:ea typeface="Calibri" pitchFamily="34" charset="-122"/>
                <a:cs typeface="Calibri" pitchFamily="34" charset="-120"/>
              </a:rPr>
              <a:t>(.ipynb en GitHub)</a:t>
            </a:r>
            <a:endParaRPr lang="en-US" sz="1300" dirty="0"/>
          </a:p>
          <a:p>
            <a:pPr marL="0" indent="0" algn="ctr">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lgn="ctr">
              <a:spcAft>
                <a:spcPts val="300"/>
              </a:spcAft>
              <a:buNone/>
            </a:pPr>
            <a:r>
              <a:rPr lang="en-US" sz="1100" dirty="0">
                <a:solidFill>
                  <a:srgbClr val="C9A961"/>
                </a:solidFill>
                <a:latin typeface="Calibri" pitchFamily="34" charset="0"/>
                <a:ea typeface="Calibri" pitchFamily="34" charset="-122"/>
                <a:cs typeface="Calibri" pitchFamily="34" charset="-120"/>
              </a:rPr>
              <a:t>Referencia: </a:t>
            </a:r>
            <a:r>
              <a:rPr lang="en-US" sz="1100" dirty="0">
                <a:solidFill>
                  <a:srgbClr val="FFFFFF"/>
                </a:solidFill>
                <a:latin typeface="Calibri" pitchFamily="34" charset="0"/>
                <a:ea typeface="Calibri" pitchFamily="34" charset="-122"/>
                <a:cs typeface="Calibri" pitchFamily="34" charset="-120"/>
              </a:rPr>
              <a:t>Woo et al. (2022). </a:t>
            </a:r>
            <a:r>
              <a:rPr lang="en-US" sz="1100" i="1" dirty="0">
                <a:solidFill>
                  <a:srgbClr val="FFFFFF"/>
                </a:solidFill>
                <a:latin typeface="Calibri" pitchFamily="34" charset="0"/>
                <a:ea typeface="Calibri" pitchFamily="34" charset="-122"/>
                <a:cs typeface="Calibri" pitchFamily="34" charset="-120"/>
              </a:rPr>
              <a:t>ETSformer.</a:t>
            </a:r>
            <a:r>
              <a:rPr lang="en-US" sz="1100" b="1" dirty="0">
                <a:solidFill>
                  <a:srgbClr val="C9A961"/>
                </a:solidFill>
                <a:latin typeface="Calibri" pitchFamily="34" charset="0"/>
                <a:ea typeface="Calibri" pitchFamily="34" charset="-122"/>
                <a:cs typeface="Calibri" pitchFamily="34" charset="-120"/>
              </a:rPr>
              <a:t>  arXiv:2202.01381</a:t>
            </a:r>
            <a:endParaRPr lang="en-US" sz="1300" dirty="0"/>
          </a:p>
        </p:txBody>
      </p:sp>
      <p:sp>
        <p:nvSpPr>
          <p:cNvPr id="9" name="Text 7"/>
          <p:cNvSpPr/>
          <p:nvPr/>
        </p:nvSpPr>
        <p:spPr>
          <a:xfrm>
            <a:off x="914400" y="6355080"/>
            <a:ext cx="10332720" cy="274320"/>
          </a:xfrm>
          <a:prstGeom prst="rect">
            <a:avLst/>
          </a:prstGeom>
          <a:noFill/>
          <a:ln/>
        </p:spPr>
        <p:txBody>
          <a:bodyPr wrap="square" lIns="0" tIns="0" rIns="0" bIns="0" rtlCol="0" anchor="ctr"/>
          <a:lstStyle/>
          <a:p>
            <a:pPr marL="0" indent="0" algn="ctr">
              <a:buNone/>
            </a:pPr>
            <a:r>
              <a:rPr lang="en-US" sz="1100" i="1" dirty="0">
                <a:solidFill>
                  <a:srgbClr val="E8EDF5"/>
                </a:solidFill>
                <a:latin typeface="Calibri" pitchFamily="34" charset="0"/>
                <a:ea typeface="Calibri" pitchFamily="34" charset="-122"/>
                <a:cs typeface="Calibri" pitchFamily="34" charset="-120"/>
              </a:rPr>
              <a:t>Presentado por  Analy Quesquen  ·  Mayo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3557</Words>
  <Application>Microsoft Office PowerPoint</Application>
  <PresentationFormat>Panorámica</PresentationFormat>
  <Paragraphs>442</Paragraphs>
  <Slides>23</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-apple-system</vt: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ETSformer aplicado a consumo eléctrico</dc:title>
  <dc:subject>PptxGenJS Presentation</dc:subject>
  <dc:creator>Analy Quesquen</dc:creator>
  <cp:lastModifiedBy>Rodrigo Morocho Diaz</cp:lastModifiedBy>
  <cp:revision>10</cp:revision>
  <dcterms:created xsi:type="dcterms:W3CDTF">2026-05-25T22:55:07Z</dcterms:created>
  <dcterms:modified xsi:type="dcterms:W3CDTF">2026-05-26T03:22:31Z</dcterms:modified>
</cp:coreProperties>
</file>