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8" r:id="rId6"/>
    <p:sldId id="269" r:id="rId7"/>
    <p:sldId id="270" r:id="rId8"/>
    <p:sldId id="271" r:id="rId9"/>
    <p:sldId id="272" r:id="rId10"/>
    <p:sldId id="273" r:id="rId11"/>
    <p:sldId id="274" r:id="rId12"/>
    <p:sldId id="275" r:id="rId13"/>
    <p:sldId id="276" r:id="rId14"/>
    <p:sldId id="277" r:id="rId15"/>
    <p:sldId id="278" r:id="rId16"/>
    <p:sldId id="279" r:id="rId17"/>
    <p:sldId id="260" r:id="rId18"/>
    <p:sldId id="261" r:id="rId19"/>
    <p:sldId id="262" r:id="rId20"/>
    <p:sldId id="263" r:id="rId21"/>
    <p:sldId id="264" r:id="rId22"/>
    <p:sldId id="265" r:id="rId23"/>
    <p:sldId id="266"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860B"/>
    <a:srgbClr val="1E27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67" y="4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Consumo (kW)</c:v>
                </c:pt>
              </c:strCache>
            </c:strRef>
          </c:tx>
          <c:spPr>
            <a:ln w="19050" cap="flat">
              <a:solidFill>
                <a:srgbClr val="1E2761"/>
              </a:solidFill>
              <a:prstDash val="solid"/>
              <a:round/>
            </a:ln>
            <a:effectLst/>
          </c:spPr>
          <c:marker>
            <c:symbol val="circle"/>
            <c:size val="6"/>
            <c:spPr>
              <a:solidFill>
                <a:srgbClr val="1E2761"/>
              </a:solidFill>
              <a:ln w="9525" cap="flat">
                <a:solidFill>
                  <a:srgbClr val="1E2761"/>
                </a:solidFill>
                <a:prstDash val="solid"/>
                <a:round/>
              </a:ln>
              <a:effectLst/>
            </c:spPr>
          </c:marker>
          <c:cat>
            <c:strRef>
              <c:f>Sheet1!$A$2:$A$169</c:f>
              <c:strCache>
                <c:ptCount val="168"/>
              </c:strCache>
            </c:strRef>
          </c:cat>
          <c:val>
            <c:numRef>
              <c:f>Sheet1!$B$2:$B$169</c:f>
              <c:numCache>
                <c:formatCode>General</c:formatCode>
                <c:ptCount val="168"/>
                <c:pt idx="0">
                  <c:v>0.1</c:v>
                </c:pt>
                <c:pt idx="1">
                  <c:v>0.1</c:v>
                </c:pt>
                <c:pt idx="2">
                  <c:v>0.1</c:v>
                </c:pt>
                <c:pt idx="3">
                  <c:v>0.1</c:v>
                </c:pt>
                <c:pt idx="4">
                  <c:v>0.1</c:v>
                </c:pt>
                <c:pt idx="5">
                  <c:v>0.159</c:v>
                </c:pt>
                <c:pt idx="6">
                  <c:v>0.34300000000000003</c:v>
                </c:pt>
                <c:pt idx="7">
                  <c:v>0.47499999999999998</c:v>
                </c:pt>
                <c:pt idx="8">
                  <c:v>0.54500000000000004</c:v>
                </c:pt>
                <c:pt idx="9">
                  <c:v>0.60899999999999999</c:v>
                </c:pt>
                <c:pt idx="10">
                  <c:v>0.71099999999999997</c:v>
                </c:pt>
                <c:pt idx="11">
                  <c:v>0.81799999999999995</c:v>
                </c:pt>
                <c:pt idx="12">
                  <c:v>0.85399999999999998</c:v>
                </c:pt>
                <c:pt idx="13">
                  <c:v>0.79500000000000004</c:v>
                </c:pt>
                <c:pt idx="14">
                  <c:v>0.69499999999999995</c:v>
                </c:pt>
                <c:pt idx="15">
                  <c:v>0.623</c:v>
                </c:pt>
                <c:pt idx="16">
                  <c:v>0.57499999999999996</c:v>
                </c:pt>
                <c:pt idx="17">
                  <c:v>0.48699999999999999</c:v>
                </c:pt>
                <c:pt idx="18">
                  <c:v>0.32800000000000001</c:v>
                </c:pt>
                <c:pt idx="19">
                  <c:v>0.14299999999999999</c:v>
                </c:pt>
                <c:pt idx="20">
                  <c:v>0.1</c:v>
                </c:pt>
                <c:pt idx="21">
                  <c:v>0.1</c:v>
                </c:pt>
                <c:pt idx="22">
                  <c:v>0.1</c:v>
                </c:pt>
                <c:pt idx="23">
                  <c:v>0.1</c:v>
                </c:pt>
                <c:pt idx="24">
                  <c:v>0.1</c:v>
                </c:pt>
                <c:pt idx="25">
                  <c:v>0.1</c:v>
                </c:pt>
                <c:pt idx="26">
                  <c:v>0.1</c:v>
                </c:pt>
                <c:pt idx="27">
                  <c:v>0.1</c:v>
                </c:pt>
                <c:pt idx="28">
                  <c:v>0.104</c:v>
                </c:pt>
                <c:pt idx="29">
                  <c:v>0.17199999999999999</c:v>
                </c:pt>
                <c:pt idx="30">
                  <c:v>0.26500000000000001</c:v>
                </c:pt>
                <c:pt idx="31">
                  <c:v>0.42</c:v>
                </c:pt>
                <c:pt idx="32">
                  <c:v>0.59699999999999998</c:v>
                </c:pt>
                <c:pt idx="33">
                  <c:v>0.71699999999999997</c:v>
                </c:pt>
                <c:pt idx="34">
                  <c:v>0.751</c:v>
                </c:pt>
                <c:pt idx="35">
                  <c:v>0.754</c:v>
                </c:pt>
                <c:pt idx="36">
                  <c:v>0.78200000000000003</c:v>
                </c:pt>
                <c:pt idx="37">
                  <c:v>0.82099999999999995</c:v>
                </c:pt>
                <c:pt idx="38">
                  <c:v>0.80100000000000005</c:v>
                </c:pt>
                <c:pt idx="39">
                  <c:v>0.68799999999999994</c:v>
                </c:pt>
                <c:pt idx="40">
                  <c:v>0.53100000000000003</c:v>
                </c:pt>
                <c:pt idx="41">
                  <c:v>0.40500000000000003</c:v>
                </c:pt>
                <c:pt idx="42">
                  <c:v>0.32700000000000001</c:v>
                </c:pt>
                <c:pt idx="43">
                  <c:v>0.24</c:v>
                </c:pt>
                <c:pt idx="44">
                  <c:v>0.1</c:v>
                </c:pt>
                <c:pt idx="45">
                  <c:v>0.1</c:v>
                </c:pt>
                <c:pt idx="46">
                  <c:v>0.1</c:v>
                </c:pt>
                <c:pt idx="47">
                  <c:v>0.1</c:v>
                </c:pt>
                <c:pt idx="48">
                  <c:v>0.1</c:v>
                </c:pt>
                <c:pt idx="49">
                  <c:v>0.1</c:v>
                </c:pt>
                <c:pt idx="50">
                  <c:v>0.1</c:v>
                </c:pt>
                <c:pt idx="51">
                  <c:v>0.1</c:v>
                </c:pt>
                <c:pt idx="52">
                  <c:v>0.1</c:v>
                </c:pt>
                <c:pt idx="53">
                  <c:v>0.23100000000000001</c:v>
                </c:pt>
                <c:pt idx="54">
                  <c:v>0.372</c:v>
                </c:pt>
                <c:pt idx="55">
                  <c:v>0.45400000000000001</c:v>
                </c:pt>
                <c:pt idx="56">
                  <c:v>0.53</c:v>
                </c:pt>
                <c:pt idx="57">
                  <c:v>0.64800000000000002</c:v>
                </c:pt>
                <c:pt idx="58">
                  <c:v>0.78400000000000003</c:v>
                </c:pt>
                <c:pt idx="59">
                  <c:v>0.86099999999999999</c:v>
                </c:pt>
                <c:pt idx="60">
                  <c:v>0.84099999999999997</c:v>
                </c:pt>
                <c:pt idx="61">
                  <c:v>0.77200000000000002</c:v>
                </c:pt>
                <c:pt idx="62">
                  <c:v>0.72099999999999997</c:v>
                </c:pt>
                <c:pt idx="63">
                  <c:v>0.69399999999999995</c:v>
                </c:pt>
                <c:pt idx="64">
                  <c:v>0.63</c:v>
                </c:pt>
                <c:pt idx="65">
                  <c:v>0.48599999999999999</c:v>
                </c:pt>
                <c:pt idx="66">
                  <c:v>0.30099999999999999</c:v>
                </c:pt>
                <c:pt idx="67">
                  <c:v>0.155</c:v>
                </c:pt>
                <c:pt idx="68">
                  <c:v>0.1</c:v>
                </c:pt>
                <c:pt idx="69">
                  <c:v>0.1</c:v>
                </c:pt>
                <c:pt idx="70">
                  <c:v>0.1</c:v>
                </c:pt>
                <c:pt idx="71">
                  <c:v>0.1</c:v>
                </c:pt>
                <c:pt idx="72">
                  <c:v>0.1</c:v>
                </c:pt>
                <c:pt idx="73">
                  <c:v>0.1</c:v>
                </c:pt>
                <c:pt idx="74">
                  <c:v>0.1</c:v>
                </c:pt>
                <c:pt idx="75">
                  <c:v>0.1</c:v>
                </c:pt>
                <c:pt idx="76">
                  <c:v>0.1</c:v>
                </c:pt>
                <c:pt idx="77">
                  <c:v>0.159</c:v>
                </c:pt>
                <c:pt idx="78">
                  <c:v>0.307</c:v>
                </c:pt>
                <c:pt idx="79">
                  <c:v>0.49299999999999999</c:v>
                </c:pt>
                <c:pt idx="80">
                  <c:v>0.63700000000000001</c:v>
                </c:pt>
                <c:pt idx="81">
                  <c:v>0.70199999999999996</c:v>
                </c:pt>
                <c:pt idx="82">
                  <c:v>0.73</c:v>
                </c:pt>
                <c:pt idx="83">
                  <c:v>0.78200000000000003</c:v>
                </c:pt>
                <c:pt idx="84">
                  <c:v>0.85299999999999998</c:v>
                </c:pt>
                <c:pt idx="85">
                  <c:v>0.873</c:v>
                </c:pt>
                <c:pt idx="86">
                  <c:v>0.79700000000000004</c:v>
                </c:pt>
                <c:pt idx="87">
                  <c:v>0.66200000000000003</c:v>
                </c:pt>
                <c:pt idx="88">
                  <c:v>0.54500000000000004</c:v>
                </c:pt>
                <c:pt idx="89">
                  <c:v>0.47099999999999997</c:v>
                </c:pt>
                <c:pt idx="90">
                  <c:v>0.38900000000000001</c:v>
                </c:pt>
                <c:pt idx="91">
                  <c:v>0.248</c:v>
                </c:pt>
                <c:pt idx="92">
                  <c:v>0.1</c:v>
                </c:pt>
                <c:pt idx="93">
                  <c:v>0.1</c:v>
                </c:pt>
                <c:pt idx="94">
                  <c:v>0.1</c:v>
                </c:pt>
                <c:pt idx="95">
                  <c:v>0.1</c:v>
                </c:pt>
                <c:pt idx="96">
                  <c:v>0.1</c:v>
                </c:pt>
                <c:pt idx="97">
                  <c:v>0.1</c:v>
                </c:pt>
                <c:pt idx="98">
                  <c:v>0.1</c:v>
                </c:pt>
                <c:pt idx="99">
                  <c:v>0.1</c:v>
                </c:pt>
                <c:pt idx="100">
                  <c:v>0.127</c:v>
                </c:pt>
                <c:pt idx="101">
                  <c:v>0.26700000000000002</c:v>
                </c:pt>
                <c:pt idx="102">
                  <c:v>0.35499999999999998</c:v>
                </c:pt>
                <c:pt idx="103">
                  <c:v>0.434</c:v>
                </c:pt>
                <c:pt idx="104">
                  <c:v>0.56200000000000006</c:v>
                </c:pt>
                <c:pt idx="105">
                  <c:v>0.72</c:v>
                </c:pt>
                <c:pt idx="106">
                  <c:v>0.83299999999999996</c:v>
                </c:pt>
                <c:pt idx="107">
                  <c:v>0.85399999999999998</c:v>
                </c:pt>
                <c:pt idx="108">
                  <c:v>0.81599999999999995</c:v>
                </c:pt>
                <c:pt idx="109">
                  <c:v>0.78900000000000003</c:v>
                </c:pt>
                <c:pt idx="110">
                  <c:v>0.78800000000000003</c:v>
                </c:pt>
                <c:pt idx="111">
                  <c:v>0.754</c:v>
                </c:pt>
                <c:pt idx="112">
                  <c:v>0.63500000000000001</c:v>
                </c:pt>
                <c:pt idx="113">
                  <c:v>0.45900000000000002</c:v>
                </c:pt>
                <c:pt idx="114">
                  <c:v>0.30499999999999999</c:v>
                </c:pt>
                <c:pt idx="115">
                  <c:v>0.214</c:v>
                </c:pt>
                <c:pt idx="116">
                  <c:v>0.14599999999999999</c:v>
                </c:pt>
                <c:pt idx="117">
                  <c:v>0.1</c:v>
                </c:pt>
                <c:pt idx="118">
                  <c:v>0.1</c:v>
                </c:pt>
                <c:pt idx="119">
                  <c:v>0.1</c:v>
                </c:pt>
                <c:pt idx="120">
                  <c:v>0.1</c:v>
                </c:pt>
                <c:pt idx="121">
                  <c:v>0.1</c:v>
                </c:pt>
                <c:pt idx="122">
                  <c:v>0.1</c:v>
                </c:pt>
                <c:pt idx="123">
                  <c:v>0.1</c:v>
                </c:pt>
                <c:pt idx="124">
                  <c:v>0.1</c:v>
                </c:pt>
                <c:pt idx="125">
                  <c:v>0.19400000000000001</c:v>
                </c:pt>
                <c:pt idx="126">
                  <c:v>0.38</c:v>
                </c:pt>
                <c:pt idx="127">
                  <c:v>0.54</c:v>
                </c:pt>
                <c:pt idx="128">
                  <c:v>0.628</c:v>
                </c:pt>
                <c:pt idx="129">
                  <c:v>0.67700000000000005</c:v>
                </c:pt>
                <c:pt idx="130">
                  <c:v>0.751</c:v>
                </c:pt>
                <c:pt idx="131">
                  <c:v>0.85099999999999998</c:v>
                </c:pt>
                <c:pt idx="132">
                  <c:v>0.91100000000000003</c:v>
                </c:pt>
                <c:pt idx="133">
                  <c:v>0.875</c:v>
                </c:pt>
                <c:pt idx="134">
                  <c:v>0.76900000000000002</c:v>
                </c:pt>
                <c:pt idx="135">
                  <c:v>0.66900000000000004</c:v>
                </c:pt>
                <c:pt idx="136">
                  <c:v>0.60699999999999998</c:v>
                </c:pt>
                <c:pt idx="137">
                  <c:v>0.53800000000000003</c:v>
                </c:pt>
                <c:pt idx="138">
                  <c:v>0.40500000000000003</c:v>
                </c:pt>
                <c:pt idx="139">
                  <c:v>0.222</c:v>
                </c:pt>
                <c:pt idx="140">
                  <c:v>0.1</c:v>
                </c:pt>
                <c:pt idx="141">
                  <c:v>0.1</c:v>
                </c:pt>
                <c:pt idx="142">
                  <c:v>0.1</c:v>
                </c:pt>
                <c:pt idx="143">
                  <c:v>0.1</c:v>
                </c:pt>
                <c:pt idx="144">
                  <c:v>0.1</c:v>
                </c:pt>
                <c:pt idx="145">
                  <c:v>0.1</c:v>
                </c:pt>
                <c:pt idx="146">
                  <c:v>0.1</c:v>
                </c:pt>
                <c:pt idx="147">
                  <c:v>0.1</c:v>
                </c:pt>
                <c:pt idx="148">
                  <c:v>0.17</c:v>
                </c:pt>
                <c:pt idx="149">
                  <c:v>0.255</c:v>
                </c:pt>
                <c:pt idx="150">
                  <c:v>0.33100000000000002</c:v>
                </c:pt>
                <c:pt idx="151">
                  <c:v>0.45900000000000002</c:v>
                </c:pt>
                <c:pt idx="152">
                  <c:v>0.63200000000000001</c:v>
                </c:pt>
                <c:pt idx="153">
                  <c:v>0.77600000000000002</c:v>
                </c:pt>
                <c:pt idx="154">
                  <c:v>0.83299999999999996</c:v>
                </c:pt>
                <c:pt idx="155">
                  <c:v>0.82699999999999996</c:v>
                </c:pt>
                <c:pt idx="156">
                  <c:v>0.82599999999999996</c:v>
                </c:pt>
                <c:pt idx="157">
                  <c:v>0.85299999999999998</c:v>
                </c:pt>
                <c:pt idx="158">
                  <c:v>0.85299999999999998</c:v>
                </c:pt>
                <c:pt idx="159">
                  <c:v>0.76600000000000001</c:v>
                </c:pt>
                <c:pt idx="160">
                  <c:v>0.60799999999999998</c:v>
                </c:pt>
                <c:pt idx="161">
                  <c:v>0.45600000000000002</c:v>
                </c:pt>
                <c:pt idx="162">
                  <c:v>0.35899999999999999</c:v>
                </c:pt>
                <c:pt idx="163">
                  <c:v>0.28499999999999998</c:v>
                </c:pt>
                <c:pt idx="164">
                  <c:v>0.17299999999999999</c:v>
                </c:pt>
                <c:pt idx="165">
                  <c:v>0.1</c:v>
                </c:pt>
                <c:pt idx="166">
                  <c:v>0.1</c:v>
                </c:pt>
                <c:pt idx="167">
                  <c:v>0.1</c:v>
                </c:pt>
              </c:numCache>
            </c:numRef>
          </c:val>
          <c:smooth val="1"/>
          <c:extLst>
            <c:ext xmlns:c16="http://schemas.microsoft.com/office/drawing/2014/chart" uri="{C3380CC4-5D6E-409C-BE32-E72D297353CC}">
              <c16:uniqueId val="{00000000-7D15-45F7-9F74-90B71F64142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 b="0" i="0" u="none" strike="noStrike">
                <a:solidFill>
                  <a:srgbClr val="FFFFFF"/>
                </a:solidFill>
                <a:latin typeface="Arial"/>
              </a:defRPr>
            </a:pPr>
            <a:endParaRPr lang="es-PE"/>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1D5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568"/>
                </a:solidFill>
                <a:latin typeface="Arial"/>
              </a:defRPr>
            </a:pPr>
            <a:endParaRPr lang="es-PE"/>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Real</c:v>
                </c:pt>
              </c:strCache>
            </c:strRef>
          </c:tx>
          <c:spPr>
            <a:ln w="31750" cap="flat">
              <a:solidFill>
                <a:srgbClr val="1E2761"/>
              </a:solidFill>
              <a:prstDash val="solid"/>
              <a:round/>
            </a:ln>
            <a:effectLst/>
          </c:spPr>
          <c:marker>
            <c:symbol val="circle"/>
            <c:size val="6"/>
            <c:spPr>
              <a:solidFill>
                <a:srgbClr val="1E2761"/>
              </a:solidFill>
              <a:ln w="9525" cap="flat">
                <a:solidFill>
                  <a:srgbClr val="1E2761"/>
                </a:solidFill>
                <a:prstDash val="solid"/>
                <a:round/>
              </a:ln>
              <a:effectLst/>
            </c:spPr>
          </c:marker>
          <c:cat>
            <c:strRef>
              <c:f>Sheet1!$A$2:$A$13</c:f>
              <c:strCache>
                <c:ptCount val="12"/>
                <c:pt idx="0">
                  <c:v>+15min</c:v>
                </c:pt>
                <c:pt idx="1">
                  <c:v>+30min</c:v>
                </c:pt>
                <c:pt idx="2">
                  <c:v>+45min</c:v>
                </c:pt>
                <c:pt idx="3">
                  <c:v>+60min</c:v>
                </c:pt>
                <c:pt idx="4">
                  <c:v>+75min</c:v>
                </c:pt>
                <c:pt idx="5">
                  <c:v>+90min</c:v>
                </c:pt>
                <c:pt idx="6">
                  <c:v>+105min</c:v>
                </c:pt>
                <c:pt idx="7">
                  <c:v>+120min</c:v>
                </c:pt>
                <c:pt idx="8">
                  <c:v>+135min</c:v>
                </c:pt>
                <c:pt idx="9">
                  <c:v>+150min</c:v>
                </c:pt>
                <c:pt idx="10">
                  <c:v>+165min</c:v>
                </c:pt>
                <c:pt idx="11">
                  <c:v>+180min</c:v>
                </c:pt>
              </c:strCache>
            </c:strRef>
          </c:cat>
          <c:val>
            <c:numRef>
              <c:f>Sheet1!$B$2:$B$13</c:f>
              <c:numCache>
                <c:formatCode>General</c:formatCode>
                <c:ptCount val="12"/>
                <c:pt idx="0">
                  <c:v>0.52300000000000002</c:v>
                </c:pt>
                <c:pt idx="1">
                  <c:v>-6.9000000000000006E-2</c:v>
                </c:pt>
                <c:pt idx="2">
                  <c:v>5.8999999999999997E-2</c:v>
                </c:pt>
                <c:pt idx="3">
                  <c:v>0.17599999999999999</c:v>
                </c:pt>
                <c:pt idx="4">
                  <c:v>0.17</c:v>
                </c:pt>
                <c:pt idx="5">
                  <c:v>6.4000000000000001E-2</c:v>
                </c:pt>
                <c:pt idx="6">
                  <c:v>0.40699999999999997</c:v>
                </c:pt>
                <c:pt idx="7">
                  <c:v>0.27600000000000002</c:v>
                </c:pt>
                <c:pt idx="8">
                  <c:v>0.27900000000000003</c:v>
                </c:pt>
                <c:pt idx="9">
                  <c:v>8.8999999999999996E-2</c:v>
                </c:pt>
                <c:pt idx="10">
                  <c:v>0.246</c:v>
                </c:pt>
                <c:pt idx="11">
                  <c:v>9.4E-2</c:v>
                </c:pt>
              </c:numCache>
            </c:numRef>
          </c:val>
          <c:smooth val="1"/>
          <c:extLst>
            <c:ext xmlns:c16="http://schemas.microsoft.com/office/drawing/2014/chart" uri="{C3380CC4-5D6E-409C-BE32-E72D297353CC}">
              <c16:uniqueId val="{00000000-BD71-4B54-847C-C78025EDD395}"/>
            </c:ext>
          </c:extLst>
        </c:ser>
        <c:ser>
          <c:idx val="1"/>
          <c:order val="1"/>
          <c:tx>
            <c:strRef>
              <c:f>Sheet1!$C$1</c:f>
              <c:strCache>
                <c:ptCount val="1"/>
                <c:pt idx="0">
                  <c:v>Predicción</c:v>
                </c:pt>
              </c:strCache>
            </c:strRef>
          </c:tx>
          <c:spPr>
            <a:ln w="31750" cap="flat">
              <a:solidFill>
                <a:srgbClr val="B8860B"/>
              </a:solidFill>
              <a:prstDash val="solid"/>
              <a:round/>
            </a:ln>
            <a:effectLst/>
          </c:spPr>
          <c:marker>
            <c:symbol val="circle"/>
            <c:size val="6"/>
            <c:spPr>
              <a:solidFill>
                <a:srgbClr val="B8860B"/>
              </a:solidFill>
              <a:ln w="9525" cap="flat">
                <a:solidFill>
                  <a:srgbClr val="B8860B"/>
                </a:solidFill>
                <a:prstDash val="solid"/>
                <a:round/>
              </a:ln>
              <a:effectLst/>
            </c:spPr>
          </c:marker>
          <c:cat>
            <c:strRef>
              <c:f>Sheet1!$A$2:$A$13</c:f>
              <c:strCache>
                <c:ptCount val="12"/>
                <c:pt idx="0">
                  <c:v>+15min</c:v>
                </c:pt>
                <c:pt idx="1">
                  <c:v>+30min</c:v>
                </c:pt>
                <c:pt idx="2">
                  <c:v>+45min</c:v>
                </c:pt>
                <c:pt idx="3">
                  <c:v>+60min</c:v>
                </c:pt>
                <c:pt idx="4">
                  <c:v>+75min</c:v>
                </c:pt>
                <c:pt idx="5">
                  <c:v>+90min</c:v>
                </c:pt>
                <c:pt idx="6">
                  <c:v>+105min</c:v>
                </c:pt>
                <c:pt idx="7">
                  <c:v>+120min</c:v>
                </c:pt>
                <c:pt idx="8">
                  <c:v>+135min</c:v>
                </c:pt>
                <c:pt idx="9">
                  <c:v>+150min</c:v>
                </c:pt>
                <c:pt idx="10">
                  <c:v>+165min</c:v>
                </c:pt>
                <c:pt idx="11">
                  <c:v>+180min</c:v>
                </c:pt>
              </c:strCache>
            </c:strRef>
          </c:cat>
          <c:val>
            <c:numRef>
              <c:f>Sheet1!$C$2:$C$13</c:f>
              <c:numCache>
                <c:formatCode>General</c:formatCode>
                <c:ptCount val="12"/>
                <c:pt idx="0">
                  <c:v>0.21299999999999999</c:v>
                </c:pt>
                <c:pt idx="1">
                  <c:v>0.22900000000000001</c:v>
                </c:pt>
                <c:pt idx="2">
                  <c:v>0.14099999999999999</c:v>
                </c:pt>
                <c:pt idx="3">
                  <c:v>0.128</c:v>
                </c:pt>
                <c:pt idx="4">
                  <c:v>0.13900000000000001</c:v>
                </c:pt>
                <c:pt idx="5">
                  <c:v>5.7000000000000002E-2</c:v>
                </c:pt>
                <c:pt idx="6">
                  <c:v>7.9000000000000001E-2</c:v>
                </c:pt>
                <c:pt idx="7">
                  <c:v>8.5000000000000006E-2</c:v>
                </c:pt>
                <c:pt idx="8">
                  <c:v>2.7E-2</c:v>
                </c:pt>
                <c:pt idx="9">
                  <c:v>8.5000000000000006E-2</c:v>
                </c:pt>
                <c:pt idx="10">
                  <c:v>0.09</c:v>
                </c:pt>
                <c:pt idx="11">
                  <c:v>6.8000000000000005E-2</c:v>
                </c:pt>
              </c:numCache>
            </c:numRef>
          </c:val>
          <c:smooth val="1"/>
          <c:extLst>
            <c:ext xmlns:c16="http://schemas.microsoft.com/office/drawing/2014/chart" uri="{C3380CC4-5D6E-409C-BE32-E72D297353CC}">
              <c16:uniqueId val="{00000001-BD71-4B54-847C-C78025EDD39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00" b="0" i="0" u="none" strike="noStrike">
                <a:solidFill>
                  <a:srgbClr val="4A5568"/>
                </a:solidFill>
                <a:latin typeface="Arial"/>
              </a:defRPr>
            </a:pPr>
            <a:endParaRPr lang="es-PE"/>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1D5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568"/>
                </a:solidFill>
                <a:latin typeface="Arial"/>
              </a:defRPr>
            </a:pPr>
            <a:endParaRPr lang="es-PE"/>
          </a:p>
        </c:txPr>
        <c:crossAx val="2094734554"/>
        <c:crosses val="autoZero"/>
        <c:crossBetween val="between"/>
      </c:valAx>
      <c:spPr>
        <a:noFill/>
        <a:ln>
          <a:noFill/>
        </a:ln>
        <a:effectLst/>
      </c:spPr>
    </c:plotArea>
    <c:legend>
      <c:legendPos val="t"/>
      <c:overlay val="0"/>
      <c:txPr>
        <a:bodyPr/>
        <a:lstStyle/>
        <a:p>
          <a:pPr>
            <a:defRPr sz="1100">
              <a:solidFill>
                <a:srgbClr val="4A5568"/>
              </a:solidFill>
            </a:defRPr>
          </a:pPr>
          <a:endParaRPr lang="es-PE"/>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4921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seg] Apertura.</a:t>
            </a:r>
          </a:p>
          <a:p>
            <a:endParaRPr/>
          </a:p>
          <a:p>
            <a:r>
              <a:t>Buenos dias. Hoy presentamos una aplicacion practica de ETSformer: pronostico de consumo electrico usando un dataset real de la UCI. Mi compañero/a hara la demo en vivo del notebook al final.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 seg] Hook.</a:t>
            </a:r>
          </a:p>
          <a:p>
            <a:endParaRPr/>
          </a:p>
          <a:p>
            <a:r>
              <a:t>(Lectura pausada) ¿Cuanta luz consumira la ciudad mañana a las 8 PM?</a:t>
            </a:r>
          </a:p>
          <a:p>
            <a:endParaRPr/>
          </a:p>
          <a:p>
            <a:r>
              <a:t>(Pausa 2 segundos)</a:t>
            </a:r>
          </a:p>
          <a:p>
            <a:endParaRPr/>
          </a:p>
          <a:p>
            <a:r>
              <a:t>Es una pregunta de millones de dolares para cualquier empresa electrica. Veamos como ETSformer responde con un caso real.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Recordatorio rapido.</a:t>
            </a:r>
          </a:p>
          <a:p>
            <a:endParaRPr/>
          </a:p>
          <a:p>
            <a:r>
              <a:t>Para los que necesitan el contexto: ETSformer es la propuesta de Salesforce Research del 2022 que combina el suavizado exponencial clasico con la arquitectura Transformer.</a:t>
            </a:r>
          </a:p>
          <a:p>
            <a:endParaRPr/>
          </a:p>
          <a:p>
            <a:r>
              <a:t>Tres ideas clave: descompone la serie en Nivel, Crecimiento y Estacionalidad. Introduce dos nuevas atenciones: ESA y FA. Y mantiene complejidad O(L log L), lo que lo hace eficiente.</a:t>
            </a:r>
          </a:p>
          <a:p>
            <a:endParaRPr/>
          </a:p>
          <a:p>
            <a:r>
              <a:t>(Avanzar)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624051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23651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5596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6157964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37660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656449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53659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814294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0678956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392914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0629532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520038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Dataset.</a:t>
            </a:r>
          </a:p>
          <a:p>
            <a:endParaRPr/>
          </a:p>
          <a:p>
            <a:r>
              <a:t>Usamos LD2011_2014 del repositorio UCI: consumo electrico real de 370 clientes en Portugal, con mediciones cada 15 minutos durante 4 años.</a:t>
            </a:r>
          </a:p>
          <a:p>
            <a:endParaRPr/>
          </a:p>
          <a:p>
            <a:r>
              <a:t>(Señalar la ficha izquierda) Total: 140 mil filas. Tomamos el cliente con mayor consumo (MT_362) y la ventana desde 2012.</a:t>
            </a:r>
          </a:p>
          <a:p>
            <a:endParaRPr/>
          </a:p>
          <a:p>
            <a:r>
              <a:t>(Señalar el grafico derecho) Vista previa de 2 semanas: vemos claramente el patron diario, los picos en la noche y los ciclos repetitivos. Esto es exactamente lo que ETSformer puede modelar bien.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seg] Metodologia.</a:t>
            </a:r>
          </a:p>
          <a:p>
            <a:endParaRPr/>
          </a:p>
          <a:p>
            <a:r>
              <a:t>(Señalar el pipeline superior) El proceso completo es: carga de datos, seleccion de un cliente, preprocesamiento, entrenamiento del modelo, y generacion de la prediccion.</a:t>
            </a:r>
          </a:p>
          <a:p>
            <a:endParaRPr/>
          </a:p>
          <a:p>
            <a:r>
              <a:t>(Señalar la tabla inferior) Configuracion principal: usamos 48 pasos de historia (12 horas) para predecir 12 pasos adelante (3 horas). Modo univariado, una sola frecuencia de Fourier (K=1), y un modelo compacto (d_model=32).</a:t>
            </a:r>
          </a:p>
          <a:p>
            <a:endParaRPr/>
          </a:p>
          <a:p>
            <a:r>
              <a:t>Importante: corrimos solo 1 epoca por demostracion. En produccion se entrenaria mucho mas.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seg] Resultados.</a:t>
            </a:r>
          </a:p>
          <a:p>
            <a:endParaRPr/>
          </a:p>
          <a:p>
            <a:r>
              <a:t>(Izquierda) En validacion el modelo logro MSE de 0.196 y MAE de 0.352. En test fue mas alto (0.629 y 0.609) porque el modelo apenas entreno una epoca.</a:t>
            </a:r>
          </a:p>
          <a:p>
            <a:endParaRPr/>
          </a:p>
          <a:p>
            <a:r>
              <a:t>(Derecha — señalar el grafico) Aqui comparamos prediccion contra valor real en el primer ejemplo del test. El modelo captura la direccion general y suaviza las fluctuaciones rapidas, pero pierde algo de detalle en los picos.</a:t>
            </a:r>
          </a:p>
          <a:p>
            <a:endParaRPr/>
          </a:p>
          <a:p>
            <a:r>
              <a:t>Conclusion: con mas entrenamiento, los resultados mejorarian considerablemente.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seg] Interpretacion de negocio.</a:t>
            </a:r>
          </a:p>
          <a:p>
            <a:endParaRPr/>
          </a:p>
          <a:p>
            <a:r>
              <a:t>Para una empresa electrica este modelo aporta valor en cuatro frentes:</a:t>
            </a:r>
          </a:p>
          <a:p>
            <a:endParaRPr/>
          </a:p>
          <a:p>
            <a:r>
              <a:t>Planificacion de la red: anticipar con horas de antelacion permite encender generadores eficientes y reducir costos operativos.</a:t>
            </a:r>
          </a:p>
          <a:p>
            <a:endParaRPr/>
          </a:p>
          <a:p>
            <a:r>
              <a:t>Picos de demanda: detectar antes los picos criticos evita apagones y sobrecargas de la red.</a:t>
            </a:r>
          </a:p>
          <a:p>
            <a:endParaRPr/>
          </a:p>
          <a:p>
            <a:r>
              <a:t>Trading: pronosticos precisos mejoran la compra de energia en mercados spot y la oferta de contratos a futuro.</a:t>
            </a:r>
          </a:p>
          <a:p>
            <a:endParaRPr/>
          </a:p>
          <a:p>
            <a:r>
              <a:t>Atencion al cliente: detectar consumos anomalos permite alertar sobre fugas, fraudes o equipos defectuosos.</a:t>
            </a:r>
          </a:p>
          <a:p>
            <a:endParaRPr/>
          </a:p>
          <a:p>
            <a:r>
              <a:t>En resumen: predecir bien la demanda reduce costos, evita perdidas y mejora el servicio.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seg + 7 min demo] Transicion al demo.</a:t>
            </a:r>
          </a:p>
          <a:p>
            <a:endParaRPr/>
          </a:p>
          <a:p>
            <a:r>
              <a:t>Hasta aqui les explique la aplicacion. A continuacion mi compañero/a va a ejecutar el notebook completo en vivo desde Databricks, paso por paso, para que vean los resultados reales.</a:t>
            </a:r>
          </a:p>
          <a:p>
            <a:endParaRPr/>
          </a:p>
          <a:p>
            <a:r>
              <a:t>(Ceder la palabra al compañero/a. Estimar 7 minutos para la demo)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Conclusiones.</a:t>
            </a:r>
          </a:p>
          <a:p>
            <a:endParaRPr/>
          </a:p>
          <a:p>
            <a:r>
              <a:t>Cuatro cosas que demostramos hoy:</a:t>
            </a:r>
          </a:p>
          <a:p>
            <a:endParaRPr/>
          </a:p>
          <a:p>
            <a:r>
              <a:t>ETSformer es aplicable: pudimos entrenarlo sobre un dataset real con el codigo del repositorio oficial.</a:t>
            </a:r>
          </a:p>
          <a:p>
            <a:endParaRPr/>
          </a:p>
          <a:p>
            <a:r>
              <a:t>Captura patrones temporales: reconoce ciclos diarios y suaviza ruido, consistente con su diseño basado en suavizado exponencial.</a:t>
            </a:r>
          </a:p>
          <a:p>
            <a:endParaRPr/>
          </a:p>
          <a:p>
            <a:r>
              <a:t>Valor de negocio claro: para una empresa electrica significa ahorros, anticipacion y mejor servicio.</a:t>
            </a:r>
          </a:p>
          <a:p>
            <a:endParaRPr/>
          </a:p>
          <a:p>
            <a:r>
              <a:t>Camino a produccion: con mas entrenamiento y un horizonte ajustado, este modelo es desplegable en un entorno real.</a:t>
            </a:r>
          </a:p>
          <a:p>
            <a:endParaRPr/>
          </a:p>
          <a:p>
            <a:r>
              <a:t>Combinar teoria mas practica es la mejor forma de aprender.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seg] Cierre.</a:t>
            </a:r>
          </a:p>
          <a:p>
            <a:endParaRPr/>
          </a:p>
          <a:p>
            <a:r>
              <a:t>Muchas gracias por su atencion. Quedamos abiertos a sus preguntas sobre el paper, la implementacion o las aplicaciones.</a:t>
            </a:r>
          </a:p>
          <a:p>
            <a:endParaRPr/>
          </a:p>
          <a:p>
            <a:r>
              <a:t>Los entregables (PPT y notebook) estan disponibles, el notebook en GitHub.</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1A7F1E6-9CB5-3925-3860-76B37DFA61FD}"/>
              </a:ext>
            </a:extLst>
          </p:cNvPr>
          <p:cNvSpPr txBox="1"/>
          <p:nvPr userDrawn="1">
            <p:extLst>
              <p:ext uri="{1162E1C5-73C7-4A58-AE30-91384D911F3F}">
                <p184:classification xmlns:p184="http://schemas.microsoft.com/office/powerpoint/2018/4/main" val="ftr"/>
              </p:ext>
            </p:extLst>
          </p:nvPr>
        </p:nvSpPr>
        <p:spPr>
          <a:xfrm>
            <a:off x="5534025" y="6642100"/>
            <a:ext cx="1149350" cy="152400"/>
          </a:xfrm>
          <a:prstGeom prst="rect">
            <a:avLst/>
          </a:prstGeom>
        </p:spPr>
        <p:txBody>
          <a:bodyPr horzOverflow="overflow" lIns="0" tIns="0" rIns="0" bIns="0">
            <a:spAutoFit/>
          </a:bodyPr>
          <a:lstStyle/>
          <a:p>
            <a:pPr algn="l"/>
            <a:r>
              <a:rPr lang="es-PE" sz="1000">
                <a:solidFill>
                  <a:srgbClr val="000000">
                    <a:alpha val="50000"/>
                  </a:srgbClr>
                </a:solidFill>
                <a:latin typeface="Aptos" panose="020B0004020202020204" pitchFamily="34" charset="0"/>
              </a:rPr>
              <a:t>Confidencialidad - D</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AF7"/>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860B"/>
          </a:solidFill>
          <a:ln/>
        </p:spPr>
        <p:txBody>
          <a:bodyPr/>
          <a:lstStyle/>
          <a:p>
            <a:endParaRPr lang="es-PE"/>
          </a:p>
        </p:txBody>
      </p:sp>
      <p:sp>
        <p:nvSpPr>
          <p:cNvPr id="3" name="Shape 1"/>
          <p:cNvSpPr/>
          <p:nvPr/>
        </p:nvSpPr>
        <p:spPr>
          <a:xfrm>
            <a:off x="0" y="164592"/>
            <a:ext cx="12161520" cy="1280160"/>
          </a:xfrm>
          <a:prstGeom prst="rect">
            <a:avLst/>
          </a:prstGeom>
          <a:solidFill>
            <a:srgbClr val="1E2761"/>
          </a:solidFill>
          <a:ln/>
        </p:spPr>
        <p:txBody>
          <a:bodyPr/>
          <a:lstStyle/>
          <a:p>
            <a:endParaRPr lang="es-PE"/>
          </a:p>
        </p:txBody>
      </p:sp>
      <p:sp>
        <p:nvSpPr>
          <p:cNvPr id="4" name="Text 2"/>
          <p:cNvSpPr/>
          <p:nvPr/>
        </p:nvSpPr>
        <p:spPr>
          <a:xfrm>
            <a:off x="640080" y="411480"/>
            <a:ext cx="10972800" cy="365760"/>
          </a:xfrm>
          <a:prstGeom prst="rect">
            <a:avLst/>
          </a:prstGeom>
          <a:noFill/>
          <a:ln/>
        </p:spPr>
        <p:txBody>
          <a:bodyPr wrap="square" lIns="0" tIns="0" rIns="0" bIns="0" rtlCol="0" anchor="ctr"/>
          <a:lstStyle/>
          <a:p>
            <a:pPr marL="0" indent="0">
              <a:buNone/>
            </a:pPr>
            <a:r>
              <a:rPr lang="en-US" sz="1100" b="1" kern="0" spc="500" dirty="0">
                <a:solidFill>
                  <a:srgbClr val="C9A961"/>
                </a:solidFill>
                <a:latin typeface="Calibri" pitchFamily="34" charset="0"/>
                <a:ea typeface="Calibri" pitchFamily="34" charset="-122"/>
                <a:cs typeface="Calibri" pitchFamily="34" charset="-120"/>
              </a:rPr>
              <a:t>APLICACIÓN PRÁCTICA  ·  CASO REAL</a:t>
            </a:r>
            <a:endParaRPr lang="en-US" sz="1100" dirty="0"/>
          </a:p>
        </p:txBody>
      </p:sp>
      <p:sp>
        <p:nvSpPr>
          <p:cNvPr id="5" name="Text 3"/>
          <p:cNvSpPr/>
          <p:nvPr/>
        </p:nvSpPr>
        <p:spPr>
          <a:xfrm>
            <a:off x="640080" y="822960"/>
            <a:ext cx="10972800" cy="36576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ETSformer aplicado a:</a:t>
            </a:r>
            <a:endParaRPr lang="en-US" sz="1400" dirty="0"/>
          </a:p>
        </p:txBody>
      </p:sp>
      <p:pic>
        <p:nvPicPr>
          <p:cNvPr id="6" name="Image 0" descr="preencoded.png"/>
          <p:cNvPicPr>
            <a:picLocks noChangeAspect="1"/>
          </p:cNvPicPr>
          <p:nvPr/>
        </p:nvPicPr>
        <p:blipFill>
          <a:blip r:embed="rId3"/>
          <a:stretch>
            <a:fillRect/>
          </a:stretch>
        </p:blipFill>
        <p:spPr>
          <a:xfrm>
            <a:off x="640080" y="1828800"/>
            <a:ext cx="822960" cy="822960"/>
          </a:xfrm>
          <a:prstGeom prst="rect">
            <a:avLst/>
          </a:prstGeom>
        </p:spPr>
      </p:pic>
      <p:sp>
        <p:nvSpPr>
          <p:cNvPr id="7" name="Text 4"/>
          <p:cNvSpPr/>
          <p:nvPr/>
        </p:nvSpPr>
        <p:spPr>
          <a:xfrm>
            <a:off x="640080" y="2743200"/>
            <a:ext cx="10881360" cy="822960"/>
          </a:xfrm>
          <a:prstGeom prst="rect">
            <a:avLst/>
          </a:prstGeom>
          <a:noFill/>
          <a:ln/>
        </p:spPr>
        <p:txBody>
          <a:bodyPr wrap="square" lIns="0" tIns="0" rIns="0" bIns="0" rtlCol="0" anchor="ctr"/>
          <a:lstStyle/>
          <a:p>
            <a:pPr marL="0" indent="0">
              <a:buNone/>
            </a:pPr>
            <a:r>
              <a:rPr lang="en-US" sz="4200" b="1" dirty="0">
                <a:solidFill>
                  <a:srgbClr val="1E2761"/>
                </a:solidFill>
                <a:latin typeface="Georgia" pitchFamily="34" charset="0"/>
                <a:ea typeface="Georgia" pitchFamily="34" charset="-122"/>
                <a:cs typeface="Georgia" pitchFamily="34" charset="-120"/>
              </a:rPr>
              <a:t>Pronóstico de</a:t>
            </a:r>
            <a:endParaRPr lang="en-US" sz="4200" dirty="0"/>
          </a:p>
        </p:txBody>
      </p:sp>
      <p:sp>
        <p:nvSpPr>
          <p:cNvPr id="8" name="Text 5"/>
          <p:cNvSpPr/>
          <p:nvPr/>
        </p:nvSpPr>
        <p:spPr>
          <a:xfrm>
            <a:off x="640080" y="3566160"/>
            <a:ext cx="10881360" cy="1005840"/>
          </a:xfrm>
          <a:prstGeom prst="rect">
            <a:avLst/>
          </a:prstGeom>
          <a:noFill/>
          <a:ln/>
        </p:spPr>
        <p:txBody>
          <a:bodyPr wrap="square" lIns="0" tIns="0" rIns="0" bIns="0" rtlCol="0" anchor="ctr"/>
          <a:lstStyle/>
          <a:p>
            <a:pPr marL="0" indent="0">
              <a:buNone/>
            </a:pPr>
            <a:r>
              <a:rPr lang="en-US" sz="5800" b="1" dirty="0">
                <a:solidFill>
                  <a:srgbClr val="1E2761"/>
                </a:solidFill>
                <a:latin typeface="Georgia" pitchFamily="34" charset="0"/>
                <a:ea typeface="Georgia" pitchFamily="34" charset="-122"/>
                <a:cs typeface="Georgia" pitchFamily="34" charset="-120"/>
              </a:rPr>
              <a:t>consumo eléctrico</a:t>
            </a:r>
            <a:endParaRPr lang="en-US" sz="5800" dirty="0"/>
          </a:p>
        </p:txBody>
      </p:sp>
      <p:sp>
        <p:nvSpPr>
          <p:cNvPr id="9" name="Shape 6"/>
          <p:cNvSpPr/>
          <p:nvPr/>
        </p:nvSpPr>
        <p:spPr>
          <a:xfrm>
            <a:off x="640080" y="4754880"/>
            <a:ext cx="1371600" cy="36576"/>
          </a:xfrm>
          <a:prstGeom prst="rect">
            <a:avLst/>
          </a:prstGeom>
          <a:solidFill>
            <a:srgbClr val="B8860B"/>
          </a:solidFill>
          <a:ln/>
        </p:spPr>
        <p:txBody>
          <a:bodyPr/>
          <a:lstStyle/>
          <a:p>
            <a:endParaRPr lang="es-PE"/>
          </a:p>
        </p:txBody>
      </p:sp>
      <p:sp>
        <p:nvSpPr>
          <p:cNvPr id="10" name="Text 7"/>
          <p:cNvSpPr/>
          <p:nvPr/>
        </p:nvSpPr>
        <p:spPr>
          <a:xfrm>
            <a:off x="640080" y="4892040"/>
            <a:ext cx="10972800" cy="365760"/>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Dataset:  LD2011_2014  ·  370 clientes  ·  Mediciones cada 15 min</a:t>
            </a:r>
            <a:endParaRPr lang="en-US" sz="1400" dirty="0"/>
          </a:p>
        </p:txBody>
      </p:sp>
      <p:sp>
        <p:nvSpPr>
          <p:cNvPr id="11" name="Text 8"/>
          <p:cNvSpPr/>
          <p:nvPr/>
        </p:nvSpPr>
        <p:spPr>
          <a:xfrm>
            <a:off x="640080" y="5212080"/>
            <a:ext cx="10972800" cy="365760"/>
          </a:xfrm>
          <a:prstGeom prst="rect">
            <a:avLst/>
          </a:prstGeom>
          <a:noFill/>
          <a:ln/>
        </p:spPr>
        <p:txBody>
          <a:bodyPr wrap="square" lIns="0" tIns="0" rIns="0" bIns="0"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UCI Machine Learning Repository  ·  Consumo eléctrico real (Portugal, 2011-2014)</a:t>
            </a:r>
            <a:endParaRPr lang="en-US" sz="1200" dirty="0"/>
          </a:p>
        </p:txBody>
      </p:sp>
      <p:sp>
        <p:nvSpPr>
          <p:cNvPr id="12" name="Shape 9"/>
          <p:cNvSpPr/>
          <p:nvPr/>
        </p:nvSpPr>
        <p:spPr>
          <a:xfrm>
            <a:off x="640080" y="5577840"/>
            <a:ext cx="5486400" cy="777240"/>
          </a:xfrm>
          <a:prstGeom prst="rect">
            <a:avLst/>
          </a:prstGeom>
          <a:solidFill>
            <a:srgbClr val="E8EDF5"/>
          </a:solidFill>
          <a:ln/>
        </p:spPr>
        <p:txBody>
          <a:bodyPr/>
          <a:lstStyle/>
          <a:p>
            <a:endParaRPr lang="es-PE"/>
          </a:p>
        </p:txBody>
      </p:sp>
      <p:sp>
        <p:nvSpPr>
          <p:cNvPr id="13" name="Shape 10"/>
          <p:cNvSpPr/>
          <p:nvPr/>
        </p:nvSpPr>
        <p:spPr>
          <a:xfrm>
            <a:off x="640080" y="5577840"/>
            <a:ext cx="73152" cy="777240"/>
          </a:xfrm>
          <a:prstGeom prst="rect">
            <a:avLst/>
          </a:prstGeom>
          <a:solidFill>
            <a:srgbClr val="B8860B"/>
          </a:solidFill>
          <a:ln/>
        </p:spPr>
        <p:txBody>
          <a:bodyPr/>
          <a:lstStyle/>
          <a:p>
            <a:endParaRPr lang="es-PE"/>
          </a:p>
        </p:txBody>
      </p:sp>
      <p:sp>
        <p:nvSpPr>
          <p:cNvPr id="14" name="Text 11"/>
          <p:cNvSpPr/>
          <p:nvPr/>
        </p:nvSpPr>
        <p:spPr>
          <a:xfrm>
            <a:off x="868680" y="5650992"/>
            <a:ext cx="5029200" cy="256032"/>
          </a:xfrm>
          <a:prstGeom prst="rect">
            <a:avLst/>
          </a:prstGeom>
          <a:noFill/>
          <a:ln/>
        </p:spPr>
        <p:txBody>
          <a:bodyPr wrap="square" lIns="0" tIns="0" rIns="0" bIns="0" rtlCol="0" anchor="ctr"/>
          <a:lstStyle/>
          <a:p>
            <a:pPr marL="0" indent="0">
              <a:buNone/>
            </a:pPr>
            <a:r>
              <a:rPr lang="en-US" sz="900" b="1" kern="0" spc="400" dirty="0">
                <a:solidFill>
                  <a:srgbClr val="B8860B"/>
                </a:solidFill>
                <a:latin typeface="Calibri" pitchFamily="34" charset="0"/>
                <a:ea typeface="Calibri" pitchFamily="34" charset="-122"/>
                <a:cs typeface="Calibri" pitchFamily="34" charset="-120"/>
              </a:rPr>
              <a:t>PRESENTADO POR</a:t>
            </a:r>
            <a:endParaRPr lang="en-US" sz="900" dirty="0"/>
          </a:p>
        </p:txBody>
      </p:sp>
      <p:sp>
        <p:nvSpPr>
          <p:cNvPr id="15" name="Text 12"/>
          <p:cNvSpPr/>
          <p:nvPr/>
        </p:nvSpPr>
        <p:spPr>
          <a:xfrm>
            <a:off x="868680" y="5861304"/>
            <a:ext cx="5029200" cy="365760"/>
          </a:xfrm>
          <a:prstGeom prst="rect">
            <a:avLst/>
          </a:prstGeom>
          <a:noFill/>
          <a:ln/>
        </p:spPr>
        <p:txBody>
          <a:bodyPr wrap="square" lIns="0" tIns="0" rIns="0" bIns="0" rtlCol="0" anchor="ctr"/>
          <a:lstStyle/>
          <a:p>
            <a:r>
              <a:rPr lang="es-PE" sz="1400" dirty="0"/>
              <a:t>Analy del Milagro Quesquen Carvallo, Edgar Delgado Ortega, Enrique Alberto </a:t>
            </a:r>
            <a:r>
              <a:rPr lang="es-PE" sz="1400" dirty="0" err="1"/>
              <a:t>Gortaire</a:t>
            </a:r>
            <a:r>
              <a:rPr lang="es-PE" sz="1400" dirty="0"/>
              <a:t> Arboleda, Rodrigo Antonio Morocho Diaz</a:t>
            </a:r>
            <a:r>
              <a:rPr lang="en-US" sz="1400" b="1" dirty="0">
                <a:solidFill>
                  <a:srgbClr val="1E2761"/>
                </a:solidFill>
                <a:latin typeface="Georgia" pitchFamily="34" charset="0"/>
                <a:ea typeface="Georgia" pitchFamily="34" charset="-122"/>
                <a:cs typeface="Georgia" pitchFamily="34" charset="-120"/>
              </a:rPr>
              <a:t>·</a:t>
            </a:r>
            <a:endParaRPr lang="en-US" sz="1400" dirty="0"/>
          </a:p>
        </p:txBody>
      </p:sp>
      <p:sp>
        <p:nvSpPr>
          <p:cNvPr id="16" name="Text 13"/>
          <p:cNvSpPr/>
          <p:nvPr/>
        </p:nvSpPr>
        <p:spPr>
          <a:xfrm>
            <a:off x="868680" y="6217920"/>
            <a:ext cx="502920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Mayo de 2026</a:t>
            </a:r>
            <a:endParaRPr lang="en-US" sz="1000" dirty="0"/>
          </a:p>
        </p:txBody>
      </p:sp>
      <p:sp>
        <p:nvSpPr>
          <p:cNvPr id="17" name="Shape 14"/>
          <p:cNvSpPr/>
          <p:nvPr/>
        </p:nvSpPr>
        <p:spPr>
          <a:xfrm>
            <a:off x="8229600" y="5577840"/>
            <a:ext cx="3291840" cy="777240"/>
          </a:xfrm>
          <a:prstGeom prst="rect">
            <a:avLst/>
          </a:prstGeom>
          <a:solidFill>
            <a:srgbClr val="1E2761"/>
          </a:solidFill>
          <a:ln/>
        </p:spPr>
        <p:txBody>
          <a:bodyPr/>
          <a:lstStyle/>
          <a:p>
            <a:endParaRPr lang="es-PE"/>
          </a:p>
        </p:txBody>
      </p:sp>
      <p:pic>
        <p:nvPicPr>
          <p:cNvPr id="18" name="Image 1" descr="preencoded.png"/>
          <p:cNvPicPr>
            <a:picLocks noChangeAspect="1"/>
          </p:cNvPicPr>
          <p:nvPr/>
        </p:nvPicPr>
        <p:blipFill>
          <a:blip r:embed="rId4"/>
          <a:stretch>
            <a:fillRect/>
          </a:stretch>
        </p:blipFill>
        <p:spPr>
          <a:xfrm>
            <a:off x="8412480" y="5806440"/>
            <a:ext cx="320040" cy="320040"/>
          </a:xfrm>
          <a:prstGeom prst="rect">
            <a:avLst/>
          </a:prstGeom>
        </p:spPr>
      </p:pic>
      <p:sp>
        <p:nvSpPr>
          <p:cNvPr id="19" name="Text 15"/>
          <p:cNvSpPr/>
          <p:nvPr/>
        </p:nvSpPr>
        <p:spPr>
          <a:xfrm>
            <a:off x="8961120" y="5715000"/>
            <a:ext cx="2743200" cy="274320"/>
          </a:xfrm>
          <a:prstGeom prst="rect">
            <a:avLst/>
          </a:prstGeom>
          <a:noFill/>
          <a:ln/>
        </p:spPr>
        <p:txBody>
          <a:bodyPr wrap="square" lIns="0" tIns="0" rIns="0" bIns="0" rtlCol="0" anchor="ctr"/>
          <a:lstStyle/>
          <a:p>
            <a:pPr marL="0" indent="0">
              <a:buNone/>
            </a:pPr>
            <a:r>
              <a:rPr lang="en-US" sz="1000" b="1" kern="0" spc="300" dirty="0">
                <a:solidFill>
                  <a:srgbClr val="C9A961"/>
                </a:solidFill>
                <a:latin typeface="Calibri" pitchFamily="34" charset="0"/>
                <a:ea typeface="Calibri" pitchFamily="34" charset="-122"/>
                <a:cs typeface="Calibri" pitchFamily="34" charset="-120"/>
              </a:rPr>
              <a:t>INCLUYE DEMO EN VIVO</a:t>
            </a:r>
            <a:endParaRPr lang="en-US" sz="1000" dirty="0"/>
          </a:p>
        </p:txBody>
      </p:sp>
      <p:sp>
        <p:nvSpPr>
          <p:cNvPr id="20" name="Text 16"/>
          <p:cNvSpPr/>
          <p:nvPr/>
        </p:nvSpPr>
        <p:spPr>
          <a:xfrm>
            <a:off x="8961120" y="5989320"/>
            <a:ext cx="2743200" cy="27432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Notebook ejecutándose en Databricks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860B"/>
          </a:solidFill>
          <a:ln/>
        </p:spPr>
        <p:txBody>
          <a:bodyPr/>
          <a:lstStyle/>
          <a:p>
            <a:endParaRPr lang="es-PE"/>
          </a:p>
        </p:txBody>
      </p:sp>
      <p:sp>
        <p:nvSpPr>
          <p:cNvPr id="3" name="Shape 1"/>
          <p:cNvSpPr/>
          <p:nvPr/>
        </p:nvSpPr>
        <p:spPr>
          <a:xfrm>
            <a:off x="0" y="6693408"/>
            <a:ext cx="12161520" cy="164592"/>
          </a:xfrm>
          <a:prstGeom prst="rect">
            <a:avLst/>
          </a:prstGeom>
          <a:solidFill>
            <a:srgbClr val="B8860B"/>
          </a:solidFill>
          <a:ln/>
        </p:spPr>
        <p:txBody>
          <a:bodyPr/>
          <a:lstStyle/>
          <a:p>
            <a:endParaRPr lang="es-PE"/>
          </a:p>
        </p:txBody>
      </p:sp>
      <p:sp>
        <p:nvSpPr>
          <p:cNvPr id="4" name="Text 2"/>
          <p:cNvSpPr/>
          <p:nvPr/>
        </p:nvSpPr>
        <p:spPr>
          <a:xfrm>
            <a:off x="548640" y="640080"/>
            <a:ext cx="11064240" cy="365760"/>
          </a:xfrm>
          <a:prstGeom prst="rect">
            <a:avLst/>
          </a:prstGeom>
          <a:noFill/>
          <a:ln/>
        </p:spPr>
        <p:txBody>
          <a:bodyPr wrap="square" lIns="0" tIns="0" rIns="0" bIns="0" rtlCol="0" anchor="ctr"/>
          <a:lstStyle/>
          <a:p>
            <a:pPr marL="0" indent="0" algn="ctr">
              <a:buNone/>
            </a:pPr>
            <a:r>
              <a:rPr lang="en-US" sz="1200" b="1" kern="0" spc="800" dirty="0">
                <a:solidFill>
                  <a:srgbClr val="C9A961"/>
                </a:solidFill>
                <a:latin typeface="Calibri" pitchFamily="34" charset="0"/>
                <a:ea typeface="Calibri" pitchFamily="34" charset="-122"/>
                <a:cs typeface="Calibri" pitchFamily="34" charset="-120"/>
              </a:rPr>
              <a:t>PARA EMPEZAR</a:t>
            </a:r>
            <a:endParaRPr lang="en-US" sz="1200" dirty="0"/>
          </a:p>
        </p:txBody>
      </p:sp>
      <p:pic>
        <p:nvPicPr>
          <p:cNvPr id="5" name="Image 0" descr="preencoded.png"/>
          <p:cNvPicPr>
            <a:picLocks noChangeAspect="1"/>
          </p:cNvPicPr>
          <p:nvPr/>
        </p:nvPicPr>
        <p:blipFill>
          <a:blip r:embed="rId3"/>
          <a:stretch>
            <a:fillRect/>
          </a:stretch>
        </p:blipFill>
        <p:spPr>
          <a:xfrm>
            <a:off x="5623560" y="1188720"/>
            <a:ext cx="914400" cy="914400"/>
          </a:xfrm>
          <a:prstGeom prst="rect">
            <a:avLst/>
          </a:prstGeom>
        </p:spPr>
      </p:pic>
      <p:sp>
        <p:nvSpPr>
          <p:cNvPr id="6" name="Text 3"/>
          <p:cNvSpPr/>
          <p:nvPr/>
        </p:nvSpPr>
        <p:spPr>
          <a:xfrm>
            <a:off x="548640" y="2377440"/>
            <a:ext cx="11064240" cy="777240"/>
          </a:xfrm>
          <a:prstGeom prst="rect">
            <a:avLst/>
          </a:prstGeom>
          <a:noFill/>
          <a:ln/>
        </p:spPr>
        <p:txBody>
          <a:bodyPr wrap="square" lIns="0" tIns="0" rIns="0" bIns="0" rtlCol="0" anchor="ctr"/>
          <a:lstStyle/>
          <a:p>
            <a:pPr marL="0" indent="0" algn="ctr">
              <a:buNone/>
            </a:pPr>
            <a:r>
              <a:rPr lang="en-US" sz="4200" i="1" dirty="0">
                <a:solidFill>
                  <a:srgbClr val="FFFFFF"/>
                </a:solidFill>
                <a:latin typeface="Georgia" pitchFamily="34" charset="0"/>
                <a:ea typeface="Georgia" pitchFamily="34" charset="-122"/>
                <a:cs typeface="Georgia" pitchFamily="34" charset="-120"/>
              </a:rPr>
              <a:t>¿Cuánta luz consumirá</a:t>
            </a:r>
            <a:endParaRPr lang="en-US" sz="4200" dirty="0"/>
          </a:p>
        </p:txBody>
      </p:sp>
      <p:sp>
        <p:nvSpPr>
          <p:cNvPr id="7" name="Text 4"/>
          <p:cNvSpPr/>
          <p:nvPr/>
        </p:nvSpPr>
        <p:spPr>
          <a:xfrm>
            <a:off x="548640" y="3154680"/>
            <a:ext cx="11064240" cy="868680"/>
          </a:xfrm>
          <a:prstGeom prst="rect">
            <a:avLst/>
          </a:prstGeom>
          <a:noFill/>
          <a:ln/>
        </p:spPr>
        <p:txBody>
          <a:bodyPr wrap="square" lIns="0" tIns="0" rIns="0" bIns="0" rtlCol="0" anchor="ctr"/>
          <a:lstStyle/>
          <a:p>
            <a:pPr marL="0" indent="0" algn="ctr">
              <a:buNone/>
            </a:pPr>
            <a:r>
              <a:rPr lang="en-US" sz="5000" b="1" i="1" dirty="0">
                <a:solidFill>
                  <a:srgbClr val="C9A961"/>
                </a:solidFill>
                <a:latin typeface="Georgia" pitchFamily="34" charset="0"/>
                <a:ea typeface="Georgia" pitchFamily="34" charset="-122"/>
                <a:cs typeface="Georgia" pitchFamily="34" charset="-120"/>
              </a:rPr>
              <a:t>la ciudad mañana a las 8 PM?</a:t>
            </a:r>
            <a:endParaRPr lang="en-US" sz="5000" dirty="0"/>
          </a:p>
        </p:txBody>
      </p:sp>
      <p:sp>
        <p:nvSpPr>
          <p:cNvPr id="8" name="Shape 5"/>
          <p:cNvSpPr/>
          <p:nvPr/>
        </p:nvSpPr>
        <p:spPr>
          <a:xfrm>
            <a:off x="5623560" y="4251960"/>
            <a:ext cx="914400" cy="54864"/>
          </a:xfrm>
          <a:prstGeom prst="rect">
            <a:avLst/>
          </a:prstGeom>
          <a:solidFill>
            <a:srgbClr val="B8860B"/>
          </a:solidFill>
          <a:ln/>
        </p:spPr>
        <p:txBody>
          <a:bodyPr/>
          <a:lstStyle/>
          <a:p>
            <a:endParaRPr lang="es-PE"/>
          </a:p>
        </p:txBody>
      </p:sp>
      <p:sp>
        <p:nvSpPr>
          <p:cNvPr id="9" name="Text 6"/>
          <p:cNvSpPr/>
          <p:nvPr/>
        </p:nvSpPr>
        <p:spPr>
          <a:xfrm>
            <a:off x="548640" y="4434840"/>
            <a:ext cx="11064240" cy="457200"/>
          </a:xfrm>
          <a:prstGeom prst="rect">
            <a:avLst/>
          </a:prstGeom>
          <a:noFill/>
          <a:ln/>
        </p:spPr>
        <p:txBody>
          <a:bodyPr wrap="square" lIns="0" tIns="0" rIns="0" bIns="0" rtlCol="0" anchor="ctr"/>
          <a:lstStyle/>
          <a:p>
            <a:pPr marL="0" indent="0" algn="ctr">
              <a:buNone/>
            </a:pPr>
            <a:r>
              <a:rPr lang="en-US" sz="1700" i="1" dirty="0">
                <a:solidFill>
                  <a:srgbClr val="E8EDF5"/>
                </a:solidFill>
                <a:latin typeface="Calibri" pitchFamily="34" charset="0"/>
                <a:ea typeface="Calibri" pitchFamily="34" charset="-122"/>
                <a:cs typeface="Calibri" pitchFamily="34" charset="-120"/>
              </a:rPr>
              <a:t>Una pregunta de millones de dólares para cualquier empresa eléctrica.</a:t>
            </a:r>
            <a:endParaRPr lang="en-US" sz="1700" dirty="0"/>
          </a:p>
        </p:txBody>
      </p:sp>
      <p:sp>
        <p:nvSpPr>
          <p:cNvPr id="10" name="Text 7"/>
          <p:cNvSpPr/>
          <p:nvPr/>
        </p:nvSpPr>
        <p:spPr>
          <a:xfrm>
            <a:off x="548640" y="4892040"/>
            <a:ext cx="11064240" cy="457200"/>
          </a:xfrm>
          <a:prstGeom prst="rect">
            <a:avLst/>
          </a:prstGeom>
          <a:noFill/>
          <a:ln/>
        </p:spPr>
        <p:txBody>
          <a:bodyPr wrap="square" lIns="0" tIns="0" rIns="0" bIns="0" rtlCol="0" anchor="ctr"/>
          <a:lstStyle/>
          <a:p>
            <a:pPr marL="0" indent="0" algn="ctr">
              <a:buNone/>
            </a:pPr>
            <a:r>
              <a:rPr lang="en-US" sz="1700" i="1" dirty="0">
                <a:solidFill>
                  <a:srgbClr val="E8EDF5"/>
                </a:solidFill>
                <a:latin typeface="Calibri" pitchFamily="34" charset="0"/>
                <a:ea typeface="Calibri" pitchFamily="34" charset="-122"/>
                <a:cs typeface="Calibri" pitchFamily="34" charset="-120"/>
              </a:rPr>
              <a:t>Veremos cómo ETSformer responde con un caso real.</a:t>
            </a:r>
            <a:endParaRPr lang="en-US" sz="1700" dirty="0"/>
          </a:p>
        </p:txBody>
      </p:sp>
      <p:sp>
        <p:nvSpPr>
          <p:cNvPr id="11" name="Text 8"/>
          <p:cNvSpPr/>
          <p:nvPr/>
        </p:nvSpPr>
        <p:spPr>
          <a:xfrm>
            <a:off x="10789920" y="6446520"/>
            <a:ext cx="822960" cy="228600"/>
          </a:xfrm>
          <a:prstGeom prst="rect">
            <a:avLst/>
          </a:prstGeom>
          <a:noFill/>
          <a:ln/>
        </p:spPr>
        <p:txBody>
          <a:bodyPr wrap="square" lIns="0" tIns="0" rIns="0" bIns="0" rtlCol="0" anchor="ctr"/>
          <a:lstStyle/>
          <a:p>
            <a:pPr marL="0" indent="0" algn="r">
              <a:buNone/>
            </a:pPr>
            <a:r>
              <a:rPr lang="en-US" sz="900" dirty="0">
                <a:solidFill>
                  <a:srgbClr val="C9A961"/>
                </a:solidFill>
                <a:latin typeface="Calibri" pitchFamily="34" charset="0"/>
                <a:ea typeface="Calibri" pitchFamily="34" charset="-122"/>
                <a:cs typeface="Calibri"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Recordatorio: ¿qué es ETSformer?</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Un resumen ultra-rápido antes de la aplicación</a:t>
            </a:r>
            <a:endParaRPr lang="en-US" sz="1300" dirty="0"/>
          </a:p>
        </p:txBody>
      </p:sp>
      <p:sp>
        <p:nvSpPr>
          <p:cNvPr id="6" name="Shape 4"/>
          <p:cNvSpPr/>
          <p:nvPr/>
        </p:nvSpPr>
        <p:spPr>
          <a:xfrm>
            <a:off x="640080" y="1965960"/>
            <a:ext cx="10881360" cy="1005840"/>
          </a:xfrm>
          <a:prstGeom prst="rect">
            <a:avLst/>
          </a:prstGeom>
          <a:solidFill>
            <a:srgbClr val="E8EDF5"/>
          </a:solidFill>
          <a:ln/>
        </p:spPr>
        <p:txBody>
          <a:bodyPr/>
          <a:lstStyle/>
          <a:p>
            <a:endParaRPr lang="es-PE"/>
          </a:p>
        </p:txBody>
      </p:sp>
      <p:sp>
        <p:nvSpPr>
          <p:cNvPr id="7" name="Shape 5"/>
          <p:cNvSpPr/>
          <p:nvPr/>
        </p:nvSpPr>
        <p:spPr>
          <a:xfrm>
            <a:off x="640080" y="1965960"/>
            <a:ext cx="91440" cy="1005840"/>
          </a:xfrm>
          <a:prstGeom prst="rect">
            <a:avLst/>
          </a:prstGeom>
          <a:solidFill>
            <a:srgbClr val="B8860B"/>
          </a:solidFill>
          <a:ln/>
        </p:spPr>
        <p:txBody>
          <a:bodyPr/>
          <a:lstStyle/>
          <a:p>
            <a:endParaRPr lang="es-PE"/>
          </a:p>
        </p:txBody>
      </p:sp>
      <p:sp>
        <p:nvSpPr>
          <p:cNvPr id="8" name="Text 6"/>
          <p:cNvSpPr/>
          <p:nvPr/>
        </p:nvSpPr>
        <p:spPr>
          <a:xfrm>
            <a:off x="914400" y="2103120"/>
            <a:ext cx="10332720" cy="822960"/>
          </a:xfrm>
          <a:prstGeom prst="rect">
            <a:avLst/>
          </a:prstGeom>
          <a:noFill/>
          <a:ln/>
        </p:spPr>
        <p:txBody>
          <a:bodyPr wrap="square" lIns="0" tIns="0" rIns="0" bIns="0" rtlCol="0" anchor="ctr"/>
          <a:lstStyle/>
          <a:p>
            <a:pPr marL="0" indent="0">
              <a:buNone/>
            </a:pPr>
            <a:r>
              <a:rPr lang="en-US" sz="1500" i="1" dirty="0">
                <a:solidFill>
                  <a:srgbClr val="1A1A2E"/>
                </a:solidFill>
                <a:latin typeface="Calibri" pitchFamily="34" charset="0"/>
                <a:ea typeface="Calibri" pitchFamily="34" charset="-122"/>
                <a:cs typeface="Calibri" pitchFamily="34" charset="-120"/>
              </a:rPr>
              <a:t>ETSformer (Woo et al., 2022) combina el suavizado exponencial clásico con la arquitectura Transformer, produciendo pronósticos que son a la vez precisos e interpretables.</a:t>
            </a:r>
            <a:endParaRPr lang="en-US" sz="1500" dirty="0"/>
          </a:p>
        </p:txBody>
      </p:sp>
      <p:sp>
        <p:nvSpPr>
          <p:cNvPr id="9" name="Shape 7"/>
          <p:cNvSpPr/>
          <p:nvPr/>
        </p:nvSpPr>
        <p:spPr>
          <a:xfrm>
            <a:off x="640080" y="3200400"/>
            <a:ext cx="3657600" cy="246888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10" name="Shape 8"/>
          <p:cNvSpPr/>
          <p:nvPr/>
        </p:nvSpPr>
        <p:spPr>
          <a:xfrm>
            <a:off x="640080" y="3200400"/>
            <a:ext cx="3657600" cy="91440"/>
          </a:xfrm>
          <a:prstGeom prst="rect">
            <a:avLst/>
          </a:prstGeom>
          <a:solidFill>
            <a:srgbClr val="1E2761"/>
          </a:solidFill>
          <a:ln/>
        </p:spPr>
        <p:txBody>
          <a:bodyPr/>
          <a:lstStyle/>
          <a:p>
            <a:endParaRPr lang="es-PE"/>
          </a:p>
        </p:txBody>
      </p:sp>
      <p:pic>
        <p:nvPicPr>
          <p:cNvPr id="11" name="Image 0" descr="preencoded.png"/>
          <p:cNvPicPr>
            <a:picLocks noChangeAspect="1"/>
          </p:cNvPicPr>
          <p:nvPr/>
        </p:nvPicPr>
        <p:blipFill>
          <a:blip r:embed="rId3"/>
          <a:stretch>
            <a:fillRect/>
          </a:stretch>
        </p:blipFill>
        <p:spPr>
          <a:xfrm>
            <a:off x="960120" y="3566160"/>
            <a:ext cx="548640" cy="548640"/>
          </a:xfrm>
          <a:prstGeom prst="rect">
            <a:avLst/>
          </a:prstGeom>
        </p:spPr>
      </p:pic>
      <p:sp>
        <p:nvSpPr>
          <p:cNvPr id="12" name="Text 9"/>
          <p:cNvSpPr/>
          <p:nvPr/>
        </p:nvSpPr>
        <p:spPr>
          <a:xfrm>
            <a:off x="1691640" y="3566160"/>
            <a:ext cx="2468880" cy="502920"/>
          </a:xfrm>
          <a:prstGeom prst="rect">
            <a:avLst/>
          </a:prstGeom>
          <a:noFill/>
          <a:ln/>
        </p:spPr>
        <p:txBody>
          <a:bodyPr wrap="square" lIns="0" tIns="0" rIns="0" bIns="0" rtlCol="0" anchor="ctr"/>
          <a:lstStyle/>
          <a:p>
            <a:pPr marL="0" indent="0">
              <a:buNone/>
            </a:pPr>
            <a:r>
              <a:rPr lang="en-US" sz="1700" b="1" dirty="0">
                <a:solidFill>
                  <a:srgbClr val="1E2761"/>
                </a:solidFill>
                <a:latin typeface="Georgia" pitchFamily="34" charset="0"/>
                <a:ea typeface="Georgia" pitchFamily="34" charset="-122"/>
                <a:cs typeface="Georgia" pitchFamily="34" charset="-120"/>
              </a:rPr>
              <a:t>Descomposición</a:t>
            </a:r>
            <a:endParaRPr lang="en-US" sz="1700" dirty="0"/>
          </a:p>
        </p:txBody>
      </p:sp>
      <p:sp>
        <p:nvSpPr>
          <p:cNvPr id="13" name="Text 10"/>
          <p:cNvSpPr/>
          <p:nvPr/>
        </p:nvSpPr>
        <p:spPr>
          <a:xfrm>
            <a:off x="960120" y="4297680"/>
            <a:ext cx="3017520" cy="12801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Separa la serie en Nivel + Crecimiento + Estacionalidad.</a:t>
            </a:r>
            <a:endParaRPr lang="en-US" sz="1200" dirty="0"/>
          </a:p>
        </p:txBody>
      </p:sp>
      <p:sp>
        <p:nvSpPr>
          <p:cNvPr id="14" name="Shape 11"/>
          <p:cNvSpPr/>
          <p:nvPr/>
        </p:nvSpPr>
        <p:spPr>
          <a:xfrm>
            <a:off x="4480560" y="3200400"/>
            <a:ext cx="3657600" cy="246888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15" name="Shape 12"/>
          <p:cNvSpPr/>
          <p:nvPr/>
        </p:nvSpPr>
        <p:spPr>
          <a:xfrm>
            <a:off x="4480560" y="3200400"/>
            <a:ext cx="3657600" cy="91440"/>
          </a:xfrm>
          <a:prstGeom prst="rect">
            <a:avLst/>
          </a:prstGeom>
          <a:solidFill>
            <a:srgbClr val="1E2761"/>
          </a:solidFill>
          <a:ln/>
        </p:spPr>
        <p:txBody>
          <a:bodyPr/>
          <a:lstStyle/>
          <a:p>
            <a:endParaRPr lang="es-PE"/>
          </a:p>
        </p:txBody>
      </p:sp>
      <p:pic>
        <p:nvPicPr>
          <p:cNvPr id="16" name="Image 1" descr="preencoded.png"/>
          <p:cNvPicPr>
            <a:picLocks noChangeAspect="1"/>
          </p:cNvPicPr>
          <p:nvPr/>
        </p:nvPicPr>
        <p:blipFill>
          <a:blip r:embed="rId4"/>
          <a:stretch>
            <a:fillRect/>
          </a:stretch>
        </p:blipFill>
        <p:spPr>
          <a:xfrm>
            <a:off x="4800600" y="3566160"/>
            <a:ext cx="548640" cy="548640"/>
          </a:xfrm>
          <a:prstGeom prst="rect">
            <a:avLst/>
          </a:prstGeom>
        </p:spPr>
      </p:pic>
      <p:sp>
        <p:nvSpPr>
          <p:cNvPr id="17" name="Text 13"/>
          <p:cNvSpPr/>
          <p:nvPr/>
        </p:nvSpPr>
        <p:spPr>
          <a:xfrm>
            <a:off x="5532120" y="3566160"/>
            <a:ext cx="2468880" cy="502920"/>
          </a:xfrm>
          <a:prstGeom prst="rect">
            <a:avLst/>
          </a:prstGeom>
          <a:noFill/>
          <a:ln/>
        </p:spPr>
        <p:txBody>
          <a:bodyPr wrap="square" lIns="0" tIns="0" rIns="0" bIns="0" rtlCol="0" anchor="ctr"/>
          <a:lstStyle/>
          <a:p>
            <a:pPr marL="0" indent="0">
              <a:buNone/>
            </a:pPr>
            <a:r>
              <a:rPr lang="en-US" sz="1700" b="1" dirty="0">
                <a:solidFill>
                  <a:srgbClr val="1E2761"/>
                </a:solidFill>
                <a:latin typeface="Georgia" pitchFamily="34" charset="0"/>
                <a:ea typeface="Georgia" pitchFamily="34" charset="-122"/>
                <a:cs typeface="Georgia" pitchFamily="34" charset="-120"/>
              </a:rPr>
              <a:t>Dos atenciones nuevas</a:t>
            </a:r>
            <a:endParaRPr lang="en-US" sz="1700" dirty="0"/>
          </a:p>
        </p:txBody>
      </p:sp>
      <p:sp>
        <p:nvSpPr>
          <p:cNvPr id="18" name="Text 14"/>
          <p:cNvSpPr/>
          <p:nvPr/>
        </p:nvSpPr>
        <p:spPr>
          <a:xfrm>
            <a:off x="4800600" y="4297680"/>
            <a:ext cx="3017520" cy="12801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ESA (rezago temporal) + FA (frecuencias vía Fourier).</a:t>
            </a:r>
            <a:endParaRPr lang="en-US" sz="1200" dirty="0"/>
          </a:p>
        </p:txBody>
      </p:sp>
      <p:sp>
        <p:nvSpPr>
          <p:cNvPr id="19" name="Shape 15"/>
          <p:cNvSpPr/>
          <p:nvPr/>
        </p:nvSpPr>
        <p:spPr>
          <a:xfrm>
            <a:off x="8321040" y="3200400"/>
            <a:ext cx="3657600" cy="246888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20" name="Shape 16"/>
          <p:cNvSpPr/>
          <p:nvPr/>
        </p:nvSpPr>
        <p:spPr>
          <a:xfrm>
            <a:off x="8321040" y="3200400"/>
            <a:ext cx="3657600" cy="91440"/>
          </a:xfrm>
          <a:prstGeom prst="rect">
            <a:avLst/>
          </a:prstGeom>
          <a:solidFill>
            <a:srgbClr val="1E2761"/>
          </a:solidFill>
          <a:ln/>
        </p:spPr>
        <p:txBody>
          <a:bodyPr/>
          <a:lstStyle/>
          <a:p>
            <a:endParaRPr lang="es-PE"/>
          </a:p>
        </p:txBody>
      </p:sp>
      <p:pic>
        <p:nvPicPr>
          <p:cNvPr id="21" name="Image 2" descr="preencoded.png"/>
          <p:cNvPicPr>
            <a:picLocks noChangeAspect="1"/>
          </p:cNvPicPr>
          <p:nvPr/>
        </p:nvPicPr>
        <p:blipFill>
          <a:blip r:embed="rId5"/>
          <a:stretch>
            <a:fillRect/>
          </a:stretch>
        </p:blipFill>
        <p:spPr>
          <a:xfrm>
            <a:off x="8641080" y="3566160"/>
            <a:ext cx="548640" cy="548640"/>
          </a:xfrm>
          <a:prstGeom prst="rect">
            <a:avLst/>
          </a:prstGeom>
        </p:spPr>
      </p:pic>
      <p:sp>
        <p:nvSpPr>
          <p:cNvPr id="22" name="Text 17"/>
          <p:cNvSpPr/>
          <p:nvPr/>
        </p:nvSpPr>
        <p:spPr>
          <a:xfrm>
            <a:off x="9372600" y="3566160"/>
            <a:ext cx="2468880" cy="502920"/>
          </a:xfrm>
          <a:prstGeom prst="rect">
            <a:avLst/>
          </a:prstGeom>
          <a:noFill/>
          <a:ln/>
        </p:spPr>
        <p:txBody>
          <a:bodyPr wrap="square" lIns="0" tIns="0" rIns="0" bIns="0" rtlCol="0" anchor="ctr"/>
          <a:lstStyle/>
          <a:p>
            <a:pPr marL="0" indent="0">
              <a:buNone/>
            </a:pPr>
            <a:r>
              <a:rPr lang="en-US" sz="1700" b="1" dirty="0">
                <a:solidFill>
                  <a:srgbClr val="1E2761"/>
                </a:solidFill>
                <a:latin typeface="Georgia" pitchFamily="34" charset="0"/>
                <a:ea typeface="Georgia" pitchFamily="34" charset="-122"/>
                <a:cs typeface="Georgia" pitchFamily="34" charset="-120"/>
              </a:rPr>
              <a:t>Eficiencia O(L log L)</a:t>
            </a:r>
            <a:endParaRPr lang="en-US" sz="1700" dirty="0"/>
          </a:p>
        </p:txBody>
      </p:sp>
      <p:sp>
        <p:nvSpPr>
          <p:cNvPr id="23" name="Text 18"/>
          <p:cNvSpPr/>
          <p:nvPr/>
        </p:nvSpPr>
        <p:spPr>
          <a:xfrm>
            <a:off x="8641080" y="4297680"/>
            <a:ext cx="3017520" cy="12801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Escalable a horizontes largos, manteniendo precisión.</a:t>
            </a:r>
            <a:endParaRPr lang="en-US" sz="1200" dirty="0"/>
          </a:p>
        </p:txBody>
      </p:sp>
      <p:sp>
        <p:nvSpPr>
          <p:cNvPr id="24" name="Shape 19"/>
          <p:cNvSpPr/>
          <p:nvPr/>
        </p:nvSpPr>
        <p:spPr>
          <a:xfrm>
            <a:off x="548640" y="6473952"/>
            <a:ext cx="11064240" cy="18288"/>
          </a:xfrm>
          <a:prstGeom prst="rect">
            <a:avLst/>
          </a:prstGeom>
          <a:solidFill>
            <a:srgbClr val="D1D5DB"/>
          </a:solidFill>
          <a:ln/>
        </p:spPr>
        <p:txBody>
          <a:bodyPr/>
          <a:lstStyle/>
          <a:p>
            <a:endParaRPr lang="es-PE"/>
          </a:p>
        </p:txBody>
      </p:sp>
      <p:sp>
        <p:nvSpPr>
          <p:cNvPr id="25" name="Text 20"/>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26" name="Text 21"/>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Por qué importa para una empresa eléctrica</a:t>
            </a:r>
            <a:endParaRPr lang="en-US" sz="1300" dirty="0"/>
          </a:p>
        </p:txBody>
      </p:sp>
      <p:sp>
        <p:nvSpPr>
          <p:cNvPr id="6" name="Text 4"/>
          <p:cNvSpPr/>
          <p:nvPr/>
        </p:nvSpPr>
        <p:spPr>
          <a:xfrm>
            <a:off x="640080" y="2011680"/>
            <a:ext cx="5486400" cy="41148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¿Por qué importa para el negocio?</a:t>
            </a:r>
            <a:endParaRPr lang="en-US" sz="1600" dirty="0"/>
          </a:p>
        </p:txBody>
      </p:sp>
      <p:sp>
        <p:nvSpPr>
          <p:cNvPr id="7" name="Shape 5"/>
          <p:cNvSpPr/>
          <p:nvPr/>
        </p:nvSpPr>
        <p:spPr>
          <a:xfrm>
            <a:off x="640080" y="2514600"/>
            <a:ext cx="5486400" cy="100584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8" name="Shape 6"/>
          <p:cNvSpPr/>
          <p:nvPr/>
        </p:nvSpPr>
        <p:spPr>
          <a:xfrm>
            <a:off x="640080" y="2514600"/>
            <a:ext cx="73152" cy="1005840"/>
          </a:xfrm>
          <a:prstGeom prst="rect">
            <a:avLst/>
          </a:prstGeom>
          <a:solidFill>
            <a:srgbClr val="B8860B"/>
          </a:solidFill>
          <a:ln/>
        </p:spPr>
        <p:txBody>
          <a:bodyPr/>
          <a:lstStyle/>
          <a:p>
            <a:endParaRPr lang="es-PE"/>
          </a:p>
        </p:txBody>
      </p:sp>
      <p:pic>
        <p:nvPicPr>
          <p:cNvPr id="9" name="Image 0" descr="preencoded.png"/>
          <p:cNvPicPr>
            <a:picLocks noChangeAspect="1"/>
          </p:cNvPicPr>
          <p:nvPr/>
        </p:nvPicPr>
        <p:blipFill>
          <a:blip r:embed="rId3"/>
          <a:stretch>
            <a:fillRect/>
          </a:stretch>
        </p:blipFill>
        <p:spPr>
          <a:xfrm>
            <a:off x="868680" y="2743200"/>
            <a:ext cx="502920" cy="502920"/>
          </a:xfrm>
          <a:prstGeom prst="rect">
            <a:avLst/>
          </a:prstGeom>
        </p:spPr>
      </p:pic>
      <p:sp>
        <p:nvSpPr>
          <p:cNvPr id="10" name="Text 7"/>
          <p:cNvSpPr/>
          <p:nvPr/>
        </p:nvSpPr>
        <p:spPr>
          <a:xfrm>
            <a:off x="1554480" y="2651760"/>
            <a:ext cx="438912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Planificación de la red</a:t>
            </a:r>
            <a:endParaRPr lang="en-US" sz="1400" dirty="0"/>
          </a:p>
        </p:txBody>
      </p:sp>
      <p:sp>
        <p:nvSpPr>
          <p:cNvPr id="11" name="Text 8"/>
          <p:cNvSpPr/>
          <p:nvPr/>
        </p:nvSpPr>
        <p:spPr>
          <a:xfrm>
            <a:off x="1554480" y="3017520"/>
            <a:ext cx="4389120" cy="4572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Anticipar cuántos generadores activar y a qué hora.</a:t>
            </a:r>
            <a:endParaRPr lang="en-US" sz="1200" dirty="0"/>
          </a:p>
        </p:txBody>
      </p:sp>
      <p:sp>
        <p:nvSpPr>
          <p:cNvPr id="12" name="Shape 9"/>
          <p:cNvSpPr/>
          <p:nvPr/>
        </p:nvSpPr>
        <p:spPr>
          <a:xfrm>
            <a:off x="640080" y="3657600"/>
            <a:ext cx="5486400" cy="100584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13" name="Shape 10"/>
          <p:cNvSpPr/>
          <p:nvPr/>
        </p:nvSpPr>
        <p:spPr>
          <a:xfrm>
            <a:off x="640080" y="3657600"/>
            <a:ext cx="73152" cy="1005840"/>
          </a:xfrm>
          <a:prstGeom prst="rect">
            <a:avLst/>
          </a:prstGeom>
          <a:solidFill>
            <a:srgbClr val="B8860B"/>
          </a:solidFill>
          <a:ln/>
        </p:spPr>
        <p:txBody>
          <a:bodyPr/>
          <a:lstStyle/>
          <a:p>
            <a:endParaRPr lang="es-PE"/>
          </a:p>
        </p:txBody>
      </p:sp>
      <p:pic>
        <p:nvPicPr>
          <p:cNvPr id="14" name="Image 1" descr="preencoded.png"/>
          <p:cNvPicPr>
            <a:picLocks noChangeAspect="1"/>
          </p:cNvPicPr>
          <p:nvPr/>
        </p:nvPicPr>
        <p:blipFill>
          <a:blip r:embed="rId4"/>
          <a:stretch>
            <a:fillRect/>
          </a:stretch>
        </p:blipFill>
        <p:spPr>
          <a:xfrm>
            <a:off x="868680" y="3886200"/>
            <a:ext cx="502920" cy="502920"/>
          </a:xfrm>
          <a:prstGeom prst="rect">
            <a:avLst/>
          </a:prstGeom>
        </p:spPr>
      </p:pic>
      <p:sp>
        <p:nvSpPr>
          <p:cNvPr id="15" name="Text 11"/>
          <p:cNvSpPr/>
          <p:nvPr/>
        </p:nvSpPr>
        <p:spPr>
          <a:xfrm>
            <a:off x="1554480" y="3794760"/>
            <a:ext cx="438912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Evitar apagones</a:t>
            </a:r>
            <a:endParaRPr lang="en-US" sz="1400" dirty="0"/>
          </a:p>
        </p:txBody>
      </p:sp>
      <p:sp>
        <p:nvSpPr>
          <p:cNvPr id="16" name="Text 12"/>
          <p:cNvSpPr/>
          <p:nvPr/>
        </p:nvSpPr>
        <p:spPr>
          <a:xfrm>
            <a:off x="1554480" y="4160520"/>
            <a:ext cx="4389120" cy="4572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Identificar picos de demanda antes de que rebasen la capacidad.</a:t>
            </a:r>
            <a:endParaRPr lang="en-US" sz="1200" dirty="0"/>
          </a:p>
        </p:txBody>
      </p:sp>
      <p:sp>
        <p:nvSpPr>
          <p:cNvPr id="17" name="Shape 13"/>
          <p:cNvSpPr/>
          <p:nvPr/>
        </p:nvSpPr>
        <p:spPr>
          <a:xfrm>
            <a:off x="640080" y="4800600"/>
            <a:ext cx="5486400" cy="100584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18" name="Shape 14"/>
          <p:cNvSpPr/>
          <p:nvPr/>
        </p:nvSpPr>
        <p:spPr>
          <a:xfrm>
            <a:off x="640080" y="4800600"/>
            <a:ext cx="73152" cy="1005840"/>
          </a:xfrm>
          <a:prstGeom prst="rect">
            <a:avLst/>
          </a:prstGeom>
          <a:solidFill>
            <a:srgbClr val="B8860B"/>
          </a:solidFill>
          <a:ln/>
        </p:spPr>
        <p:txBody>
          <a:bodyPr/>
          <a:lstStyle/>
          <a:p>
            <a:endParaRPr lang="es-PE"/>
          </a:p>
        </p:txBody>
      </p:sp>
      <p:pic>
        <p:nvPicPr>
          <p:cNvPr id="19" name="Image 2" descr="preencoded.png"/>
          <p:cNvPicPr>
            <a:picLocks noChangeAspect="1"/>
          </p:cNvPicPr>
          <p:nvPr/>
        </p:nvPicPr>
        <p:blipFill>
          <a:blip r:embed="rId5"/>
          <a:stretch>
            <a:fillRect/>
          </a:stretch>
        </p:blipFill>
        <p:spPr>
          <a:xfrm>
            <a:off x="868680" y="5029200"/>
            <a:ext cx="502920" cy="502920"/>
          </a:xfrm>
          <a:prstGeom prst="rect">
            <a:avLst/>
          </a:prstGeom>
        </p:spPr>
      </p:pic>
      <p:sp>
        <p:nvSpPr>
          <p:cNvPr id="20" name="Text 15"/>
          <p:cNvSpPr/>
          <p:nvPr/>
        </p:nvSpPr>
        <p:spPr>
          <a:xfrm>
            <a:off x="1554480" y="4937760"/>
            <a:ext cx="438912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Optimizar costos</a:t>
            </a:r>
            <a:endParaRPr lang="en-US" sz="1400" dirty="0"/>
          </a:p>
        </p:txBody>
      </p:sp>
      <p:sp>
        <p:nvSpPr>
          <p:cNvPr id="21" name="Text 16"/>
          <p:cNvSpPr/>
          <p:nvPr/>
        </p:nvSpPr>
        <p:spPr>
          <a:xfrm>
            <a:off x="1554480" y="5303520"/>
            <a:ext cx="4389120" cy="4572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Comprar/producir solo lo necesario; reducir desperdicio energético.</a:t>
            </a:r>
            <a:endParaRPr lang="en-US" sz="1200" dirty="0"/>
          </a:p>
        </p:txBody>
      </p:sp>
      <p:sp>
        <p:nvSpPr>
          <p:cNvPr id="22" name="Shape 17"/>
          <p:cNvSpPr/>
          <p:nvPr/>
        </p:nvSpPr>
        <p:spPr>
          <a:xfrm>
            <a:off x="6492240" y="2011680"/>
            <a:ext cx="5029200" cy="4206240"/>
          </a:xfrm>
          <a:prstGeom prst="rect">
            <a:avLst/>
          </a:prstGeom>
          <a:solidFill>
            <a:srgbClr val="1E2761"/>
          </a:solidFill>
          <a:ln/>
          <a:effectLst>
            <a:outerShdw blurRad="101600" dist="12700" dir="5400000" algn="bl" rotWithShape="0">
              <a:srgbClr val="1E2761">
                <a:alpha val="8000"/>
              </a:srgbClr>
            </a:outerShdw>
          </a:effectLst>
        </p:spPr>
        <p:txBody>
          <a:bodyPr/>
          <a:lstStyle/>
          <a:p>
            <a:endParaRPr lang="es-PE"/>
          </a:p>
        </p:txBody>
      </p:sp>
      <p:sp>
        <p:nvSpPr>
          <p:cNvPr id="23" name="Text 18"/>
          <p:cNvSpPr/>
          <p:nvPr/>
        </p:nvSpPr>
        <p:spPr>
          <a:xfrm>
            <a:off x="6675120" y="2240280"/>
            <a:ext cx="4663440" cy="320040"/>
          </a:xfrm>
          <a:prstGeom prst="rect">
            <a:avLst/>
          </a:prstGeom>
          <a:noFill/>
          <a:ln/>
        </p:spPr>
        <p:txBody>
          <a:bodyPr wrap="square" lIns="0" tIns="0" rIns="0" bIns="0" rtlCol="0" anchor="ctr"/>
          <a:lstStyle/>
          <a:p>
            <a:pPr marL="0" indent="0">
              <a:buNone/>
            </a:pPr>
            <a:r>
              <a:rPr lang="en-US" sz="1100" b="1" kern="0" spc="500" dirty="0">
                <a:solidFill>
                  <a:srgbClr val="C9A961"/>
                </a:solidFill>
                <a:latin typeface="Calibri" pitchFamily="34" charset="0"/>
                <a:ea typeface="Calibri" pitchFamily="34" charset="-122"/>
                <a:cs typeface="Calibri" pitchFamily="34" charset="-120"/>
              </a:rPr>
              <a:t>EL RETO</a:t>
            </a:r>
            <a:endParaRPr lang="en-US" sz="1100" dirty="0"/>
          </a:p>
        </p:txBody>
      </p:sp>
      <p:pic>
        <p:nvPicPr>
          <p:cNvPr id="24" name="Image 3" descr="preencoded.png"/>
          <p:cNvPicPr>
            <a:picLocks noChangeAspect="1"/>
          </p:cNvPicPr>
          <p:nvPr/>
        </p:nvPicPr>
        <p:blipFill>
          <a:blip r:embed="rId6"/>
          <a:stretch>
            <a:fillRect/>
          </a:stretch>
        </p:blipFill>
        <p:spPr>
          <a:xfrm>
            <a:off x="6675120" y="2606040"/>
            <a:ext cx="548640" cy="548640"/>
          </a:xfrm>
          <a:prstGeom prst="rect">
            <a:avLst/>
          </a:prstGeom>
        </p:spPr>
      </p:pic>
      <p:sp>
        <p:nvSpPr>
          <p:cNvPr id="25" name="Text 19"/>
          <p:cNvSpPr/>
          <p:nvPr/>
        </p:nvSpPr>
        <p:spPr>
          <a:xfrm>
            <a:off x="6675120" y="3246120"/>
            <a:ext cx="4663440" cy="868680"/>
          </a:xfrm>
          <a:prstGeom prst="rect">
            <a:avLst/>
          </a:prstGeom>
          <a:noFill/>
          <a:ln/>
        </p:spPr>
        <p:txBody>
          <a:bodyPr wrap="square" lIns="0" tIns="0" rIns="0" bIns="0" rtlCol="0" anchor="ctr"/>
          <a:lstStyle/>
          <a:p>
            <a:pPr marL="0" indent="0">
              <a:buNone/>
            </a:pPr>
            <a:r>
              <a:rPr lang="en-US" sz="1800" i="1" dirty="0">
                <a:solidFill>
                  <a:srgbClr val="FFFFFF"/>
                </a:solidFill>
                <a:latin typeface="Georgia" pitchFamily="34" charset="0"/>
                <a:ea typeface="Georgia" pitchFamily="34" charset="-122"/>
                <a:cs typeface="Georgia" pitchFamily="34" charset="-120"/>
              </a:rPr>
              <a:t>La energía no se puede guardar fácilmente.</a:t>
            </a:r>
            <a:endParaRPr lang="en-US" sz="1800" dirty="0"/>
          </a:p>
        </p:txBody>
      </p:sp>
      <p:sp>
        <p:nvSpPr>
          <p:cNvPr id="26" name="Shape 20"/>
          <p:cNvSpPr/>
          <p:nvPr/>
        </p:nvSpPr>
        <p:spPr>
          <a:xfrm>
            <a:off x="6675120" y="4160520"/>
            <a:ext cx="914400" cy="36576"/>
          </a:xfrm>
          <a:prstGeom prst="rect">
            <a:avLst/>
          </a:prstGeom>
          <a:solidFill>
            <a:srgbClr val="B8860B"/>
          </a:solidFill>
          <a:ln/>
        </p:spPr>
        <p:txBody>
          <a:bodyPr/>
          <a:lstStyle/>
          <a:p>
            <a:endParaRPr lang="es-PE"/>
          </a:p>
        </p:txBody>
      </p:sp>
      <p:sp>
        <p:nvSpPr>
          <p:cNvPr id="27" name="Text 21"/>
          <p:cNvSpPr/>
          <p:nvPr/>
        </p:nvSpPr>
        <p:spPr>
          <a:xfrm>
            <a:off x="6675120" y="4297680"/>
            <a:ext cx="4663440" cy="548640"/>
          </a:xfrm>
          <a:prstGeom prst="rect">
            <a:avLst/>
          </a:prstGeom>
          <a:noFill/>
          <a:ln/>
        </p:spPr>
        <p:txBody>
          <a:bodyPr wrap="square" lIns="0" tIns="0" rIns="0" bIns="0" rtlCol="0" anchor="ctr"/>
          <a:lstStyle/>
          <a:p>
            <a:pPr marL="0" indent="0">
              <a:buNone/>
            </a:pPr>
            <a:r>
              <a:rPr lang="en-US" sz="1300" dirty="0">
                <a:solidFill>
                  <a:srgbClr val="E8EDF5"/>
                </a:solidFill>
                <a:latin typeface="Calibri" pitchFamily="34" charset="0"/>
                <a:ea typeface="Calibri" pitchFamily="34" charset="-122"/>
                <a:cs typeface="Calibri" pitchFamily="34" charset="-120"/>
              </a:rPr>
              <a:t>Lo que se produce se consume casi en tiempo real.</a:t>
            </a:r>
            <a:endParaRPr lang="en-US" sz="1300" dirty="0"/>
          </a:p>
        </p:txBody>
      </p:sp>
      <p:sp>
        <p:nvSpPr>
          <p:cNvPr id="28" name="Text 22"/>
          <p:cNvSpPr/>
          <p:nvPr/>
        </p:nvSpPr>
        <p:spPr>
          <a:xfrm>
            <a:off x="6675120" y="4937760"/>
            <a:ext cx="4663440" cy="365760"/>
          </a:xfrm>
          <a:prstGeom prst="rect">
            <a:avLst/>
          </a:prstGeom>
          <a:noFill/>
          <a:ln/>
        </p:spPr>
        <p:txBody>
          <a:bodyPr wrap="square" lIns="0" tIns="0" rIns="0" bIns="0" rtlCol="0" anchor="ctr"/>
          <a:lstStyle/>
          <a:p>
            <a:pPr marL="0" indent="0">
              <a:buNone/>
            </a:pPr>
            <a:r>
              <a:rPr lang="en-US" sz="1200" dirty="0">
                <a:solidFill>
                  <a:srgbClr val="E8EDF5"/>
                </a:solidFill>
                <a:latin typeface="Calibri" pitchFamily="34" charset="0"/>
                <a:ea typeface="Calibri" pitchFamily="34" charset="-122"/>
                <a:cs typeface="Calibri" pitchFamily="34" charset="-120"/>
              </a:rPr>
              <a:t>Por eso predecir bien la demanda es crítico:</a:t>
            </a:r>
            <a:endParaRPr lang="en-US" sz="1200" dirty="0"/>
          </a:p>
        </p:txBody>
      </p:sp>
      <p:sp>
        <p:nvSpPr>
          <p:cNvPr id="29" name="Text 23"/>
          <p:cNvSpPr/>
          <p:nvPr/>
        </p:nvSpPr>
        <p:spPr>
          <a:xfrm>
            <a:off x="6675120" y="5257800"/>
            <a:ext cx="4663440" cy="868680"/>
          </a:xfrm>
          <a:prstGeom prst="rect">
            <a:avLst/>
          </a:prstGeom>
          <a:noFill/>
          <a:ln/>
        </p:spPr>
        <p:txBody>
          <a:bodyPr wrap="square" lIns="0" tIns="0" rIns="0" bIns="0" rtlCol="0" anchor="ctr"/>
          <a:lstStyle/>
          <a:p>
            <a:pPr marL="0" indent="0">
              <a:spcAft>
                <a:spcPts val="300"/>
              </a:spcAft>
              <a:buNone/>
            </a:pPr>
            <a:r>
              <a:rPr lang="en-US" sz="1200" dirty="0">
                <a:solidFill>
                  <a:srgbClr val="FFFFFF"/>
                </a:solidFill>
                <a:latin typeface="Calibri" pitchFamily="34" charset="0"/>
                <a:ea typeface="Calibri" pitchFamily="34" charset="-122"/>
                <a:cs typeface="Calibri" pitchFamily="34" charset="-120"/>
              </a:rPr>
              <a:t>• Más precisión = menos costos</a:t>
            </a:r>
            <a:endParaRPr lang="en-US" sz="1200" dirty="0"/>
          </a:p>
          <a:p>
            <a:pPr marL="0" indent="0">
              <a:spcAft>
                <a:spcPts val="300"/>
              </a:spcAft>
              <a:buNone/>
            </a:pPr>
            <a:r>
              <a:rPr lang="en-US" sz="1200" dirty="0">
                <a:solidFill>
                  <a:srgbClr val="FFFFFF"/>
                </a:solidFill>
                <a:latin typeface="Calibri" pitchFamily="34" charset="0"/>
                <a:ea typeface="Calibri" pitchFamily="34" charset="-122"/>
                <a:cs typeface="Calibri" pitchFamily="34" charset="-120"/>
              </a:rPr>
              <a:t>• Más anticipación = mejor servicio</a:t>
            </a:r>
            <a:endParaRPr lang="en-US" sz="1200" dirty="0"/>
          </a:p>
          <a:p>
            <a:pPr marL="0" indent="0">
              <a:spcAft>
                <a:spcPts val="300"/>
              </a:spcAft>
              <a:buNone/>
            </a:pPr>
            <a:r>
              <a:rPr lang="en-US" sz="1200" dirty="0">
                <a:solidFill>
                  <a:srgbClr val="FFFFFF"/>
                </a:solidFill>
                <a:latin typeface="Calibri" pitchFamily="34" charset="0"/>
                <a:ea typeface="Calibri" pitchFamily="34" charset="-122"/>
                <a:cs typeface="Calibri" pitchFamily="34" charset="-120"/>
              </a:rPr>
              <a:t>• Mejor decisión = más rentabilidad</a:t>
            </a:r>
            <a:endParaRPr lang="en-US" sz="1200" dirty="0"/>
          </a:p>
        </p:txBody>
      </p:sp>
      <p:sp>
        <p:nvSpPr>
          <p:cNvPr id="30" name="Shape 24"/>
          <p:cNvSpPr/>
          <p:nvPr/>
        </p:nvSpPr>
        <p:spPr>
          <a:xfrm>
            <a:off x="548640" y="6473952"/>
            <a:ext cx="11064240" cy="18288"/>
          </a:xfrm>
          <a:prstGeom prst="rect">
            <a:avLst/>
          </a:prstGeom>
          <a:solidFill>
            <a:srgbClr val="D1D5DB"/>
          </a:solidFill>
          <a:ln/>
        </p:spPr>
        <p:txBody>
          <a:bodyPr/>
          <a:lstStyle/>
          <a:p>
            <a:endParaRPr lang="es-PE"/>
          </a:p>
        </p:txBody>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Clonar </a:t>
            </a:r>
            <a:r>
              <a:rPr lang="en-US" sz="1600" b="1" dirty="0" err="1">
                <a:solidFill>
                  <a:srgbClr val="1E2761"/>
                </a:solidFill>
                <a:latin typeface="Georgia" pitchFamily="34" charset="0"/>
                <a:ea typeface="Georgia" pitchFamily="34" charset="-122"/>
                <a:cs typeface="Georgia" pitchFamily="34" charset="-120"/>
              </a:rPr>
              <a:t>ETSformer</a:t>
            </a:r>
            <a:r>
              <a:rPr lang="en-US" sz="1600" b="1" dirty="0">
                <a:solidFill>
                  <a:srgbClr val="1E2761"/>
                </a:solidFill>
                <a:latin typeface="Georgia" pitchFamily="34" charset="0"/>
                <a:ea typeface="Georgia" pitchFamily="34" charset="-122"/>
                <a:cs typeface="Georgia" pitchFamily="34" charset="-120"/>
              </a:rPr>
              <a:t> </a:t>
            </a:r>
            <a:endParaRPr lang="en-US" sz="1600" dirty="0"/>
          </a:p>
        </p:txBody>
      </p:sp>
      <p:sp>
        <p:nvSpPr>
          <p:cNvPr id="7" name="Shape 5"/>
          <p:cNvSpPr/>
          <p:nvPr/>
        </p:nvSpPr>
        <p:spPr>
          <a:xfrm>
            <a:off x="640080" y="1955554"/>
            <a:ext cx="5486400" cy="100584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8" name="Shape 6"/>
          <p:cNvSpPr/>
          <p:nvPr/>
        </p:nvSpPr>
        <p:spPr>
          <a:xfrm>
            <a:off x="640080" y="1955554"/>
            <a:ext cx="73152" cy="1005840"/>
          </a:xfrm>
          <a:prstGeom prst="rect">
            <a:avLst/>
          </a:prstGeom>
          <a:solidFill>
            <a:srgbClr val="B8860B"/>
          </a:solidFill>
          <a:ln/>
        </p:spPr>
        <p:txBody>
          <a:bodyPr/>
          <a:lstStyle/>
          <a:p>
            <a:endParaRPr lang="es-PE"/>
          </a:p>
        </p:txBody>
      </p:sp>
      <p:sp>
        <p:nvSpPr>
          <p:cNvPr id="10" name="Text 7"/>
          <p:cNvSpPr/>
          <p:nvPr/>
        </p:nvSpPr>
        <p:spPr>
          <a:xfrm>
            <a:off x="914400" y="2090502"/>
            <a:ext cx="438912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Dataset</a:t>
            </a:r>
            <a:endParaRPr lang="en-US" sz="1400" dirty="0"/>
          </a:p>
        </p:txBody>
      </p:sp>
      <p:sp>
        <p:nvSpPr>
          <p:cNvPr id="11" name="Text 8"/>
          <p:cNvSpPr/>
          <p:nvPr/>
        </p:nvSpPr>
        <p:spPr>
          <a:xfrm>
            <a:off x="914400" y="2456262"/>
            <a:ext cx="4389120" cy="457200"/>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Archivo </a:t>
            </a:r>
            <a:r>
              <a:rPr lang="es-MX" sz="1200" b="1" i="1" dirty="0">
                <a:solidFill>
                  <a:srgbClr val="4A5568"/>
                </a:solidFill>
                <a:latin typeface="Calibri" pitchFamily="34" charset="0"/>
                <a:ea typeface="Calibri" pitchFamily="34" charset="-122"/>
                <a:cs typeface="Calibri" pitchFamily="34" charset="-120"/>
              </a:rPr>
              <a:t>LD2011_2014.txt </a:t>
            </a:r>
            <a:r>
              <a:rPr lang="es-MX" sz="1200" dirty="0">
                <a:solidFill>
                  <a:srgbClr val="4A5568"/>
                </a:solidFill>
                <a:latin typeface="Calibri" pitchFamily="34" charset="0"/>
                <a:ea typeface="Calibri" pitchFamily="34" charset="-122"/>
                <a:cs typeface="Calibri" pitchFamily="34" charset="-120"/>
              </a:rPr>
              <a:t>para entrenar un modelo ETSformer.</a:t>
            </a:r>
            <a:endParaRPr lang="en-US" sz="1200" dirty="0"/>
          </a:p>
        </p:txBody>
      </p:sp>
      <p:sp>
        <p:nvSpPr>
          <p:cNvPr id="12" name="Shape 9"/>
          <p:cNvSpPr/>
          <p:nvPr/>
        </p:nvSpPr>
        <p:spPr>
          <a:xfrm>
            <a:off x="6309360" y="1965369"/>
            <a:ext cx="5486400" cy="100584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dirty="0"/>
          </a:p>
        </p:txBody>
      </p:sp>
      <p:sp>
        <p:nvSpPr>
          <p:cNvPr id="13" name="Shape 10"/>
          <p:cNvSpPr/>
          <p:nvPr/>
        </p:nvSpPr>
        <p:spPr>
          <a:xfrm>
            <a:off x="6309360" y="1965369"/>
            <a:ext cx="73152" cy="1005840"/>
          </a:xfrm>
          <a:prstGeom prst="rect">
            <a:avLst/>
          </a:prstGeom>
          <a:solidFill>
            <a:srgbClr val="B8860B"/>
          </a:solidFill>
          <a:ln/>
        </p:spPr>
        <p:txBody>
          <a:bodyPr/>
          <a:lstStyle/>
          <a:p>
            <a:endParaRPr lang="es-PE"/>
          </a:p>
        </p:txBody>
      </p:sp>
      <p:sp>
        <p:nvSpPr>
          <p:cNvPr id="15" name="Text 11"/>
          <p:cNvSpPr/>
          <p:nvPr/>
        </p:nvSpPr>
        <p:spPr>
          <a:xfrm>
            <a:off x="6583680" y="2092714"/>
            <a:ext cx="4389120" cy="365760"/>
          </a:xfrm>
          <a:prstGeom prst="rect">
            <a:avLst/>
          </a:prstGeom>
          <a:noFill/>
          <a:ln/>
        </p:spPr>
        <p:txBody>
          <a:bodyPr wrap="square" lIns="0" tIns="0" rIns="0" bIns="0" rtlCol="0" anchor="ctr"/>
          <a:lstStyle/>
          <a:p>
            <a:pPr marL="0" indent="0">
              <a:buNone/>
            </a:pPr>
            <a:r>
              <a:rPr lang="en-US" sz="1400" b="1" dirty="0" err="1">
                <a:solidFill>
                  <a:srgbClr val="1E2761"/>
                </a:solidFill>
                <a:latin typeface="Calibri" pitchFamily="34" charset="0"/>
                <a:ea typeface="Calibri" pitchFamily="34" charset="-122"/>
                <a:cs typeface="Calibri" pitchFamily="34" charset="-120"/>
              </a:rPr>
              <a:t>Modelo</a:t>
            </a:r>
            <a:endParaRPr lang="en-US" sz="1400" dirty="0"/>
          </a:p>
        </p:txBody>
      </p:sp>
      <p:sp>
        <p:nvSpPr>
          <p:cNvPr id="16" name="Text 12"/>
          <p:cNvSpPr/>
          <p:nvPr/>
        </p:nvSpPr>
        <p:spPr>
          <a:xfrm>
            <a:off x="6583680" y="2458474"/>
            <a:ext cx="5138928" cy="457200"/>
          </a:xfrm>
          <a:prstGeom prst="rect">
            <a:avLst/>
          </a:prstGeom>
          <a:noFill/>
          <a:ln/>
        </p:spPr>
        <p:txBody>
          <a:bodyPr wrap="square" lIns="0" tIns="0" rIns="0" bIns="0" rtlCol="0" anchor="ctr"/>
          <a:lstStyle/>
          <a:p>
            <a:pPr marL="0" indent="0">
              <a:buNone/>
            </a:pPr>
            <a:r>
              <a:rPr lang="es-MX" sz="1200" b="1" dirty="0">
                <a:solidFill>
                  <a:srgbClr val="4A5568"/>
                </a:solidFill>
                <a:latin typeface="Calibri" pitchFamily="34" charset="0"/>
                <a:ea typeface="Calibri" pitchFamily="34" charset="-122"/>
                <a:cs typeface="Calibri" pitchFamily="34" charset="-120"/>
              </a:rPr>
              <a:t>ETSformer</a:t>
            </a:r>
            <a:r>
              <a:rPr lang="es-MX" sz="1200" dirty="0">
                <a:solidFill>
                  <a:srgbClr val="4A5568"/>
                </a:solidFill>
                <a:latin typeface="Calibri" pitchFamily="34" charset="0"/>
                <a:ea typeface="Calibri" pitchFamily="34" charset="-122"/>
                <a:cs typeface="Calibri" pitchFamily="34" charset="-120"/>
              </a:rPr>
              <a:t> es un modelo publicado por </a:t>
            </a:r>
            <a:r>
              <a:rPr lang="es-MX" sz="1200" b="1" dirty="0">
                <a:solidFill>
                  <a:srgbClr val="4A5568"/>
                </a:solidFill>
                <a:latin typeface="Calibri" pitchFamily="34" charset="0"/>
                <a:ea typeface="Calibri" pitchFamily="34" charset="-122"/>
                <a:cs typeface="Calibri" pitchFamily="34" charset="-120"/>
              </a:rPr>
              <a:t>Salesforce </a:t>
            </a:r>
            <a:r>
              <a:rPr lang="es-MX" sz="1200" b="1" dirty="0" err="1">
                <a:solidFill>
                  <a:srgbClr val="4A5568"/>
                </a:solidFill>
                <a:latin typeface="Calibri" pitchFamily="34" charset="0"/>
                <a:ea typeface="Calibri" pitchFamily="34" charset="-122"/>
                <a:cs typeface="Calibri" pitchFamily="34" charset="-120"/>
              </a:rPr>
              <a:t>Research</a:t>
            </a:r>
            <a:r>
              <a:rPr lang="es-MX" sz="1200" dirty="0">
                <a:solidFill>
                  <a:srgbClr val="4A5568"/>
                </a:solidFill>
                <a:latin typeface="Calibri" pitchFamily="34" charset="0"/>
                <a:ea typeface="Calibri" pitchFamily="34" charset="-122"/>
                <a:cs typeface="Calibri" pitchFamily="34" charset="-120"/>
              </a:rPr>
              <a:t>. Usaremos su repositorio oficial.</a:t>
            </a:r>
            <a:endParaRPr lang="en-US" sz="1200" dirty="0"/>
          </a:p>
        </p:txBody>
      </p:sp>
      <p:sp>
        <p:nvSpPr>
          <p:cNvPr id="30" name="Shape 24"/>
          <p:cNvSpPr/>
          <p:nvPr/>
        </p:nvSpPr>
        <p:spPr>
          <a:xfrm>
            <a:off x="548640" y="6473952"/>
            <a:ext cx="11064240" cy="18288"/>
          </a:xfrm>
          <a:prstGeom prst="rect">
            <a:avLst/>
          </a:prstGeom>
          <a:solidFill>
            <a:srgbClr val="D1D5DB"/>
          </a:solidFill>
          <a:ln/>
        </p:spPr>
        <p:txBody>
          <a:bodyPr/>
          <a:lstStyle/>
          <a:p>
            <a:endParaRPr lang="es-PE"/>
          </a:p>
        </p:txBody>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34" name="Imagen 33">
            <a:extLst>
              <a:ext uri="{FF2B5EF4-FFF2-40B4-BE49-F238E27FC236}">
                <a16:creationId xmlns:a16="http://schemas.microsoft.com/office/drawing/2014/main" id="{15FF292D-76D2-400B-8901-1497F7E92500}"/>
              </a:ext>
            </a:extLst>
          </p:cNvPr>
          <p:cNvPicPr>
            <a:picLocks noChangeAspect="1"/>
          </p:cNvPicPr>
          <p:nvPr/>
        </p:nvPicPr>
        <p:blipFill>
          <a:blip r:embed="rId3"/>
          <a:stretch>
            <a:fillRect/>
          </a:stretch>
        </p:blipFill>
        <p:spPr>
          <a:xfrm>
            <a:off x="640080" y="3081986"/>
            <a:ext cx="11155680" cy="2016187"/>
          </a:xfrm>
          <a:prstGeom prst="rect">
            <a:avLst/>
          </a:prstGeom>
        </p:spPr>
      </p:pic>
      <p:pic>
        <p:nvPicPr>
          <p:cNvPr id="9" name="Imagen 8">
            <a:extLst>
              <a:ext uri="{FF2B5EF4-FFF2-40B4-BE49-F238E27FC236}">
                <a16:creationId xmlns:a16="http://schemas.microsoft.com/office/drawing/2014/main" id="{7FB1448B-32C1-47CF-91EB-4A983386BB65}"/>
              </a:ext>
            </a:extLst>
          </p:cNvPr>
          <p:cNvPicPr>
            <a:picLocks noChangeAspect="1"/>
          </p:cNvPicPr>
          <p:nvPr/>
        </p:nvPicPr>
        <p:blipFill>
          <a:blip r:embed="rId4"/>
          <a:stretch>
            <a:fillRect/>
          </a:stretch>
        </p:blipFill>
        <p:spPr>
          <a:xfrm>
            <a:off x="640080" y="5235478"/>
            <a:ext cx="11155680" cy="1099738"/>
          </a:xfrm>
          <a:prstGeom prst="rect">
            <a:avLst/>
          </a:prstGeom>
        </p:spPr>
      </p:pic>
    </p:spTree>
    <p:extLst>
      <p:ext uri="{BB962C8B-B14F-4D97-AF65-F5344CB8AC3E}">
        <p14:creationId xmlns:p14="http://schemas.microsoft.com/office/powerpoint/2010/main" val="2669246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Indicar la ubicación del archivo</a:t>
            </a:r>
            <a:endParaRPr lang="en-US" sz="1600" dirty="0"/>
          </a:p>
        </p:txBody>
      </p:sp>
      <p:sp>
        <p:nvSpPr>
          <p:cNvPr id="7" name="Shape 5"/>
          <p:cNvSpPr/>
          <p:nvPr/>
        </p:nvSpPr>
        <p:spPr>
          <a:xfrm>
            <a:off x="640080" y="1955554"/>
            <a:ext cx="5486400" cy="100584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8" name="Shape 6"/>
          <p:cNvSpPr/>
          <p:nvPr/>
        </p:nvSpPr>
        <p:spPr>
          <a:xfrm>
            <a:off x="640080" y="1955554"/>
            <a:ext cx="73152" cy="1005840"/>
          </a:xfrm>
          <a:prstGeom prst="rect">
            <a:avLst/>
          </a:prstGeom>
          <a:solidFill>
            <a:srgbClr val="B8860B"/>
          </a:solidFill>
          <a:ln/>
        </p:spPr>
        <p:txBody>
          <a:bodyPr/>
          <a:lstStyle/>
          <a:p>
            <a:endParaRPr lang="es-PE"/>
          </a:p>
        </p:txBody>
      </p:sp>
      <p:sp>
        <p:nvSpPr>
          <p:cNvPr id="10" name="Text 7"/>
          <p:cNvSpPr/>
          <p:nvPr/>
        </p:nvSpPr>
        <p:spPr>
          <a:xfrm>
            <a:off x="914400" y="2090502"/>
            <a:ext cx="4389120" cy="365760"/>
          </a:xfrm>
          <a:prstGeom prst="rect">
            <a:avLst/>
          </a:prstGeom>
          <a:noFill/>
          <a:ln/>
        </p:spPr>
        <p:txBody>
          <a:bodyPr wrap="square" lIns="0" tIns="0" rIns="0" bIns="0" rtlCol="0" anchor="ctr"/>
          <a:lstStyle/>
          <a:p>
            <a:pPr marL="0" indent="0">
              <a:buNone/>
            </a:pPr>
            <a:r>
              <a:rPr lang="en-US" sz="1400" b="1" dirty="0" err="1">
                <a:solidFill>
                  <a:srgbClr val="1E2761"/>
                </a:solidFill>
                <a:latin typeface="Calibri" pitchFamily="34" charset="0"/>
                <a:ea typeface="Calibri" pitchFamily="34" charset="-122"/>
                <a:cs typeface="Calibri" pitchFamily="34" charset="-120"/>
              </a:rPr>
              <a:t>Ubicación</a:t>
            </a:r>
            <a:endParaRPr lang="en-US" sz="1400" dirty="0"/>
          </a:p>
        </p:txBody>
      </p:sp>
      <p:sp>
        <p:nvSpPr>
          <p:cNvPr id="11" name="Text 8"/>
          <p:cNvSpPr/>
          <p:nvPr/>
        </p:nvSpPr>
        <p:spPr>
          <a:xfrm>
            <a:off x="914400" y="2456262"/>
            <a:ext cx="4389120" cy="457200"/>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Archivo </a:t>
            </a:r>
            <a:r>
              <a:rPr lang="es-MX" sz="1200" b="1" i="1" dirty="0">
                <a:solidFill>
                  <a:srgbClr val="4A5568"/>
                </a:solidFill>
                <a:latin typeface="Calibri" pitchFamily="34" charset="0"/>
                <a:ea typeface="Calibri" pitchFamily="34" charset="-122"/>
                <a:cs typeface="Calibri" pitchFamily="34" charset="-120"/>
              </a:rPr>
              <a:t>LD2011_2014.txt </a:t>
            </a:r>
            <a:r>
              <a:rPr lang="es-MX" sz="1200" dirty="0">
                <a:solidFill>
                  <a:srgbClr val="4A5568"/>
                </a:solidFill>
                <a:latin typeface="Calibri" pitchFamily="34" charset="0"/>
                <a:ea typeface="Calibri" pitchFamily="34" charset="-122"/>
                <a:cs typeface="Calibri" pitchFamily="34" charset="-120"/>
              </a:rPr>
              <a:t>ya está cargado en Unity </a:t>
            </a:r>
            <a:r>
              <a:rPr lang="es-MX" sz="1200" dirty="0" err="1">
                <a:solidFill>
                  <a:srgbClr val="4A5568"/>
                </a:solidFill>
                <a:latin typeface="Calibri" pitchFamily="34" charset="0"/>
                <a:ea typeface="Calibri" pitchFamily="34" charset="-122"/>
                <a:cs typeface="Calibri" pitchFamily="34" charset="-120"/>
              </a:rPr>
              <a:t>Catalog</a:t>
            </a:r>
            <a:r>
              <a:rPr lang="es-MX" sz="1200" dirty="0">
                <a:solidFill>
                  <a:srgbClr val="4A5568"/>
                </a:solidFill>
                <a:latin typeface="Calibri" pitchFamily="34" charset="0"/>
                <a:ea typeface="Calibri" pitchFamily="34" charset="-122"/>
                <a:cs typeface="Calibri" pitchFamily="34" charset="-120"/>
              </a:rPr>
              <a:t> </a:t>
            </a:r>
            <a:r>
              <a:rPr lang="es-MX" sz="1200" dirty="0" err="1">
                <a:solidFill>
                  <a:srgbClr val="4A5568"/>
                </a:solidFill>
                <a:latin typeface="Calibri" pitchFamily="34" charset="0"/>
                <a:ea typeface="Calibri" pitchFamily="34" charset="-122"/>
                <a:cs typeface="Calibri" pitchFamily="34" charset="-120"/>
              </a:rPr>
              <a:t>Volumes</a:t>
            </a:r>
            <a:r>
              <a:rPr lang="es-MX" sz="1200" dirty="0">
                <a:solidFill>
                  <a:srgbClr val="4A5568"/>
                </a:solidFill>
                <a:latin typeface="Calibri" pitchFamily="34" charset="0"/>
                <a:ea typeface="Calibri" pitchFamily="34" charset="-122"/>
                <a:cs typeface="Calibri" pitchFamily="34" charset="-120"/>
              </a:rPr>
              <a:t>.</a:t>
            </a:r>
            <a:endParaRPr lang="en-US" sz="1200" dirty="0"/>
          </a:p>
        </p:txBody>
      </p:sp>
      <p:sp>
        <p:nvSpPr>
          <p:cNvPr id="12" name="Shape 9"/>
          <p:cNvSpPr/>
          <p:nvPr/>
        </p:nvSpPr>
        <p:spPr>
          <a:xfrm>
            <a:off x="6309360" y="1965369"/>
            <a:ext cx="5486400" cy="100584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dirty="0"/>
          </a:p>
        </p:txBody>
      </p:sp>
      <p:sp>
        <p:nvSpPr>
          <p:cNvPr id="13" name="Shape 10"/>
          <p:cNvSpPr/>
          <p:nvPr/>
        </p:nvSpPr>
        <p:spPr>
          <a:xfrm>
            <a:off x="6309360" y="1965369"/>
            <a:ext cx="73152" cy="1005840"/>
          </a:xfrm>
          <a:prstGeom prst="rect">
            <a:avLst/>
          </a:prstGeom>
          <a:solidFill>
            <a:srgbClr val="B8860B"/>
          </a:solidFill>
          <a:ln/>
        </p:spPr>
        <p:txBody>
          <a:bodyPr/>
          <a:lstStyle/>
          <a:p>
            <a:endParaRPr lang="es-PE"/>
          </a:p>
        </p:txBody>
      </p:sp>
      <p:sp>
        <p:nvSpPr>
          <p:cNvPr id="15" name="Text 11"/>
          <p:cNvSpPr/>
          <p:nvPr/>
        </p:nvSpPr>
        <p:spPr>
          <a:xfrm>
            <a:off x="6583680" y="2092714"/>
            <a:ext cx="4389120" cy="365760"/>
          </a:xfrm>
          <a:prstGeom prst="rect">
            <a:avLst/>
          </a:prstGeom>
          <a:noFill/>
          <a:ln/>
        </p:spPr>
        <p:txBody>
          <a:bodyPr wrap="square" lIns="0" tIns="0" rIns="0" bIns="0" rtlCol="0" anchor="ctr"/>
          <a:lstStyle/>
          <a:p>
            <a:pPr marL="0" indent="0">
              <a:buNone/>
            </a:pPr>
            <a:r>
              <a:rPr lang="en-US" sz="1400" b="1" dirty="0" err="1">
                <a:solidFill>
                  <a:srgbClr val="1E2761"/>
                </a:solidFill>
                <a:latin typeface="Calibri" pitchFamily="34" charset="0"/>
                <a:ea typeface="Calibri" pitchFamily="34" charset="-122"/>
                <a:cs typeface="Calibri" pitchFamily="34" charset="-120"/>
              </a:rPr>
              <a:t>Ruta</a:t>
            </a:r>
            <a:endParaRPr lang="en-US" sz="1400" dirty="0"/>
          </a:p>
        </p:txBody>
      </p:sp>
      <p:sp>
        <p:nvSpPr>
          <p:cNvPr id="16" name="Text 12"/>
          <p:cNvSpPr/>
          <p:nvPr/>
        </p:nvSpPr>
        <p:spPr>
          <a:xfrm>
            <a:off x="6583680" y="2458474"/>
            <a:ext cx="5138928" cy="4572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La </a:t>
            </a:r>
            <a:r>
              <a:rPr lang="en-US" sz="1200" dirty="0" err="1">
                <a:solidFill>
                  <a:srgbClr val="4A5568"/>
                </a:solidFill>
                <a:latin typeface="Calibri" pitchFamily="34" charset="0"/>
                <a:ea typeface="Calibri" pitchFamily="34" charset="-122"/>
                <a:cs typeface="Calibri" pitchFamily="34" charset="-120"/>
              </a:rPr>
              <a:t>ruta</a:t>
            </a:r>
            <a:r>
              <a:rPr lang="en-US" sz="1200" dirty="0">
                <a:solidFill>
                  <a:srgbClr val="4A5568"/>
                </a:solidFill>
                <a:latin typeface="Calibri" pitchFamily="34" charset="0"/>
                <a:ea typeface="Calibri" pitchFamily="34" charset="-122"/>
                <a:cs typeface="Calibri" pitchFamily="34" charset="-120"/>
              </a:rPr>
              <a:t> para </a:t>
            </a:r>
            <a:r>
              <a:rPr lang="en-US" sz="1200" dirty="0" err="1">
                <a:solidFill>
                  <a:srgbClr val="4A5568"/>
                </a:solidFill>
                <a:latin typeface="Calibri" pitchFamily="34" charset="0"/>
                <a:ea typeface="Calibri" pitchFamily="34" charset="-122"/>
                <a:cs typeface="Calibri" pitchFamily="34" charset="-120"/>
              </a:rPr>
              <a:t>aplicar</a:t>
            </a:r>
            <a:r>
              <a:rPr lang="en-US" sz="1200" dirty="0">
                <a:solidFill>
                  <a:srgbClr val="4A5568"/>
                </a:solidFill>
                <a:latin typeface="Calibri" pitchFamily="34" charset="0"/>
                <a:ea typeface="Calibri" pitchFamily="34" charset="-122"/>
                <a:cs typeface="Calibri" pitchFamily="34" charset="-120"/>
              </a:rPr>
              <a:t> pandas es </a:t>
            </a:r>
            <a:r>
              <a:rPr lang="en-US" sz="1200" b="1" dirty="0">
                <a:solidFill>
                  <a:srgbClr val="4A5568"/>
                </a:solidFill>
                <a:latin typeface="Calibri" pitchFamily="34" charset="0"/>
                <a:ea typeface="Calibri" pitchFamily="34" charset="-122"/>
                <a:cs typeface="Calibri" pitchFamily="34" charset="-120"/>
              </a:rPr>
              <a:t>/Volumes/workspace/</a:t>
            </a:r>
            <a:r>
              <a:rPr lang="en-US" sz="1200" b="1" dirty="0" err="1">
                <a:solidFill>
                  <a:srgbClr val="4A5568"/>
                </a:solidFill>
                <a:latin typeface="Calibri" pitchFamily="34" charset="0"/>
                <a:ea typeface="Calibri" pitchFamily="34" charset="-122"/>
                <a:cs typeface="Calibri" pitchFamily="34" charset="-120"/>
              </a:rPr>
              <a:t>etsformer</a:t>
            </a:r>
            <a:r>
              <a:rPr lang="en-US" sz="1200" b="1" dirty="0">
                <a:solidFill>
                  <a:srgbClr val="4A5568"/>
                </a:solidFill>
                <a:latin typeface="Calibri" pitchFamily="34" charset="0"/>
                <a:ea typeface="Calibri" pitchFamily="34" charset="-122"/>
                <a:cs typeface="Calibri" pitchFamily="34" charset="-120"/>
              </a:rPr>
              <a:t>/</a:t>
            </a:r>
            <a:r>
              <a:rPr lang="en-US" sz="1200" b="1" dirty="0" err="1">
                <a:solidFill>
                  <a:srgbClr val="4A5568"/>
                </a:solidFill>
                <a:latin typeface="Calibri" pitchFamily="34" charset="0"/>
                <a:ea typeface="Calibri" pitchFamily="34" charset="-122"/>
                <a:cs typeface="Calibri" pitchFamily="34" charset="-120"/>
              </a:rPr>
              <a:t>raw_files</a:t>
            </a:r>
            <a:r>
              <a:rPr lang="en-US" sz="1200" b="1" dirty="0">
                <a:solidFill>
                  <a:srgbClr val="4A5568"/>
                </a:solidFill>
                <a:latin typeface="Calibri" pitchFamily="34" charset="0"/>
                <a:ea typeface="Calibri" pitchFamily="34" charset="-122"/>
                <a:cs typeface="Calibri" pitchFamily="34" charset="-120"/>
              </a:rPr>
              <a:t>/LD2011_2014.txt</a:t>
            </a:r>
            <a:endParaRPr lang="en-US" sz="1200" dirty="0"/>
          </a:p>
        </p:txBody>
      </p:sp>
      <p:sp>
        <p:nvSpPr>
          <p:cNvPr id="30" name="Shape 24"/>
          <p:cNvSpPr/>
          <p:nvPr/>
        </p:nvSpPr>
        <p:spPr>
          <a:xfrm>
            <a:off x="548640" y="6473952"/>
            <a:ext cx="11064240" cy="18288"/>
          </a:xfrm>
          <a:prstGeom prst="rect">
            <a:avLst/>
          </a:prstGeom>
          <a:solidFill>
            <a:srgbClr val="D1D5DB"/>
          </a:solidFill>
          <a:ln/>
        </p:spPr>
        <p:txBody>
          <a:bodyPr/>
          <a:lstStyle/>
          <a:p>
            <a:endParaRPr lang="es-PE"/>
          </a:p>
        </p:txBody>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14" name="Imagen 13">
            <a:extLst>
              <a:ext uri="{FF2B5EF4-FFF2-40B4-BE49-F238E27FC236}">
                <a16:creationId xmlns:a16="http://schemas.microsoft.com/office/drawing/2014/main" id="{FC2F7408-B868-41A6-9109-67B13DA4A22A}"/>
              </a:ext>
            </a:extLst>
          </p:cNvPr>
          <p:cNvPicPr>
            <a:picLocks noChangeAspect="1"/>
          </p:cNvPicPr>
          <p:nvPr/>
        </p:nvPicPr>
        <p:blipFill>
          <a:blip r:embed="rId3"/>
          <a:stretch>
            <a:fillRect/>
          </a:stretch>
        </p:blipFill>
        <p:spPr>
          <a:xfrm>
            <a:off x="640081" y="3091099"/>
            <a:ext cx="9401542" cy="3126821"/>
          </a:xfrm>
          <a:prstGeom prst="rect">
            <a:avLst/>
          </a:prstGeom>
        </p:spPr>
      </p:pic>
    </p:spTree>
    <p:extLst>
      <p:ext uri="{BB962C8B-B14F-4D97-AF65-F5344CB8AC3E}">
        <p14:creationId xmlns:p14="http://schemas.microsoft.com/office/powerpoint/2010/main" val="507645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Cargar el </a:t>
            </a:r>
            <a:r>
              <a:rPr lang="es-MX" sz="1600" b="1" dirty="0" err="1">
                <a:solidFill>
                  <a:srgbClr val="1E2761"/>
                </a:solidFill>
                <a:latin typeface="Georgia" pitchFamily="34" charset="0"/>
                <a:ea typeface="Georgia" pitchFamily="34" charset="-122"/>
                <a:cs typeface="Georgia" pitchFamily="34" charset="-120"/>
              </a:rPr>
              <a:t>dataset</a:t>
            </a:r>
            <a:r>
              <a:rPr lang="es-MX" sz="1600" b="1" dirty="0">
                <a:solidFill>
                  <a:srgbClr val="1E2761"/>
                </a:solidFill>
                <a:latin typeface="Georgia" pitchFamily="34" charset="0"/>
                <a:ea typeface="Georgia" pitchFamily="34" charset="-122"/>
                <a:cs typeface="Georgia" pitchFamily="34" charset="-120"/>
              </a:rPr>
              <a:t> completo</a:t>
            </a:r>
            <a:endParaRPr lang="en-US" sz="1600" dirty="0"/>
          </a:p>
        </p:txBody>
      </p:sp>
      <p:sp>
        <p:nvSpPr>
          <p:cNvPr id="30" name="Shape 24"/>
          <p:cNvSpPr/>
          <p:nvPr/>
        </p:nvSpPr>
        <p:spPr>
          <a:xfrm>
            <a:off x="548640" y="6473952"/>
            <a:ext cx="11064240" cy="18288"/>
          </a:xfrm>
          <a:prstGeom prst="rect">
            <a:avLst/>
          </a:prstGeom>
          <a:solidFill>
            <a:srgbClr val="D1D5DB"/>
          </a:solidFill>
          <a:ln/>
        </p:spPr>
        <p:txBody>
          <a:bodyPr/>
          <a:lstStyle/>
          <a:p>
            <a:endParaRPr lang="es-PE"/>
          </a:p>
        </p:txBody>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9" name="Imagen 8">
            <a:extLst>
              <a:ext uri="{FF2B5EF4-FFF2-40B4-BE49-F238E27FC236}">
                <a16:creationId xmlns:a16="http://schemas.microsoft.com/office/drawing/2014/main" id="{65603A81-4A05-4174-B410-9BE8B606AD77}"/>
              </a:ext>
            </a:extLst>
          </p:cNvPr>
          <p:cNvPicPr>
            <a:picLocks noChangeAspect="1"/>
          </p:cNvPicPr>
          <p:nvPr/>
        </p:nvPicPr>
        <p:blipFill rotWithShape="1">
          <a:blip r:embed="rId3"/>
          <a:srcRect r="49136"/>
          <a:stretch/>
        </p:blipFill>
        <p:spPr>
          <a:xfrm>
            <a:off x="6230363" y="1955554"/>
            <a:ext cx="5382517" cy="2907709"/>
          </a:xfrm>
          <a:prstGeom prst="rect">
            <a:avLst/>
          </a:prstGeom>
        </p:spPr>
      </p:pic>
      <p:sp>
        <p:nvSpPr>
          <p:cNvPr id="20" name="Shape 5">
            <a:extLst>
              <a:ext uri="{FF2B5EF4-FFF2-40B4-BE49-F238E27FC236}">
                <a16:creationId xmlns:a16="http://schemas.microsoft.com/office/drawing/2014/main" id="{AE698763-B2CB-4466-8CBD-324D512396CF}"/>
              </a:ext>
            </a:extLst>
          </p:cNvPr>
          <p:cNvSpPr/>
          <p:nvPr/>
        </p:nvSpPr>
        <p:spPr>
          <a:xfrm>
            <a:off x="640080" y="1955554"/>
            <a:ext cx="5486400" cy="2297664"/>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21" name="Shape 6">
            <a:extLst>
              <a:ext uri="{FF2B5EF4-FFF2-40B4-BE49-F238E27FC236}">
                <a16:creationId xmlns:a16="http://schemas.microsoft.com/office/drawing/2014/main" id="{6A6F679D-CEFB-4356-B127-52D7D9ECC69F}"/>
              </a:ext>
            </a:extLst>
          </p:cNvPr>
          <p:cNvSpPr/>
          <p:nvPr/>
        </p:nvSpPr>
        <p:spPr>
          <a:xfrm>
            <a:off x="640080" y="1955554"/>
            <a:ext cx="73152" cy="2297664"/>
          </a:xfrm>
          <a:prstGeom prst="rect">
            <a:avLst/>
          </a:prstGeom>
          <a:solidFill>
            <a:srgbClr val="B8860B"/>
          </a:solidFill>
          <a:ln/>
        </p:spPr>
        <p:txBody>
          <a:bodyPr/>
          <a:lstStyle/>
          <a:p>
            <a:endParaRPr lang="es-PE"/>
          </a:p>
        </p:txBody>
      </p:sp>
      <p:sp>
        <p:nvSpPr>
          <p:cNvPr id="22" name="Text 7">
            <a:extLst>
              <a:ext uri="{FF2B5EF4-FFF2-40B4-BE49-F238E27FC236}">
                <a16:creationId xmlns:a16="http://schemas.microsoft.com/office/drawing/2014/main" id="{17F01A77-C88C-430A-B57C-58B563FDDC02}"/>
              </a:ext>
            </a:extLst>
          </p:cNvPr>
          <p:cNvSpPr/>
          <p:nvPr/>
        </p:nvSpPr>
        <p:spPr>
          <a:xfrm>
            <a:off x="914400" y="2090502"/>
            <a:ext cx="4389120" cy="300360"/>
          </a:xfrm>
          <a:prstGeom prst="rect">
            <a:avLst/>
          </a:prstGeom>
          <a:noFill/>
          <a:ln/>
        </p:spPr>
        <p:txBody>
          <a:bodyPr wrap="square" lIns="0" tIns="0" rIns="0" bIns="0" rtlCol="0" anchor="ctr"/>
          <a:lstStyle/>
          <a:p>
            <a:pPr marL="0" indent="0">
              <a:buNone/>
            </a:pPr>
            <a:r>
              <a:rPr lang="en-US" sz="1400" b="1" dirty="0" err="1">
                <a:solidFill>
                  <a:srgbClr val="1E2761"/>
                </a:solidFill>
                <a:latin typeface="Calibri" pitchFamily="34" charset="0"/>
                <a:ea typeface="Calibri" pitchFamily="34" charset="-122"/>
                <a:cs typeface="Calibri" pitchFamily="34" charset="-120"/>
              </a:rPr>
              <a:t>Características</a:t>
            </a:r>
            <a:r>
              <a:rPr lang="en-US" sz="1400" b="1" dirty="0">
                <a:solidFill>
                  <a:srgbClr val="1E2761"/>
                </a:solidFill>
                <a:latin typeface="Calibri" pitchFamily="34" charset="0"/>
                <a:ea typeface="Calibri" pitchFamily="34" charset="-122"/>
                <a:cs typeface="Calibri" pitchFamily="34" charset="-120"/>
              </a:rPr>
              <a:t> del </a:t>
            </a:r>
            <a:r>
              <a:rPr lang="en-US" sz="1400" b="1" dirty="0" err="1">
                <a:solidFill>
                  <a:srgbClr val="1E2761"/>
                </a:solidFill>
                <a:latin typeface="Calibri" pitchFamily="34" charset="0"/>
                <a:ea typeface="Calibri" pitchFamily="34" charset="-122"/>
                <a:cs typeface="Calibri" pitchFamily="34" charset="-120"/>
              </a:rPr>
              <a:t>archivo</a:t>
            </a:r>
            <a:endParaRPr lang="en-US" sz="1400" dirty="0"/>
          </a:p>
        </p:txBody>
      </p:sp>
      <p:sp>
        <p:nvSpPr>
          <p:cNvPr id="23" name="Text 8">
            <a:extLst>
              <a:ext uri="{FF2B5EF4-FFF2-40B4-BE49-F238E27FC236}">
                <a16:creationId xmlns:a16="http://schemas.microsoft.com/office/drawing/2014/main" id="{BDA2F796-B442-408C-84FB-CE459006B483}"/>
              </a:ext>
            </a:extLst>
          </p:cNvPr>
          <p:cNvSpPr/>
          <p:nvPr/>
        </p:nvSpPr>
        <p:spPr>
          <a:xfrm>
            <a:off x="914400" y="2462715"/>
            <a:ext cx="4389120" cy="1294938"/>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El archivo tiene estas características:</a:t>
            </a:r>
          </a:p>
          <a:p>
            <a:pPr marL="0" indent="0">
              <a:buNone/>
            </a:pPr>
            <a:endParaRPr lang="es-MX" sz="1200" dirty="0">
              <a:solidFill>
                <a:srgbClr val="4A5568"/>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s-MX" sz="1200" dirty="0">
                <a:solidFill>
                  <a:srgbClr val="4A5568"/>
                </a:solidFill>
                <a:latin typeface="Calibri" pitchFamily="34" charset="0"/>
                <a:ea typeface="Calibri" pitchFamily="34" charset="-122"/>
                <a:cs typeface="Calibri" pitchFamily="34" charset="-120"/>
              </a:rPr>
              <a:t>Separador de columnas: ;</a:t>
            </a:r>
          </a:p>
          <a:p>
            <a:pPr marL="171450" indent="-171450">
              <a:buFont typeface="Arial" panose="020B0604020202020204" pitchFamily="34" charset="0"/>
              <a:buChar char="•"/>
            </a:pPr>
            <a:r>
              <a:rPr lang="es-MX" sz="1200" dirty="0">
                <a:solidFill>
                  <a:srgbClr val="4A5568"/>
                </a:solidFill>
                <a:latin typeface="Calibri" pitchFamily="34" charset="0"/>
                <a:ea typeface="Calibri" pitchFamily="34" charset="-122"/>
                <a:cs typeface="Calibri" pitchFamily="34" charset="-120"/>
              </a:rPr>
              <a:t>Decimal europeo: ,</a:t>
            </a:r>
          </a:p>
          <a:p>
            <a:pPr marL="171450" indent="-171450">
              <a:buFont typeface="Arial" panose="020B0604020202020204" pitchFamily="34" charset="0"/>
              <a:buChar char="•"/>
            </a:pPr>
            <a:r>
              <a:rPr lang="es-MX" sz="1200" dirty="0">
                <a:solidFill>
                  <a:srgbClr val="4A5568"/>
                </a:solidFill>
                <a:latin typeface="Calibri" pitchFamily="34" charset="0"/>
                <a:ea typeface="Calibri" pitchFamily="34" charset="-122"/>
                <a:cs typeface="Calibri" pitchFamily="34" charset="-120"/>
              </a:rPr>
              <a:t>Primera columna: fecha/hora</a:t>
            </a:r>
          </a:p>
          <a:p>
            <a:pPr marL="171450" indent="-171450">
              <a:buFont typeface="Arial" panose="020B0604020202020204" pitchFamily="34" charset="0"/>
              <a:buChar char="•"/>
            </a:pPr>
            <a:r>
              <a:rPr lang="es-MX" sz="1200" dirty="0">
                <a:solidFill>
                  <a:srgbClr val="4A5568"/>
                </a:solidFill>
                <a:latin typeface="Calibri" pitchFamily="34" charset="0"/>
                <a:ea typeface="Calibri" pitchFamily="34" charset="-122"/>
                <a:cs typeface="Calibri" pitchFamily="34" charset="-120"/>
              </a:rPr>
              <a:t>Columnas restantes: clientes eléctricos</a:t>
            </a:r>
          </a:p>
          <a:p>
            <a:pPr marL="0" indent="0">
              <a:buNone/>
            </a:pPr>
            <a:endParaRPr lang="es-MX" sz="1200" dirty="0">
              <a:solidFill>
                <a:srgbClr val="4A5568"/>
              </a:solidFill>
              <a:latin typeface="Calibri" pitchFamily="34" charset="0"/>
              <a:ea typeface="Calibri" pitchFamily="34" charset="-122"/>
              <a:cs typeface="Calibri" pitchFamily="34" charset="-120"/>
            </a:endParaRPr>
          </a:p>
          <a:p>
            <a:pPr marL="0" indent="0">
              <a:buNone/>
            </a:pPr>
            <a:r>
              <a:rPr lang="es-MX" sz="1200" dirty="0">
                <a:solidFill>
                  <a:srgbClr val="4A5568"/>
                </a:solidFill>
                <a:latin typeface="Calibri" pitchFamily="34" charset="0"/>
                <a:ea typeface="Calibri" pitchFamily="34" charset="-122"/>
                <a:cs typeface="Calibri" pitchFamily="34" charset="-120"/>
              </a:rPr>
              <a:t>Cada fila representa una medición cada 15 minutos.</a:t>
            </a:r>
            <a:endParaRPr lang="en-US" sz="1200" dirty="0"/>
          </a:p>
        </p:txBody>
      </p:sp>
      <p:pic>
        <p:nvPicPr>
          <p:cNvPr id="18" name="Imagen 17">
            <a:extLst>
              <a:ext uri="{FF2B5EF4-FFF2-40B4-BE49-F238E27FC236}">
                <a16:creationId xmlns:a16="http://schemas.microsoft.com/office/drawing/2014/main" id="{8BF7F04B-A5DE-4FF3-AF09-6B3C648A5FC0}"/>
              </a:ext>
            </a:extLst>
          </p:cNvPr>
          <p:cNvPicPr>
            <a:picLocks noChangeAspect="1"/>
          </p:cNvPicPr>
          <p:nvPr/>
        </p:nvPicPr>
        <p:blipFill>
          <a:blip r:embed="rId4"/>
          <a:stretch>
            <a:fillRect/>
          </a:stretch>
        </p:blipFill>
        <p:spPr>
          <a:xfrm>
            <a:off x="914400" y="4388166"/>
            <a:ext cx="1754693" cy="1790503"/>
          </a:xfrm>
          <a:prstGeom prst="rect">
            <a:avLst/>
          </a:prstGeom>
        </p:spPr>
      </p:pic>
    </p:spTree>
    <p:extLst>
      <p:ext uri="{BB962C8B-B14F-4D97-AF65-F5344CB8AC3E}">
        <p14:creationId xmlns:p14="http://schemas.microsoft.com/office/powerpoint/2010/main" val="206623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Procesar la columna de fecha</a:t>
            </a:r>
            <a:endParaRPr lang="en-US" sz="1600" dirty="0"/>
          </a:p>
        </p:txBody>
      </p:sp>
      <p:sp>
        <p:nvSpPr>
          <p:cNvPr id="30" name="Shape 24"/>
          <p:cNvSpPr/>
          <p:nvPr/>
        </p:nvSpPr>
        <p:spPr>
          <a:xfrm>
            <a:off x="548640" y="6473952"/>
            <a:ext cx="11064240" cy="18288"/>
          </a:xfrm>
          <a:prstGeom prst="rect">
            <a:avLst/>
          </a:prstGeom>
          <a:solidFill>
            <a:srgbClr val="D1D5DB"/>
          </a:solidFill>
          <a:ln/>
        </p:spPr>
        <p:txBody>
          <a:bodyPr/>
          <a:lstStyle/>
          <a:p>
            <a:endParaRPr lang="es-PE"/>
          </a:p>
        </p:txBody>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sp>
        <p:nvSpPr>
          <p:cNvPr id="20" name="Shape 5">
            <a:extLst>
              <a:ext uri="{FF2B5EF4-FFF2-40B4-BE49-F238E27FC236}">
                <a16:creationId xmlns:a16="http://schemas.microsoft.com/office/drawing/2014/main" id="{AE698763-B2CB-4466-8CBD-324D512396CF}"/>
              </a:ext>
            </a:extLst>
          </p:cNvPr>
          <p:cNvSpPr/>
          <p:nvPr/>
        </p:nvSpPr>
        <p:spPr>
          <a:xfrm>
            <a:off x="640080" y="1955554"/>
            <a:ext cx="4821153" cy="962785"/>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21" name="Shape 6">
            <a:extLst>
              <a:ext uri="{FF2B5EF4-FFF2-40B4-BE49-F238E27FC236}">
                <a16:creationId xmlns:a16="http://schemas.microsoft.com/office/drawing/2014/main" id="{6A6F679D-CEFB-4356-B127-52D7D9ECC69F}"/>
              </a:ext>
            </a:extLst>
          </p:cNvPr>
          <p:cNvSpPr/>
          <p:nvPr/>
        </p:nvSpPr>
        <p:spPr>
          <a:xfrm>
            <a:off x="640080" y="1955554"/>
            <a:ext cx="73152" cy="962785"/>
          </a:xfrm>
          <a:prstGeom prst="rect">
            <a:avLst/>
          </a:prstGeom>
          <a:solidFill>
            <a:srgbClr val="B8860B"/>
          </a:solidFill>
          <a:ln/>
        </p:spPr>
        <p:txBody>
          <a:bodyPr/>
          <a:lstStyle/>
          <a:p>
            <a:endParaRPr lang="es-PE"/>
          </a:p>
        </p:txBody>
      </p:sp>
      <p:sp>
        <p:nvSpPr>
          <p:cNvPr id="23" name="Text 8">
            <a:extLst>
              <a:ext uri="{FF2B5EF4-FFF2-40B4-BE49-F238E27FC236}">
                <a16:creationId xmlns:a16="http://schemas.microsoft.com/office/drawing/2014/main" id="{BDA2F796-B442-408C-84FB-CE459006B483}"/>
              </a:ext>
            </a:extLst>
          </p:cNvPr>
          <p:cNvSpPr/>
          <p:nvPr/>
        </p:nvSpPr>
        <p:spPr>
          <a:xfrm>
            <a:off x="914400" y="2003085"/>
            <a:ext cx="4389120" cy="867721"/>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Para trabajar con series temporales y realizar *</a:t>
            </a:r>
            <a:r>
              <a:rPr lang="es-MX" sz="1200" dirty="0" err="1">
                <a:solidFill>
                  <a:srgbClr val="4A5568"/>
                </a:solidFill>
                <a:latin typeface="Calibri" pitchFamily="34" charset="0"/>
                <a:ea typeface="Calibri" pitchFamily="34" charset="-122"/>
                <a:cs typeface="Calibri" pitchFamily="34" charset="-120"/>
              </a:rPr>
              <a:t>forecasting</a:t>
            </a:r>
            <a:r>
              <a:rPr lang="es-MX" sz="1200" dirty="0">
                <a:solidFill>
                  <a:srgbClr val="4A5568"/>
                </a:solidFill>
                <a:latin typeface="Calibri" pitchFamily="34" charset="0"/>
                <a:ea typeface="Calibri" pitchFamily="34" charset="-122"/>
                <a:cs typeface="Calibri" pitchFamily="34" charset="-120"/>
              </a:rPr>
              <a:t>*, es indispensable convertir las fechas a formato real y mantener un orden cronológico estricto, ya que la predicción depende directamente de la secuencia histórica de los datos.</a:t>
            </a:r>
            <a:endParaRPr lang="en-US" sz="1200" dirty="0"/>
          </a:p>
        </p:txBody>
      </p:sp>
      <p:pic>
        <p:nvPicPr>
          <p:cNvPr id="10" name="Imagen 9">
            <a:extLst>
              <a:ext uri="{FF2B5EF4-FFF2-40B4-BE49-F238E27FC236}">
                <a16:creationId xmlns:a16="http://schemas.microsoft.com/office/drawing/2014/main" id="{C8D0586C-13C2-4C43-8A17-3CC471C5A0E2}"/>
              </a:ext>
            </a:extLst>
          </p:cNvPr>
          <p:cNvPicPr>
            <a:picLocks noChangeAspect="1"/>
          </p:cNvPicPr>
          <p:nvPr/>
        </p:nvPicPr>
        <p:blipFill>
          <a:blip r:embed="rId3"/>
          <a:stretch>
            <a:fillRect/>
          </a:stretch>
        </p:blipFill>
        <p:spPr>
          <a:xfrm>
            <a:off x="625539" y="3118787"/>
            <a:ext cx="10895901" cy="3099133"/>
          </a:xfrm>
          <a:prstGeom prst="rect">
            <a:avLst/>
          </a:prstGeom>
        </p:spPr>
      </p:pic>
    </p:spTree>
    <p:extLst>
      <p:ext uri="{BB962C8B-B14F-4D97-AF65-F5344CB8AC3E}">
        <p14:creationId xmlns:p14="http://schemas.microsoft.com/office/powerpoint/2010/main" val="2427883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6" name="Text 4"/>
          <p:cNvSpPr/>
          <p:nvPr/>
        </p:nvSpPr>
        <p:spPr>
          <a:xfrm>
            <a:off x="625539" y="1455555"/>
            <a:ext cx="4835695"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Convertir los valores a formato numérico</a:t>
            </a:r>
            <a:endParaRPr lang="en-US" sz="1600" dirty="0"/>
          </a:p>
        </p:txBody>
      </p:sp>
      <p:sp>
        <p:nvSpPr>
          <p:cNvPr id="30" name="Shape 24"/>
          <p:cNvSpPr/>
          <p:nvPr/>
        </p:nvSpPr>
        <p:spPr>
          <a:xfrm>
            <a:off x="548640" y="6473952"/>
            <a:ext cx="11064240" cy="18288"/>
          </a:xfrm>
          <a:prstGeom prst="rect">
            <a:avLst/>
          </a:prstGeom>
          <a:solidFill>
            <a:srgbClr val="D1D5DB"/>
          </a:solidFill>
          <a:ln/>
        </p:spPr>
        <p:txBody>
          <a:bodyPr/>
          <a:lstStyle/>
          <a:p>
            <a:endParaRPr lang="es-PE"/>
          </a:p>
        </p:txBody>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sp>
        <p:nvSpPr>
          <p:cNvPr id="20" name="Shape 5">
            <a:extLst>
              <a:ext uri="{FF2B5EF4-FFF2-40B4-BE49-F238E27FC236}">
                <a16:creationId xmlns:a16="http://schemas.microsoft.com/office/drawing/2014/main" id="{AE698763-B2CB-4466-8CBD-324D512396CF}"/>
              </a:ext>
            </a:extLst>
          </p:cNvPr>
          <p:cNvSpPr/>
          <p:nvPr/>
        </p:nvSpPr>
        <p:spPr>
          <a:xfrm>
            <a:off x="640080" y="1955554"/>
            <a:ext cx="4821153" cy="898376"/>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21" name="Shape 6">
            <a:extLst>
              <a:ext uri="{FF2B5EF4-FFF2-40B4-BE49-F238E27FC236}">
                <a16:creationId xmlns:a16="http://schemas.microsoft.com/office/drawing/2014/main" id="{6A6F679D-CEFB-4356-B127-52D7D9ECC69F}"/>
              </a:ext>
            </a:extLst>
          </p:cNvPr>
          <p:cNvSpPr/>
          <p:nvPr/>
        </p:nvSpPr>
        <p:spPr>
          <a:xfrm>
            <a:off x="640080" y="1955554"/>
            <a:ext cx="73152" cy="898376"/>
          </a:xfrm>
          <a:prstGeom prst="rect">
            <a:avLst/>
          </a:prstGeom>
          <a:solidFill>
            <a:srgbClr val="B8860B"/>
          </a:solidFill>
          <a:ln/>
        </p:spPr>
        <p:txBody>
          <a:bodyPr/>
          <a:lstStyle/>
          <a:p>
            <a:endParaRPr lang="es-PE"/>
          </a:p>
        </p:txBody>
      </p:sp>
      <p:sp>
        <p:nvSpPr>
          <p:cNvPr id="23" name="Text 8">
            <a:extLst>
              <a:ext uri="{FF2B5EF4-FFF2-40B4-BE49-F238E27FC236}">
                <a16:creationId xmlns:a16="http://schemas.microsoft.com/office/drawing/2014/main" id="{BDA2F796-B442-408C-84FB-CE459006B483}"/>
              </a:ext>
            </a:extLst>
          </p:cNvPr>
          <p:cNvSpPr/>
          <p:nvPr/>
        </p:nvSpPr>
        <p:spPr>
          <a:xfrm>
            <a:off x="868680" y="2132547"/>
            <a:ext cx="4389120" cy="633680"/>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Algunos valores pueden ser leídos como texto. Convertimos todas las columnas de consumo a valores numéricos para que puedan ser usadas por el modelo.</a:t>
            </a:r>
            <a:endParaRPr lang="en-US" sz="1200" dirty="0"/>
          </a:p>
        </p:txBody>
      </p:sp>
      <p:pic>
        <p:nvPicPr>
          <p:cNvPr id="7" name="Imagen 6">
            <a:extLst>
              <a:ext uri="{FF2B5EF4-FFF2-40B4-BE49-F238E27FC236}">
                <a16:creationId xmlns:a16="http://schemas.microsoft.com/office/drawing/2014/main" id="{78F7DB0A-FFA2-4FC3-AFF3-FFD975B2128B}"/>
              </a:ext>
            </a:extLst>
          </p:cNvPr>
          <p:cNvPicPr>
            <a:picLocks noChangeAspect="1"/>
          </p:cNvPicPr>
          <p:nvPr/>
        </p:nvPicPr>
        <p:blipFill rotWithShape="1">
          <a:blip r:embed="rId3"/>
          <a:srcRect r="49285"/>
          <a:stretch/>
        </p:blipFill>
        <p:spPr>
          <a:xfrm>
            <a:off x="625540" y="3043013"/>
            <a:ext cx="4835694" cy="2042711"/>
          </a:xfrm>
          <a:prstGeom prst="rect">
            <a:avLst/>
          </a:prstGeom>
        </p:spPr>
      </p:pic>
      <p:sp>
        <p:nvSpPr>
          <p:cNvPr id="15" name="Text 4">
            <a:extLst>
              <a:ext uri="{FF2B5EF4-FFF2-40B4-BE49-F238E27FC236}">
                <a16:creationId xmlns:a16="http://schemas.microsoft.com/office/drawing/2014/main" id="{5F8047F8-64E1-4218-8F49-424A546A1A9C}"/>
              </a:ext>
            </a:extLst>
          </p:cNvPr>
          <p:cNvSpPr/>
          <p:nvPr/>
        </p:nvSpPr>
        <p:spPr>
          <a:xfrm>
            <a:off x="5954225" y="1408176"/>
            <a:ext cx="4835695"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Elegir un cliente eléctrico</a:t>
            </a:r>
            <a:endParaRPr lang="en-US" sz="1600" dirty="0"/>
          </a:p>
        </p:txBody>
      </p:sp>
      <p:sp>
        <p:nvSpPr>
          <p:cNvPr id="16" name="Shape 5">
            <a:extLst>
              <a:ext uri="{FF2B5EF4-FFF2-40B4-BE49-F238E27FC236}">
                <a16:creationId xmlns:a16="http://schemas.microsoft.com/office/drawing/2014/main" id="{0865E583-DBA6-4E43-ABA0-16B685D29D73}"/>
              </a:ext>
            </a:extLst>
          </p:cNvPr>
          <p:cNvSpPr/>
          <p:nvPr/>
        </p:nvSpPr>
        <p:spPr>
          <a:xfrm>
            <a:off x="5968766" y="1908175"/>
            <a:ext cx="4821153" cy="898376"/>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17" name="Shape 6">
            <a:extLst>
              <a:ext uri="{FF2B5EF4-FFF2-40B4-BE49-F238E27FC236}">
                <a16:creationId xmlns:a16="http://schemas.microsoft.com/office/drawing/2014/main" id="{D80AC0DD-EAF5-42B7-83CE-77CD7BDCA046}"/>
              </a:ext>
            </a:extLst>
          </p:cNvPr>
          <p:cNvSpPr/>
          <p:nvPr/>
        </p:nvSpPr>
        <p:spPr>
          <a:xfrm>
            <a:off x="5968766" y="1908175"/>
            <a:ext cx="73152" cy="898376"/>
          </a:xfrm>
          <a:prstGeom prst="rect">
            <a:avLst/>
          </a:prstGeom>
          <a:solidFill>
            <a:srgbClr val="B8860B"/>
          </a:solidFill>
          <a:ln/>
        </p:spPr>
        <p:txBody>
          <a:bodyPr/>
          <a:lstStyle/>
          <a:p>
            <a:endParaRPr lang="es-PE"/>
          </a:p>
        </p:txBody>
      </p:sp>
      <p:sp>
        <p:nvSpPr>
          <p:cNvPr id="18" name="Text 8">
            <a:extLst>
              <a:ext uri="{FF2B5EF4-FFF2-40B4-BE49-F238E27FC236}">
                <a16:creationId xmlns:a16="http://schemas.microsoft.com/office/drawing/2014/main" id="{F5439791-EA75-4A20-B7B3-7AE5E2C7E5E0}"/>
              </a:ext>
            </a:extLst>
          </p:cNvPr>
          <p:cNvSpPr/>
          <p:nvPr/>
        </p:nvSpPr>
        <p:spPr>
          <a:xfrm>
            <a:off x="6221358" y="2008739"/>
            <a:ext cx="4389120" cy="707358"/>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El </a:t>
            </a:r>
            <a:r>
              <a:rPr lang="es-MX" sz="1200" dirty="0" err="1">
                <a:solidFill>
                  <a:srgbClr val="4A5568"/>
                </a:solidFill>
                <a:latin typeface="Calibri" pitchFamily="34" charset="0"/>
                <a:ea typeface="Calibri" pitchFamily="34" charset="-122"/>
                <a:cs typeface="Calibri" pitchFamily="34" charset="-120"/>
              </a:rPr>
              <a:t>dataset</a:t>
            </a:r>
            <a:r>
              <a:rPr lang="es-MX" sz="1200" dirty="0">
                <a:solidFill>
                  <a:srgbClr val="4A5568"/>
                </a:solidFill>
                <a:latin typeface="Calibri" pitchFamily="34" charset="0"/>
                <a:ea typeface="Calibri" pitchFamily="34" charset="-122"/>
                <a:cs typeface="Calibri" pitchFamily="34" charset="-120"/>
              </a:rPr>
              <a:t> contiene muchos clientes. Para empezar, usaremos solo uno. Esto se llama </a:t>
            </a:r>
            <a:r>
              <a:rPr lang="es-MX" sz="1200" dirty="0" err="1">
                <a:solidFill>
                  <a:srgbClr val="4A5568"/>
                </a:solidFill>
                <a:latin typeface="Calibri" pitchFamily="34" charset="0"/>
                <a:ea typeface="Calibri" pitchFamily="34" charset="-122"/>
                <a:cs typeface="Calibri" pitchFamily="34" charset="-120"/>
              </a:rPr>
              <a:t>forecasting</a:t>
            </a:r>
            <a:r>
              <a:rPr lang="es-MX" sz="1200" dirty="0">
                <a:solidFill>
                  <a:srgbClr val="4A5568"/>
                </a:solidFill>
                <a:latin typeface="Calibri" pitchFamily="34" charset="0"/>
                <a:ea typeface="Calibri" pitchFamily="34" charset="-122"/>
                <a:cs typeface="Calibri" pitchFamily="34" charset="-120"/>
              </a:rPr>
              <a:t> </a:t>
            </a:r>
            <a:r>
              <a:rPr lang="es-MX" sz="1200" dirty="0" err="1">
                <a:solidFill>
                  <a:srgbClr val="4A5568"/>
                </a:solidFill>
                <a:latin typeface="Calibri" pitchFamily="34" charset="0"/>
                <a:ea typeface="Calibri" pitchFamily="34" charset="-122"/>
                <a:cs typeface="Calibri" pitchFamily="34" charset="-120"/>
              </a:rPr>
              <a:t>univariado</a:t>
            </a:r>
            <a:r>
              <a:rPr lang="es-MX" sz="1200" dirty="0">
                <a:solidFill>
                  <a:srgbClr val="4A5568"/>
                </a:solidFill>
                <a:latin typeface="Calibri" pitchFamily="34" charset="0"/>
                <a:ea typeface="Calibri" pitchFamily="34" charset="-122"/>
                <a:cs typeface="Calibri" pitchFamily="34" charset="-120"/>
              </a:rPr>
              <a:t>. Elegiremos automáticamente el cliente con mayor consumo total porque probablemente tiene una señal más activa y menos vacía.</a:t>
            </a:r>
          </a:p>
        </p:txBody>
      </p:sp>
      <p:pic>
        <p:nvPicPr>
          <p:cNvPr id="9" name="Imagen 8">
            <a:extLst>
              <a:ext uri="{FF2B5EF4-FFF2-40B4-BE49-F238E27FC236}">
                <a16:creationId xmlns:a16="http://schemas.microsoft.com/office/drawing/2014/main" id="{7F50EF09-724C-49BE-B276-80AEDE405D9E}"/>
              </a:ext>
            </a:extLst>
          </p:cNvPr>
          <p:cNvPicPr>
            <a:picLocks noChangeAspect="1"/>
          </p:cNvPicPr>
          <p:nvPr/>
        </p:nvPicPr>
        <p:blipFill>
          <a:blip r:embed="rId4"/>
          <a:stretch>
            <a:fillRect/>
          </a:stretch>
        </p:blipFill>
        <p:spPr>
          <a:xfrm>
            <a:off x="5954225" y="3039209"/>
            <a:ext cx="4835695" cy="2142034"/>
          </a:xfrm>
          <a:prstGeom prst="rect">
            <a:avLst/>
          </a:prstGeom>
        </p:spPr>
      </p:pic>
    </p:spTree>
    <p:extLst>
      <p:ext uri="{BB962C8B-B14F-4D97-AF65-F5344CB8AC3E}">
        <p14:creationId xmlns:p14="http://schemas.microsoft.com/office/powerpoint/2010/main" val="2212785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Crear la serie temporal del cliente seleccionado</a:t>
            </a:r>
            <a:endParaRPr lang="en-US" sz="1600" dirty="0"/>
          </a:p>
        </p:txBody>
      </p:sp>
      <p:sp>
        <p:nvSpPr>
          <p:cNvPr id="7" name="Shape 5"/>
          <p:cNvSpPr/>
          <p:nvPr/>
        </p:nvSpPr>
        <p:spPr>
          <a:xfrm>
            <a:off x="640080" y="1955554"/>
            <a:ext cx="11155680" cy="100584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8" name="Shape 6"/>
          <p:cNvSpPr/>
          <p:nvPr/>
        </p:nvSpPr>
        <p:spPr>
          <a:xfrm>
            <a:off x="640080" y="1955554"/>
            <a:ext cx="73152" cy="1005840"/>
          </a:xfrm>
          <a:prstGeom prst="rect">
            <a:avLst/>
          </a:prstGeom>
          <a:solidFill>
            <a:srgbClr val="B8860B"/>
          </a:solidFill>
          <a:ln/>
        </p:spPr>
        <p:txBody>
          <a:bodyPr/>
          <a:lstStyle/>
          <a:p>
            <a:endParaRPr lang="es-PE"/>
          </a:p>
        </p:txBody>
      </p:sp>
      <p:sp>
        <p:nvSpPr>
          <p:cNvPr id="10" name="Text 7"/>
          <p:cNvSpPr/>
          <p:nvPr/>
        </p:nvSpPr>
        <p:spPr>
          <a:xfrm>
            <a:off x="914400" y="2090502"/>
            <a:ext cx="4389120" cy="365760"/>
          </a:xfrm>
          <a:prstGeom prst="rect">
            <a:avLst/>
          </a:prstGeom>
          <a:noFill/>
          <a:ln/>
        </p:spPr>
        <p:txBody>
          <a:bodyPr wrap="square" lIns="0" tIns="0" rIns="0" bIns="0" rtlCol="0" anchor="ctr"/>
          <a:lstStyle/>
          <a:p>
            <a:pPr marL="0" indent="0">
              <a:buNone/>
            </a:pPr>
            <a:r>
              <a:rPr lang="en-US" sz="1400" b="1" dirty="0" err="1">
                <a:solidFill>
                  <a:srgbClr val="1E2761"/>
                </a:solidFill>
                <a:latin typeface="Calibri" pitchFamily="34" charset="0"/>
                <a:ea typeface="Calibri" pitchFamily="34" charset="-122"/>
                <a:cs typeface="Calibri" pitchFamily="34" charset="-120"/>
              </a:rPr>
              <a:t>Selección</a:t>
            </a:r>
            <a:r>
              <a:rPr lang="en-US" sz="1400" b="1" dirty="0">
                <a:solidFill>
                  <a:srgbClr val="1E2761"/>
                </a:solidFill>
                <a:latin typeface="Calibri" pitchFamily="34" charset="0"/>
                <a:ea typeface="Calibri" pitchFamily="34" charset="-122"/>
                <a:cs typeface="Calibri" pitchFamily="34" charset="-120"/>
              </a:rPr>
              <a:t> de un solo </a:t>
            </a:r>
            <a:r>
              <a:rPr lang="en-US" sz="1400" b="1" dirty="0" err="1">
                <a:solidFill>
                  <a:srgbClr val="1E2761"/>
                </a:solidFill>
                <a:latin typeface="Calibri" pitchFamily="34" charset="0"/>
                <a:ea typeface="Calibri" pitchFamily="34" charset="-122"/>
                <a:cs typeface="Calibri" pitchFamily="34" charset="-120"/>
              </a:rPr>
              <a:t>cliente</a:t>
            </a:r>
            <a:endParaRPr lang="en-US" sz="1400" dirty="0"/>
          </a:p>
        </p:txBody>
      </p:sp>
      <p:sp>
        <p:nvSpPr>
          <p:cNvPr id="11" name="Text 8"/>
          <p:cNvSpPr/>
          <p:nvPr/>
        </p:nvSpPr>
        <p:spPr>
          <a:xfrm>
            <a:off x="914400" y="2456262"/>
            <a:ext cx="7644384" cy="291117"/>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Tomaremos solo el cliente elegido. También recortaremos desde 2012 para evitar posibles tramos iniciales con muchos ceros o poca actividad. El resultado tendrá dos columnas.</a:t>
            </a:r>
            <a:endParaRPr lang="en-US" sz="1200" dirty="0"/>
          </a:p>
        </p:txBody>
      </p:sp>
      <p:sp>
        <p:nvSpPr>
          <p:cNvPr id="30" name="Shape 24"/>
          <p:cNvSpPr/>
          <p:nvPr/>
        </p:nvSpPr>
        <p:spPr>
          <a:xfrm>
            <a:off x="548640" y="6473952"/>
            <a:ext cx="11064240" cy="18288"/>
          </a:xfrm>
          <a:prstGeom prst="rect">
            <a:avLst/>
          </a:prstGeom>
          <a:solidFill>
            <a:srgbClr val="D1D5DB"/>
          </a:solidFill>
          <a:ln/>
        </p:spPr>
        <p:txBody>
          <a:bodyPr/>
          <a:lstStyle/>
          <a:p>
            <a:endParaRPr lang="es-PE"/>
          </a:p>
        </p:txBody>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14" name="Imagen 13">
            <a:extLst>
              <a:ext uri="{FF2B5EF4-FFF2-40B4-BE49-F238E27FC236}">
                <a16:creationId xmlns:a16="http://schemas.microsoft.com/office/drawing/2014/main" id="{6835E356-6D5B-442F-80E9-74FA7D2B35F2}"/>
              </a:ext>
            </a:extLst>
          </p:cNvPr>
          <p:cNvPicPr>
            <a:picLocks noChangeAspect="1"/>
          </p:cNvPicPr>
          <p:nvPr/>
        </p:nvPicPr>
        <p:blipFill>
          <a:blip r:embed="rId3"/>
          <a:stretch>
            <a:fillRect/>
          </a:stretch>
        </p:blipFill>
        <p:spPr>
          <a:xfrm>
            <a:off x="640080" y="3049914"/>
            <a:ext cx="11155680" cy="3386844"/>
          </a:xfrm>
          <a:prstGeom prst="rect">
            <a:avLst/>
          </a:prstGeom>
        </p:spPr>
      </p:pic>
      <p:pic>
        <p:nvPicPr>
          <p:cNvPr id="18" name="Imagen 17">
            <a:extLst>
              <a:ext uri="{FF2B5EF4-FFF2-40B4-BE49-F238E27FC236}">
                <a16:creationId xmlns:a16="http://schemas.microsoft.com/office/drawing/2014/main" id="{41A10E2A-41C7-4DFE-AF5E-1A05BBDE9AE9}"/>
              </a:ext>
            </a:extLst>
          </p:cNvPr>
          <p:cNvPicPr>
            <a:picLocks noChangeAspect="1"/>
          </p:cNvPicPr>
          <p:nvPr/>
        </p:nvPicPr>
        <p:blipFill>
          <a:blip r:embed="rId4"/>
          <a:stretch>
            <a:fillRect/>
          </a:stretch>
        </p:blipFill>
        <p:spPr>
          <a:xfrm>
            <a:off x="8558784" y="2122840"/>
            <a:ext cx="1400370" cy="666843"/>
          </a:xfrm>
          <a:prstGeom prst="rect">
            <a:avLst/>
          </a:prstGeom>
          <a:ln>
            <a:solidFill>
              <a:srgbClr val="B8860B"/>
            </a:solidFill>
          </a:ln>
        </p:spPr>
      </p:pic>
    </p:spTree>
    <p:extLst>
      <p:ext uri="{BB962C8B-B14F-4D97-AF65-F5344CB8AC3E}">
        <p14:creationId xmlns:p14="http://schemas.microsoft.com/office/powerpoint/2010/main" val="217904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Visualizar la serie</a:t>
            </a:r>
            <a:endParaRPr lang="en-US" sz="1600" dirty="0"/>
          </a:p>
        </p:txBody>
      </p:sp>
      <p:sp>
        <p:nvSpPr>
          <p:cNvPr id="7" name="Shape 5"/>
          <p:cNvSpPr/>
          <p:nvPr/>
        </p:nvSpPr>
        <p:spPr>
          <a:xfrm>
            <a:off x="640080" y="1955554"/>
            <a:ext cx="11155680" cy="100584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8" name="Shape 6"/>
          <p:cNvSpPr/>
          <p:nvPr/>
        </p:nvSpPr>
        <p:spPr>
          <a:xfrm>
            <a:off x="640080" y="1955554"/>
            <a:ext cx="73152" cy="1005840"/>
          </a:xfrm>
          <a:prstGeom prst="rect">
            <a:avLst/>
          </a:prstGeom>
          <a:solidFill>
            <a:srgbClr val="B8860B"/>
          </a:solidFill>
          <a:ln/>
        </p:spPr>
        <p:txBody>
          <a:bodyPr/>
          <a:lstStyle/>
          <a:p>
            <a:endParaRPr lang="es-PE"/>
          </a:p>
        </p:txBody>
      </p:sp>
      <p:sp>
        <p:nvSpPr>
          <p:cNvPr id="11" name="Text 8"/>
          <p:cNvSpPr/>
          <p:nvPr/>
        </p:nvSpPr>
        <p:spPr>
          <a:xfrm>
            <a:off x="914400" y="2034506"/>
            <a:ext cx="10698480" cy="832965"/>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Antes de entrenar un modelo, es fundamental analizar la estructura de los datos identificando tres componentes clave: el nivel (consumo base), el crecimiento (tendencia alcista, bajista o estable) y la estacionalidad (patrones cíclicos recurrentes); elementos que el modelo ETSformer integra mediante la descomposición aditiva: Serie = </a:t>
            </a:r>
            <a:r>
              <a:rPr lang="es-MX" sz="1200" dirty="0" err="1">
                <a:solidFill>
                  <a:srgbClr val="4A5568"/>
                </a:solidFill>
                <a:latin typeface="Calibri" pitchFamily="34" charset="0"/>
                <a:ea typeface="Calibri" pitchFamily="34" charset="-122"/>
                <a:cs typeface="Calibri" pitchFamily="34" charset="-120"/>
              </a:rPr>
              <a:t>Level</a:t>
            </a:r>
            <a:r>
              <a:rPr lang="es-MX" sz="1200" dirty="0">
                <a:solidFill>
                  <a:srgbClr val="4A5568"/>
                </a:solidFill>
                <a:latin typeface="Calibri" pitchFamily="34" charset="0"/>
                <a:ea typeface="Calibri" pitchFamily="34" charset="-122"/>
                <a:cs typeface="Calibri" pitchFamily="34" charset="-120"/>
              </a:rPr>
              <a:t> + </a:t>
            </a:r>
            <a:r>
              <a:rPr lang="es-MX" sz="1200" dirty="0" err="1">
                <a:solidFill>
                  <a:srgbClr val="4A5568"/>
                </a:solidFill>
                <a:latin typeface="Calibri" pitchFamily="34" charset="0"/>
                <a:ea typeface="Calibri" pitchFamily="34" charset="-122"/>
                <a:cs typeface="Calibri" pitchFamily="34" charset="-120"/>
              </a:rPr>
              <a:t>Growth</a:t>
            </a:r>
            <a:r>
              <a:rPr lang="es-MX" sz="1200" dirty="0">
                <a:solidFill>
                  <a:srgbClr val="4A5568"/>
                </a:solidFill>
                <a:latin typeface="Calibri" pitchFamily="34" charset="0"/>
                <a:ea typeface="Calibri" pitchFamily="34" charset="-122"/>
                <a:cs typeface="Calibri" pitchFamily="34" charset="-120"/>
              </a:rPr>
              <a:t> + </a:t>
            </a:r>
            <a:r>
              <a:rPr lang="es-MX" sz="1200" dirty="0" err="1">
                <a:solidFill>
                  <a:srgbClr val="4A5568"/>
                </a:solidFill>
                <a:latin typeface="Calibri" pitchFamily="34" charset="0"/>
                <a:ea typeface="Calibri" pitchFamily="34" charset="-122"/>
                <a:cs typeface="Calibri" pitchFamily="34" charset="-120"/>
              </a:rPr>
              <a:t>Seasonality</a:t>
            </a:r>
            <a:r>
              <a:rPr lang="es-MX" sz="1200" dirty="0">
                <a:solidFill>
                  <a:srgbClr val="4A5568"/>
                </a:solidFill>
                <a:latin typeface="Calibri" pitchFamily="34" charset="0"/>
                <a:ea typeface="Calibri" pitchFamily="34" charset="-122"/>
                <a:cs typeface="Calibri" pitchFamily="34" charset="-120"/>
              </a:rPr>
              <a:t>.</a:t>
            </a:r>
            <a:endParaRPr lang="en-US" sz="1200" dirty="0"/>
          </a:p>
        </p:txBody>
      </p:sp>
      <p:sp>
        <p:nvSpPr>
          <p:cNvPr id="30" name="Shape 24"/>
          <p:cNvSpPr/>
          <p:nvPr/>
        </p:nvSpPr>
        <p:spPr>
          <a:xfrm>
            <a:off x="548640" y="6473952"/>
            <a:ext cx="11064240" cy="18288"/>
          </a:xfrm>
          <a:prstGeom prst="rect">
            <a:avLst/>
          </a:prstGeom>
          <a:solidFill>
            <a:srgbClr val="D1D5DB"/>
          </a:solidFill>
          <a:ln/>
        </p:spPr>
        <p:txBody>
          <a:bodyPr/>
          <a:lstStyle/>
          <a:p>
            <a:endParaRPr lang="es-PE"/>
          </a:p>
        </p:txBody>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9" name="Imagen 8">
            <a:extLst>
              <a:ext uri="{FF2B5EF4-FFF2-40B4-BE49-F238E27FC236}">
                <a16:creationId xmlns:a16="http://schemas.microsoft.com/office/drawing/2014/main" id="{13061807-23A4-4206-8D91-04442631A256}"/>
              </a:ext>
            </a:extLst>
          </p:cNvPr>
          <p:cNvPicPr>
            <a:picLocks noChangeAspect="1"/>
          </p:cNvPicPr>
          <p:nvPr/>
        </p:nvPicPr>
        <p:blipFill>
          <a:blip r:embed="rId3"/>
          <a:stretch>
            <a:fillRect/>
          </a:stretch>
        </p:blipFill>
        <p:spPr>
          <a:xfrm>
            <a:off x="625539" y="3065269"/>
            <a:ext cx="11170221" cy="2702607"/>
          </a:xfrm>
          <a:prstGeom prst="rect">
            <a:avLst/>
          </a:prstGeom>
        </p:spPr>
      </p:pic>
    </p:spTree>
    <p:extLst>
      <p:ext uri="{BB962C8B-B14F-4D97-AF65-F5344CB8AC3E}">
        <p14:creationId xmlns:p14="http://schemas.microsoft.com/office/powerpoint/2010/main" val="3459700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Visualizar la serie</a:t>
            </a:r>
            <a:endParaRPr lang="en-US" sz="1600" dirty="0"/>
          </a:p>
        </p:txBody>
      </p:sp>
      <p:sp>
        <p:nvSpPr>
          <p:cNvPr id="30" name="Shape 24"/>
          <p:cNvSpPr/>
          <p:nvPr/>
        </p:nvSpPr>
        <p:spPr>
          <a:xfrm>
            <a:off x="548640" y="6473952"/>
            <a:ext cx="11064240" cy="18288"/>
          </a:xfrm>
          <a:prstGeom prst="rect">
            <a:avLst/>
          </a:prstGeom>
          <a:solidFill>
            <a:srgbClr val="D1D5DB"/>
          </a:solidFill>
          <a:ln/>
        </p:spPr>
        <p:txBody>
          <a:bodyPr/>
          <a:lstStyle/>
          <a:p>
            <a:endParaRPr lang="es-PE"/>
          </a:p>
        </p:txBody>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1026" name="Picture 2">
            <a:extLst>
              <a:ext uri="{FF2B5EF4-FFF2-40B4-BE49-F238E27FC236}">
                <a16:creationId xmlns:a16="http://schemas.microsoft.com/office/drawing/2014/main" id="{EA902B1B-C612-44C8-AA15-900EF83597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 y="1867035"/>
            <a:ext cx="11263059" cy="4418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8058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6" name="Text 4"/>
          <p:cNvSpPr/>
          <p:nvPr/>
        </p:nvSpPr>
        <p:spPr>
          <a:xfrm>
            <a:off x="625539" y="1455555"/>
            <a:ext cx="7813786"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Guardar los datos en formato compatible con ETSformer</a:t>
            </a:r>
            <a:endParaRPr lang="en-US" sz="1600" dirty="0"/>
          </a:p>
        </p:txBody>
      </p:sp>
      <p:sp>
        <p:nvSpPr>
          <p:cNvPr id="7" name="Shape 5"/>
          <p:cNvSpPr/>
          <p:nvPr/>
        </p:nvSpPr>
        <p:spPr>
          <a:xfrm>
            <a:off x="640080" y="1955554"/>
            <a:ext cx="11155680" cy="100584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8" name="Shape 6"/>
          <p:cNvSpPr/>
          <p:nvPr/>
        </p:nvSpPr>
        <p:spPr>
          <a:xfrm>
            <a:off x="640080" y="1955554"/>
            <a:ext cx="73152" cy="1005840"/>
          </a:xfrm>
          <a:prstGeom prst="rect">
            <a:avLst/>
          </a:prstGeom>
          <a:solidFill>
            <a:srgbClr val="B8860B"/>
          </a:solidFill>
          <a:ln/>
        </p:spPr>
        <p:txBody>
          <a:bodyPr/>
          <a:lstStyle/>
          <a:p>
            <a:endParaRPr lang="es-PE"/>
          </a:p>
        </p:txBody>
      </p:sp>
      <p:sp>
        <p:nvSpPr>
          <p:cNvPr id="11" name="Text 8"/>
          <p:cNvSpPr/>
          <p:nvPr/>
        </p:nvSpPr>
        <p:spPr>
          <a:xfrm>
            <a:off x="914400" y="2034506"/>
            <a:ext cx="10698480" cy="832965"/>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La implementación oficial de ETSformer espera un archivo CSV con:</a:t>
            </a:r>
          </a:p>
          <a:p>
            <a:pPr marL="0" indent="0">
              <a:buNone/>
            </a:pPr>
            <a:endParaRPr lang="es-MX" sz="1200" dirty="0">
              <a:solidFill>
                <a:srgbClr val="4A5568"/>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s-MX" sz="1200" dirty="0">
                <a:solidFill>
                  <a:srgbClr val="4A5568"/>
                </a:solidFill>
                <a:latin typeface="Calibri" pitchFamily="34" charset="0"/>
                <a:ea typeface="Calibri" pitchFamily="34" charset="-122"/>
                <a:cs typeface="Calibri" pitchFamily="34" charset="-120"/>
              </a:rPr>
              <a:t>Una columna date.</a:t>
            </a:r>
          </a:p>
          <a:p>
            <a:pPr marL="171450" indent="-171450">
              <a:buFont typeface="Arial" panose="020B0604020202020204" pitchFamily="34" charset="0"/>
              <a:buChar char="•"/>
            </a:pPr>
            <a:r>
              <a:rPr lang="es-MX" sz="1200" dirty="0">
                <a:solidFill>
                  <a:srgbClr val="4A5568"/>
                </a:solidFill>
                <a:latin typeface="Calibri" pitchFamily="34" charset="0"/>
                <a:ea typeface="Calibri" pitchFamily="34" charset="-122"/>
                <a:cs typeface="Calibri" pitchFamily="34" charset="-120"/>
              </a:rPr>
              <a:t>Una o más columnas numéricas.</a:t>
            </a:r>
            <a:endParaRPr lang="en-US" sz="1200" dirty="0"/>
          </a:p>
        </p:txBody>
      </p:sp>
      <p:sp>
        <p:nvSpPr>
          <p:cNvPr id="30" name="Shape 24"/>
          <p:cNvSpPr/>
          <p:nvPr/>
        </p:nvSpPr>
        <p:spPr>
          <a:xfrm>
            <a:off x="548640" y="6473952"/>
            <a:ext cx="11064240" cy="18288"/>
          </a:xfrm>
          <a:prstGeom prst="rect">
            <a:avLst/>
          </a:prstGeom>
          <a:solidFill>
            <a:srgbClr val="D1D5DB"/>
          </a:solidFill>
          <a:ln/>
        </p:spPr>
        <p:txBody>
          <a:bodyPr/>
          <a:lstStyle/>
          <a:p>
            <a:endParaRPr lang="es-PE"/>
          </a:p>
        </p:txBody>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13" name="Imagen 12">
            <a:extLst>
              <a:ext uri="{FF2B5EF4-FFF2-40B4-BE49-F238E27FC236}">
                <a16:creationId xmlns:a16="http://schemas.microsoft.com/office/drawing/2014/main" id="{29B70E4C-2566-4595-8CBA-4A404B9D353F}"/>
              </a:ext>
            </a:extLst>
          </p:cNvPr>
          <p:cNvPicPr>
            <a:picLocks noChangeAspect="1"/>
          </p:cNvPicPr>
          <p:nvPr/>
        </p:nvPicPr>
        <p:blipFill>
          <a:blip r:embed="rId3"/>
          <a:stretch>
            <a:fillRect/>
          </a:stretch>
        </p:blipFill>
        <p:spPr>
          <a:xfrm>
            <a:off x="640080" y="3049913"/>
            <a:ext cx="11155680" cy="2643012"/>
          </a:xfrm>
          <a:prstGeom prst="rect">
            <a:avLst/>
          </a:prstGeom>
        </p:spPr>
      </p:pic>
    </p:spTree>
    <p:extLst>
      <p:ext uri="{BB962C8B-B14F-4D97-AF65-F5344CB8AC3E}">
        <p14:creationId xmlns:p14="http://schemas.microsoft.com/office/powerpoint/2010/main" val="1635114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6" name="Text 4"/>
          <p:cNvSpPr/>
          <p:nvPr/>
        </p:nvSpPr>
        <p:spPr>
          <a:xfrm>
            <a:off x="625539" y="1455555"/>
            <a:ext cx="4835695"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Entrenar ETSformer</a:t>
            </a:r>
            <a:endParaRPr lang="en-US" sz="1600" dirty="0"/>
          </a:p>
        </p:txBody>
      </p:sp>
      <p:sp>
        <p:nvSpPr>
          <p:cNvPr id="30" name="Shape 24"/>
          <p:cNvSpPr/>
          <p:nvPr/>
        </p:nvSpPr>
        <p:spPr>
          <a:xfrm>
            <a:off x="548640" y="6473952"/>
            <a:ext cx="11064240" cy="18288"/>
          </a:xfrm>
          <a:prstGeom prst="rect">
            <a:avLst/>
          </a:prstGeom>
          <a:solidFill>
            <a:srgbClr val="D1D5DB"/>
          </a:solidFill>
          <a:ln/>
        </p:spPr>
        <p:txBody>
          <a:bodyPr/>
          <a:lstStyle/>
          <a:p>
            <a:endParaRPr lang="es-PE"/>
          </a:p>
        </p:txBody>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sp>
        <p:nvSpPr>
          <p:cNvPr id="20" name="Shape 5">
            <a:extLst>
              <a:ext uri="{FF2B5EF4-FFF2-40B4-BE49-F238E27FC236}">
                <a16:creationId xmlns:a16="http://schemas.microsoft.com/office/drawing/2014/main" id="{AE698763-B2CB-4466-8CBD-324D512396CF}"/>
              </a:ext>
            </a:extLst>
          </p:cNvPr>
          <p:cNvSpPr/>
          <p:nvPr/>
        </p:nvSpPr>
        <p:spPr>
          <a:xfrm>
            <a:off x="640081" y="1955554"/>
            <a:ext cx="2910812" cy="4262366"/>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21" name="Shape 6">
            <a:extLst>
              <a:ext uri="{FF2B5EF4-FFF2-40B4-BE49-F238E27FC236}">
                <a16:creationId xmlns:a16="http://schemas.microsoft.com/office/drawing/2014/main" id="{6A6F679D-CEFB-4356-B127-52D7D9ECC69F}"/>
              </a:ext>
            </a:extLst>
          </p:cNvPr>
          <p:cNvSpPr/>
          <p:nvPr/>
        </p:nvSpPr>
        <p:spPr>
          <a:xfrm>
            <a:off x="640080" y="1955554"/>
            <a:ext cx="73152" cy="4262366"/>
          </a:xfrm>
          <a:prstGeom prst="rect">
            <a:avLst/>
          </a:prstGeom>
          <a:solidFill>
            <a:srgbClr val="B8860B"/>
          </a:solidFill>
          <a:ln/>
        </p:spPr>
        <p:txBody>
          <a:bodyPr/>
          <a:lstStyle/>
          <a:p>
            <a:endParaRPr lang="es-PE"/>
          </a:p>
        </p:txBody>
      </p:sp>
      <p:sp>
        <p:nvSpPr>
          <p:cNvPr id="23" name="Text 8">
            <a:extLst>
              <a:ext uri="{FF2B5EF4-FFF2-40B4-BE49-F238E27FC236}">
                <a16:creationId xmlns:a16="http://schemas.microsoft.com/office/drawing/2014/main" id="{BDA2F796-B442-408C-84FB-CE459006B483}"/>
              </a:ext>
            </a:extLst>
          </p:cNvPr>
          <p:cNvSpPr/>
          <p:nvPr/>
        </p:nvSpPr>
        <p:spPr>
          <a:xfrm>
            <a:off x="868680" y="2132547"/>
            <a:ext cx="4389120" cy="476429"/>
          </a:xfrm>
          <a:prstGeom prst="rect">
            <a:avLst/>
          </a:prstGeom>
          <a:noFill/>
          <a:ln/>
        </p:spPr>
        <p:txBody>
          <a:bodyPr wrap="square" lIns="0" tIns="0" rIns="0" bIns="0" rtlCol="0" anchor="ctr"/>
          <a:lstStyle/>
          <a:p>
            <a:pPr algn="l"/>
            <a:r>
              <a:rPr lang="es-MX" sz="1200" b="0" i="0" dirty="0">
                <a:effectLst/>
                <a:latin typeface="-apple-system"/>
              </a:rPr>
              <a:t>Ahora entrenaremos el modelo.</a:t>
            </a:r>
          </a:p>
          <a:p>
            <a:pPr algn="l"/>
            <a:r>
              <a:rPr lang="es-MX" sz="1200" b="0" i="0" dirty="0">
                <a:effectLst/>
                <a:latin typeface="-apple-system"/>
              </a:rPr>
              <a:t>Usaremos:</a:t>
            </a:r>
          </a:p>
        </p:txBody>
      </p:sp>
      <p:pic>
        <p:nvPicPr>
          <p:cNvPr id="8" name="Imagen 7">
            <a:extLst>
              <a:ext uri="{FF2B5EF4-FFF2-40B4-BE49-F238E27FC236}">
                <a16:creationId xmlns:a16="http://schemas.microsoft.com/office/drawing/2014/main" id="{46AA85F1-909B-435E-9987-F4809ADF91AF}"/>
              </a:ext>
            </a:extLst>
          </p:cNvPr>
          <p:cNvPicPr>
            <a:picLocks noChangeAspect="1"/>
          </p:cNvPicPr>
          <p:nvPr/>
        </p:nvPicPr>
        <p:blipFill>
          <a:blip r:embed="rId3"/>
          <a:stretch>
            <a:fillRect/>
          </a:stretch>
        </p:blipFill>
        <p:spPr>
          <a:xfrm>
            <a:off x="868681" y="2608976"/>
            <a:ext cx="2570806" cy="3378774"/>
          </a:xfrm>
          <a:prstGeom prst="rect">
            <a:avLst/>
          </a:prstGeom>
        </p:spPr>
      </p:pic>
      <p:pic>
        <p:nvPicPr>
          <p:cNvPr id="11" name="Imagen 10">
            <a:extLst>
              <a:ext uri="{FF2B5EF4-FFF2-40B4-BE49-F238E27FC236}">
                <a16:creationId xmlns:a16="http://schemas.microsoft.com/office/drawing/2014/main" id="{7E581FA1-200B-45DF-B522-B9BE046610D2}"/>
              </a:ext>
            </a:extLst>
          </p:cNvPr>
          <p:cNvPicPr>
            <a:picLocks noChangeAspect="1"/>
          </p:cNvPicPr>
          <p:nvPr/>
        </p:nvPicPr>
        <p:blipFill>
          <a:blip r:embed="rId4"/>
          <a:stretch>
            <a:fillRect/>
          </a:stretch>
        </p:blipFill>
        <p:spPr>
          <a:xfrm>
            <a:off x="3706341" y="1955553"/>
            <a:ext cx="7906539" cy="3398527"/>
          </a:xfrm>
          <a:prstGeom prst="rect">
            <a:avLst/>
          </a:prstGeom>
        </p:spPr>
      </p:pic>
    </p:spTree>
    <p:extLst>
      <p:ext uri="{BB962C8B-B14F-4D97-AF65-F5344CB8AC3E}">
        <p14:creationId xmlns:p14="http://schemas.microsoft.com/office/powerpoint/2010/main" val="2757755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6" name="Text 4"/>
          <p:cNvSpPr/>
          <p:nvPr/>
        </p:nvSpPr>
        <p:spPr>
          <a:xfrm>
            <a:off x="625539" y="1455555"/>
            <a:ext cx="4835695"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Buscar archivos de resultados</a:t>
            </a:r>
            <a:endParaRPr lang="en-US" sz="1600" dirty="0"/>
          </a:p>
        </p:txBody>
      </p:sp>
      <p:sp>
        <p:nvSpPr>
          <p:cNvPr id="30" name="Shape 24"/>
          <p:cNvSpPr/>
          <p:nvPr/>
        </p:nvSpPr>
        <p:spPr>
          <a:xfrm>
            <a:off x="548640" y="6473952"/>
            <a:ext cx="11064240" cy="18288"/>
          </a:xfrm>
          <a:prstGeom prst="rect">
            <a:avLst/>
          </a:prstGeom>
          <a:solidFill>
            <a:srgbClr val="D1D5DB"/>
          </a:solidFill>
          <a:ln/>
        </p:spPr>
        <p:txBody>
          <a:bodyPr/>
          <a:lstStyle/>
          <a:p>
            <a:endParaRPr lang="es-PE"/>
          </a:p>
        </p:txBody>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sp>
        <p:nvSpPr>
          <p:cNvPr id="20" name="Shape 5">
            <a:extLst>
              <a:ext uri="{FF2B5EF4-FFF2-40B4-BE49-F238E27FC236}">
                <a16:creationId xmlns:a16="http://schemas.microsoft.com/office/drawing/2014/main" id="{AE698763-B2CB-4466-8CBD-324D512396CF}"/>
              </a:ext>
            </a:extLst>
          </p:cNvPr>
          <p:cNvSpPr/>
          <p:nvPr/>
        </p:nvSpPr>
        <p:spPr>
          <a:xfrm>
            <a:off x="640081" y="1955554"/>
            <a:ext cx="2910812" cy="4262366"/>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21" name="Shape 6">
            <a:extLst>
              <a:ext uri="{FF2B5EF4-FFF2-40B4-BE49-F238E27FC236}">
                <a16:creationId xmlns:a16="http://schemas.microsoft.com/office/drawing/2014/main" id="{6A6F679D-CEFB-4356-B127-52D7D9ECC69F}"/>
              </a:ext>
            </a:extLst>
          </p:cNvPr>
          <p:cNvSpPr/>
          <p:nvPr/>
        </p:nvSpPr>
        <p:spPr>
          <a:xfrm>
            <a:off x="640080" y="1955554"/>
            <a:ext cx="73152" cy="4262366"/>
          </a:xfrm>
          <a:prstGeom prst="rect">
            <a:avLst/>
          </a:prstGeom>
          <a:solidFill>
            <a:srgbClr val="B8860B"/>
          </a:solidFill>
          <a:ln/>
        </p:spPr>
        <p:txBody>
          <a:bodyPr/>
          <a:lstStyle/>
          <a:p>
            <a:endParaRPr lang="es-PE"/>
          </a:p>
        </p:txBody>
      </p:sp>
      <p:sp>
        <p:nvSpPr>
          <p:cNvPr id="23" name="Text 8">
            <a:extLst>
              <a:ext uri="{FF2B5EF4-FFF2-40B4-BE49-F238E27FC236}">
                <a16:creationId xmlns:a16="http://schemas.microsoft.com/office/drawing/2014/main" id="{BDA2F796-B442-408C-84FB-CE459006B483}"/>
              </a:ext>
            </a:extLst>
          </p:cNvPr>
          <p:cNvSpPr/>
          <p:nvPr/>
        </p:nvSpPr>
        <p:spPr>
          <a:xfrm>
            <a:off x="868680" y="2132547"/>
            <a:ext cx="2495305" cy="1296453"/>
          </a:xfrm>
          <a:prstGeom prst="rect">
            <a:avLst/>
          </a:prstGeom>
          <a:noFill/>
          <a:ln/>
        </p:spPr>
        <p:txBody>
          <a:bodyPr wrap="square" lIns="0" tIns="0" rIns="0" bIns="0" rtlCol="0" anchor="ctr"/>
          <a:lstStyle/>
          <a:p>
            <a:pPr algn="l"/>
            <a:r>
              <a:rPr lang="es-MX" sz="1200" b="0" i="0" dirty="0">
                <a:effectLst/>
                <a:latin typeface="-apple-system"/>
              </a:rPr>
              <a:t>Después del entrenamiento, ETSformer guarda resultados dentro de:</a:t>
            </a:r>
          </a:p>
          <a:p>
            <a:pPr algn="l"/>
            <a:endParaRPr lang="es-MX" sz="1200" b="0" i="0" dirty="0">
              <a:effectLst/>
              <a:latin typeface="-apple-system"/>
            </a:endParaRPr>
          </a:p>
          <a:p>
            <a:pPr marL="171450" indent="-171450" algn="l">
              <a:buFont typeface="Arial" panose="020B0604020202020204" pitchFamily="34" charset="0"/>
              <a:buChar char="•"/>
            </a:pPr>
            <a:r>
              <a:rPr lang="es-MX" sz="1200" dirty="0" err="1">
                <a:latin typeface="-apple-system"/>
              </a:rPr>
              <a:t>R</a:t>
            </a:r>
            <a:r>
              <a:rPr lang="es-MX" sz="1200" b="0" i="0" dirty="0" err="1">
                <a:effectLst/>
                <a:latin typeface="-apple-system"/>
              </a:rPr>
              <a:t>esults</a:t>
            </a:r>
            <a:r>
              <a:rPr lang="es-MX" sz="1200" b="0" i="0" dirty="0">
                <a:effectLst/>
                <a:latin typeface="-apple-system"/>
              </a:rPr>
              <a:t>/</a:t>
            </a:r>
          </a:p>
          <a:p>
            <a:pPr marL="171450" indent="-171450" algn="l">
              <a:buFont typeface="Arial" panose="020B0604020202020204" pitchFamily="34" charset="0"/>
              <a:buChar char="•"/>
            </a:pPr>
            <a:r>
              <a:rPr lang="es-MX" sz="1200" dirty="0" err="1">
                <a:latin typeface="-apple-system"/>
              </a:rPr>
              <a:t>C</a:t>
            </a:r>
            <a:r>
              <a:rPr lang="es-MX" sz="1200" b="0" i="0" dirty="0" err="1">
                <a:effectLst/>
                <a:latin typeface="-apple-system"/>
              </a:rPr>
              <a:t>heckpoints</a:t>
            </a:r>
            <a:r>
              <a:rPr lang="es-MX" sz="1200" b="0" i="0" dirty="0">
                <a:effectLst/>
                <a:latin typeface="-apple-system"/>
              </a:rPr>
              <a:t>/</a:t>
            </a:r>
          </a:p>
          <a:p>
            <a:pPr marL="171450" indent="-171450" algn="l">
              <a:buFont typeface="Arial" panose="020B0604020202020204" pitchFamily="34" charset="0"/>
              <a:buChar char="•"/>
            </a:pPr>
            <a:endParaRPr lang="es-MX" sz="1200" b="0" i="0" dirty="0">
              <a:effectLst/>
              <a:latin typeface="-apple-system"/>
            </a:endParaRPr>
          </a:p>
          <a:p>
            <a:pPr algn="l"/>
            <a:r>
              <a:rPr lang="es-MX" sz="1200" b="0" i="0" dirty="0">
                <a:effectLst/>
                <a:latin typeface="-apple-system"/>
              </a:rPr>
              <a:t>Ahí encontraremos métricas, valores reales y predicciones.</a:t>
            </a:r>
          </a:p>
        </p:txBody>
      </p:sp>
      <p:pic>
        <p:nvPicPr>
          <p:cNvPr id="7" name="Imagen 6">
            <a:extLst>
              <a:ext uri="{FF2B5EF4-FFF2-40B4-BE49-F238E27FC236}">
                <a16:creationId xmlns:a16="http://schemas.microsoft.com/office/drawing/2014/main" id="{3A71FD86-2525-41BD-9DFE-E27B1BFF5308}"/>
              </a:ext>
            </a:extLst>
          </p:cNvPr>
          <p:cNvPicPr>
            <a:picLocks noChangeAspect="1"/>
          </p:cNvPicPr>
          <p:nvPr/>
        </p:nvPicPr>
        <p:blipFill>
          <a:blip r:embed="rId3"/>
          <a:stretch>
            <a:fillRect/>
          </a:stretch>
        </p:blipFill>
        <p:spPr>
          <a:xfrm>
            <a:off x="3706341" y="1955554"/>
            <a:ext cx="7906539" cy="3439858"/>
          </a:xfrm>
          <a:prstGeom prst="rect">
            <a:avLst/>
          </a:prstGeom>
        </p:spPr>
      </p:pic>
    </p:spTree>
    <p:extLst>
      <p:ext uri="{BB962C8B-B14F-4D97-AF65-F5344CB8AC3E}">
        <p14:creationId xmlns:p14="http://schemas.microsoft.com/office/powerpoint/2010/main" val="2157977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6" name="Text 4"/>
          <p:cNvSpPr/>
          <p:nvPr/>
        </p:nvSpPr>
        <p:spPr>
          <a:xfrm>
            <a:off x="625539" y="1455555"/>
            <a:ext cx="4835695"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Cargar predicciones</a:t>
            </a:r>
            <a:endParaRPr lang="en-US" sz="1600" dirty="0"/>
          </a:p>
        </p:txBody>
      </p:sp>
      <p:sp>
        <p:nvSpPr>
          <p:cNvPr id="30" name="Shape 24"/>
          <p:cNvSpPr/>
          <p:nvPr/>
        </p:nvSpPr>
        <p:spPr>
          <a:xfrm>
            <a:off x="548640" y="6473952"/>
            <a:ext cx="11064240" cy="18288"/>
          </a:xfrm>
          <a:prstGeom prst="rect">
            <a:avLst/>
          </a:prstGeom>
          <a:solidFill>
            <a:srgbClr val="D1D5DB"/>
          </a:solidFill>
          <a:ln/>
        </p:spPr>
        <p:txBody>
          <a:bodyPr/>
          <a:lstStyle/>
          <a:p>
            <a:endParaRPr lang="es-PE"/>
          </a:p>
        </p:txBody>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sp>
        <p:nvSpPr>
          <p:cNvPr id="20" name="Shape 5">
            <a:extLst>
              <a:ext uri="{FF2B5EF4-FFF2-40B4-BE49-F238E27FC236}">
                <a16:creationId xmlns:a16="http://schemas.microsoft.com/office/drawing/2014/main" id="{AE698763-B2CB-4466-8CBD-324D512396CF}"/>
              </a:ext>
            </a:extLst>
          </p:cNvPr>
          <p:cNvSpPr/>
          <p:nvPr/>
        </p:nvSpPr>
        <p:spPr>
          <a:xfrm>
            <a:off x="640081" y="1955554"/>
            <a:ext cx="2910812" cy="4262366"/>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21" name="Shape 6">
            <a:extLst>
              <a:ext uri="{FF2B5EF4-FFF2-40B4-BE49-F238E27FC236}">
                <a16:creationId xmlns:a16="http://schemas.microsoft.com/office/drawing/2014/main" id="{6A6F679D-CEFB-4356-B127-52D7D9ECC69F}"/>
              </a:ext>
            </a:extLst>
          </p:cNvPr>
          <p:cNvSpPr/>
          <p:nvPr/>
        </p:nvSpPr>
        <p:spPr>
          <a:xfrm>
            <a:off x="640080" y="1955554"/>
            <a:ext cx="73152" cy="4262366"/>
          </a:xfrm>
          <a:prstGeom prst="rect">
            <a:avLst/>
          </a:prstGeom>
          <a:solidFill>
            <a:srgbClr val="B8860B"/>
          </a:solidFill>
          <a:ln/>
        </p:spPr>
        <p:txBody>
          <a:bodyPr/>
          <a:lstStyle/>
          <a:p>
            <a:endParaRPr lang="es-PE"/>
          </a:p>
        </p:txBody>
      </p:sp>
      <p:sp>
        <p:nvSpPr>
          <p:cNvPr id="23" name="Text 8">
            <a:extLst>
              <a:ext uri="{FF2B5EF4-FFF2-40B4-BE49-F238E27FC236}">
                <a16:creationId xmlns:a16="http://schemas.microsoft.com/office/drawing/2014/main" id="{BDA2F796-B442-408C-84FB-CE459006B483}"/>
              </a:ext>
            </a:extLst>
          </p:cNvPr>
          <p:cNvSpPr/>
          <p:nvPr/>
        </p:nvSpPr>
        <p:spPr>
          <a:xfrm>
            <a:off x="868680" y="2132547"/>
            <a:ext cx="2495305" cy="3009904"/>
          </a:xfrm>
          <a:prstGeom prst="rect">
            <a:avLst/>
          </a:prstGeom>
          <a:noFill/>
          <a:ln/>
        </p:spPr>
        <p:txBody>
          <a:bodyPr wrap="square" lIns="0" tIns="0" rIns="0" bIns="0" rtlCol="0" anchor="ctr"/>
          <a:lstStyle/>
          <a:p>
            <a:pPr algn="l"/>
            <a:r>
              <a:rPr lang="es-MX" sz="1200" b="0" i="0" dirty="0">
                <a:effectLst/>
                <a:latin typeface="-apple-system"/>
              </a:rPr>
              <a:t>ETSformer suele guardar dos archivos principales:</a:t>
            </a:r>
          </a:p>
          <a:p>
            <a:pPr algn="l"/>
            <a:endParaRPr lang="es-MX" sz="1200" b="0" i="0" dirty="0">
              <a:effectLst/>
              <a:latin typeface="-apple-system"/>
            </a:endParaRPr>
          </a:p>
          <a:p>
            <a:pPr marL="171450" indent="-171450" algn="l">
              <a:buFont typeface="Arial" panose="020B0604020202020204" pitchFamily="34" charset="0"/>
              <a:buChar char="•"/>
            </a:pPr>
            <a:r>
              <a:rPr lang="es-MX" sz="1200" b="0" i="0" dirty="0" err="1">
                <a:effectLst/>
                <a:latin typeface="-apple-system"/>
              </a:rPr>
              <a:t>pred.npy</a:t>
            </a:r>
            <a:r>
              <a:rPr lang="es-MX" sz="1200" b="0" i="0" dirty="0">
                <a:effectLst/>
                <a:latin typeface="-apple-system"/>
              </a:rPr>
              <a:t>: predicciones del modelo.</a:t>
            </a:r>
          </a:p>
          <a:p>
            <a:pPr marL="171450" indent="-171450" algn="l">
              <a:buFont typeface="Arial" panose="020B0604020202020204" pitchFamily="34" charset="0"/>
              <a:buChar char="•"/>
            </a:pPr>
            <a:r>
              <a:rPr lang="es-MX" sz="1200" b="0" i="0" dirty="0" err="1">
                <a:effectLst/>
                <a:latin typeface="-apple-system"/>
              </a:rPr>
              <a:t>true.npy</a:t>
            </a:r>
            <a:r>
              <a:rPr lang="es-MX" sz="1200" b="0" i="0" dirty="0">
                <a:effectLst/>
                <a:latin typeface="-apple-system"/>
              </a:rPr>
              <a:t>: valores reales.</a:t>
            </a:r>
          </a:p>
          <a:p>
            <a:pPr algn="l"/>
            <a:endParaRPr lang="es-MX" sz="1200" b="0" i="0" dirty="0">
              <a:effectLst/>
              <a:latin typeface="-apple-system"/>
            </a:endParaRPr>
          </a:p>
          <a:p>
            <a:pPr algn="l"/>
            <a:r>
              <a:rPr lang="es-MX" sz="1200" b="0" i="0" dirty="0">
                <a:effectLst/>
                <a:latin typeface="-apple-system"/>
              </a:rPr>
              <a:t>Cada predicción tiene 24 pasos futuros.</a:t>
            </a:r>
          </a:p>
          <a:p>
            <a:pPr algn="l"/>
            <a:endParaRPr lang="es-MX" sz="1200" b="0" i="0" dirty="0">
              <a:effectLst/>
              <a:latin typeface="-apple-system"/>
            </a:endParaRPr>
          </a:p>
          <a:p>
            <a:pPr algn="l"/>
            <a:r>
              <a:rPr lang="es-MX" sz="1200" b="0" i="0" dirty="0">
                <a:effectLst/>
                <a:latin typeface="-apple-system"/>
              </a:rPr>
              <a:t>Como cada paso equivale a 15 minutos:</a:t>
            </a:r>
          </a:p>
          <a:p>
            <a:pPr algn="l"/>
            <a:endParaRPr lang="es-MX" sz="1200" b="0" i="0" dirty="0">
              <a:effectLst/>
              <a:latin typeface="-apple-system"/>
            </a:endParaRPr>
          </a:p>
          <a:p>
            <a:pPr algn="l"/>
            <a:r>
              <a:rPr lang="es-MX" sz="1200" b="0" i="0" dirty="0">
                <a:effectLst/>
                <a:latin typeface="-apple-system"/>
              </a:rPr>
              <a:t>[ 24 \times 15 = 360 \</a:t>
            </a:r>
            <a:r>
              <a:rPr lang="es-MX" sz="1200" b="0" i="0" dirty="0" err="1">
                <a:effectLst/>
                <a:latin typeface="-apple-system"/>
              </a:rPr>
              <a:t>text</a:t>
            </a:r>
            <a:r>
              <a:rPr lang="es-MX" sz="1200" b="0" i="0" dirty="0">
                <a:effectLst/>
                <a:latin typeface="-apple-system"/>
              </a:rPr>
              <a:t>{ minutos} ]</a:t>
            </a:r>
          </a:p>
          <a:p>
            <a:pPr algn="l"/>
            <a:endParaRPr lang="es-MX" sz="1200" b="0" i="0" dirty="0">
              <a:effectLst/>
              <a:latin typeface="-apple-system"/>
            </a:endParaRPr>
          </a:p>
          <a:p>
            <a:pPr algn="l"/>
            <a:r>
              <a:rPr lang="es-MX" sz="1200" b="0" i="0" dirty="0">
                <a:effectLst/>
                <a:latin typeface="-apple-system"/>
              </a:rPr>
              <a:t>Es decir, cada predicción cubre las próximas 6 horas.</a:t>
            </a:r>
          </a:p>
        </p:txBody>
      </p:sp>
    </p:spTree>
    <p:extLst>
      <p:ext uri="{BB962C8B-B14F-4D97-AF65-F5344CB8AC3E}">
        <p14:creationId xmlns:p14="http://schemas.microsoft.com/office/powerpoint/2010/main" val="1941531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Dataset: LD2011_2014</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Consumo eléctrico real de 370 clientes en Portugal — UCI Repository</a:t>
            </a:r>
            <a:endParaRPr lang="en-US" sz="1300" dirty="0"/>
          </a:p>
        </p:txBody>
      </p:sp>
      <p:sp>
        <p:nvSpPr>
          <p:cNvPr id="6" name="Shape 4"/>
          <p:cNvSpPr/>
          <p:nvPr/>
        </p:nvSpPr>
        <p:spPr>
          <a:xfrm>
            <a:off x="640080" y="1965960"/>
            <a:ext cx="5303520" cy="425196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7" name="Shape 5"/>
          <p:cNvSpPr/>
          <p:nvPr/>
        </p:nvSpPr>
        <p:spPr>
          <a:xfrm>
            <a:off x="640080" y="1965960"/>
            <a:ext cx="5303520" cy="548640"/>
          </a:xfrm>
          <a:prstGeom prst="rect">
            <a:avLst/>
          </a:prstGeom>
          <a:solidFill>
            <a:srgbClr val="1E2761"/>
          </a:solidFill>
          <a:ln/>
        </p:spPr>
        <p:txBody>
          <a:bodyPr/>
          <a:lstStyle/>
          <a:p>
            <a:endParaRPr lang="es-PE"/>
          </a:p>
        </p:txBody>
      </p:sp>
      <p:pic>
        <p:nvPicPr>
          <p:cNvPr id="8" name="Image 0" descr="preencoded.png"/>
          <p:cNvPicPr>
            <a:picLocks noChangeAspect="1"/>
          </p:cNvPicPr>
          <p:nvPr/>
        </p:nvPicPr>
        <p:blipFill>
          <a:blip r:embed="rId3"/>
          <a:stretch>
            <a:fillRect/>
          </a:stretch>
        </p:blipFill>
        <p:spPr>
          <a:xfrm>
            <a:off x="868680" y="2075688"/>
            <a:ext cx="320040" cy="320040"/>
          </a:xfrm>
          <a:prstGeom prst="rect">
            <a:avLst/>
          </a:prstGeom>
        </p:spPr>
      </p:pic>
      <p:sp>
        <p:nvSpPr>
          <p:cNvPr id="9" name="Text 6"/>
          <p:cNvSpPr/>
          <p:nvPr/>
        </p:nvSpPr>
        <p:spPr>
          <a:xfrm>
            <a:off x="1280160" y="2075688"/>
            <a:ext cx="45720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Ficha del dataset</a:t>
            </a:r>
            <a:endParaRPr lang="en-US" sz="1400" dirty="0"/>
          </a:p>
        </p:txBody>
      </p:sp>
      <p:sp>
        <p:nvSpPr>
          <p:cNvPr id="10" name="Text 7"/>
          <p:cNvSpPr/>
          <p:nvPr/>
        </p:nvSpPr>
        <p:spPr>
          <a:xfrm>
            <a:off x="868680" y="26517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Fuente</a:t>
            </a:r>
            <a:endParaRPr lang="en-US" sz="1200" dirty="0"/>
          </a:p>
        </p:txBody>
      </p:sp>
      <p:sp>
        <p:nvSpPr>
          <p:cNvPr id="11" name="Text 8"/>
          <p:cNvSpPr/>
          <p:nvPr/>
        </p:nvSpPr>
        <p:spPr>
          <a:xfrm>
            <a:off x="2926080" y="26517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UCI Machine Learning Repository</a:t>
            </a:r>
            <a:endParaRPr lang="en-US" sz="1200" dirty="0"/>
          </a:p>
        </p:txBody>
      </p:sp>
      <p:sp>
        <p:nvSpPr>
          <p:cNvPr id="12" name="Text 9"/>
          <p:cNvSpPr/>
          <p:nvPr/>
        </p:nvSpPr>
        <p:spPr>
          <a:xfrm>
            <a:off x="868680" y="31089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Periodo</a:t>
            </a:r>
            <a:endParaRPr lang="en-US" sz="1200" dirty="0"/>
          </a:p>
        </p:txBody>
      </p:sp>
      <p:sp>
        <p:nvSpPr>
          <p:cNvPr id="13" name="Text 10"/>
          <p:cNvSpPr/>
          <p:nvPr/>
        </p:nvSpPr>
        <p:spPr>
          <a:xfrm>
            <a:off x="2926080" y="31089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2011 – 2014 (4 años)</a:t>
            </a:r>
            <a:endParaRPr lang="en-US" sz="1200" dirty="0"/>
          </a:p>
        </p:txBody>
      </p:sp>
      <p:sp>
        <p:nvSpPr>
          <p:cNvPr id="14" name="Text 11"/>
          <p:cNvSpPr/>
          <p:nvPr/>
        </p:nvSpPr>
        <p:spPr>
          <a:xfrm>
            <a:off x="868680" y="35661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Frecuencia</a:t>
            </a:r>
            <a:endParaRPr lang="en-US" sz="1200" dirty="0"/>
          </a:p>
        </p:txBody>
      </p:sp>
      <p:sp>
        <p:nvSpPr>
          <p:cNvPr id="15" name="Text 12"/>
          <p:cNvSpPr/>
          <p:nvPr/>
        </p:nvSpPr>
        <p:spPr>
          <a:xfrm>
            <a:off x="2926080" y="35661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1 medición cada 15 minutos</a:t>
            </a:r>
            <a:endParaRPr lang="en-US" sz="1200" dirty="0"/>
          </a:p>
        </p:txBody>
      </p:sp>
      <p:sp>
        <p:nvSpPr>
          <p:cNvPr id="16" name="Text 13"/>
          <p:cNvSpPr/>
          <p:nvPr/>
        </p:nvSpPr>
        <p:spPr>
          <a:xfrm>
            <a:off x="868680" y="40233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Total registros</a:t>
            </a:r>
            <a:endParaRPr lang="en-US" sz="1200" dirty="0"/>
          </a:p>
        </p:txBody>
      </p:sp>
      <p:sp>
        <p:nvSpPr>
          <p:cNvPr id="17" name="Text 14"/>
          <p:cNvSpPr/>
          <p:nvPr/>
        </p:nvSpPr>
        <p:spPr>
          <a:xfrm>
            <a:off x="2926080" y="40233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140,256 filas × 370 clientes</a:t>
            </a:r>
            <a:endParaRPr lang="en-US" sz="1200" dirty="0"/>
          </a:p>
        </p:txBody>
      </p:sp>
      <p:sp>
        <p:nvSpPr>
          <p:cNvPr id="18" name="Text 15"/>
          <p:cNvSpPr/>
          <p:nvPr/>
        </p:nvSpPr>
        <p:spPr>
          <a:xfrm>
            <a:off x="868680" y="44805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Cliente elegido</a:t>
            </a:r>
            <a:endParaRPr lang="en-US" sz="1200" dirty="0"/>
          </a:p>
        </p:txBody>
      </p:sp>
      <p:sp>
        <p:nvSpPr>
          <p:cNvPr id="19" name="Text 16"/>
          <p:cNvSpPr/>
          <p:nvPr/>
        </p:nvSpPr>
        <p:spPr>
          <a:xfrm>
            <a:off x="2926080" y="44805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MT_362 (mayor consumo)</a:t>
            </a:r>
            <a:endParaRPr lang="en-US" sz="1200" dirty="0"/>
          </a:p>
        </p:txBody>
      </p:sp>
      <p:sp>
        <p:nvSpPr>
          <p:cNvPr id="20" name="Text 17"/>
          <p:cNvSpPr/>
          <p:nvPr/>
        </p:nvSpPr>
        <p:spPr>
          <a:xfrm>
            <a:off x="868680" y="49377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Ventana de estudio</a:t>
            </a:r>
            <a:endParaRPr lang="en-US" sz="1200" dirty="0"/>
          </a:p>
        </p:txBody>
      </p:sp>
      <p:sp>
        <p:nvSpPr>
          <p:cNvPr id="21" name="Text 18"/>
          <p:cNvSpPr/>
          <p:nvPr/>
        </p:nvSpPr>
        <p:spPr>
          <a:xfrm>
            <a:off x="2926080" y="49377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desde 2012 (105,217 registros)</a:t>
            </a:r>
            <a:endParaRPr lang="en-US" sz="1200" dirty="0"/>
          </a:p>
        </p:txBody>
      </p:sp>
      <p:sp>
        <p:nvSpPr>
          <p:cNvPr id="22" name="Text 19"/>
          <p:cNvSpPr/>
          <p:nvPr/>
        </p:nvSpPr>
        <p:spPr>
          <a:xfrm>
            <a:off x="868680" y="53949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Tipo de problema</a:t>
            </a:r>
            <a:endParaRPr lang="en-US" sz="1200" dirty="0"/>
          </a:p>
        </p:txBody>
      </p:sp>
      <p:sp>
        <p:nvSpPr>
          <p:cNvPr id="23" name="Text 20"/>
          <p:cNvSpPr/>
          <p:nvPr/>
        </p:nvSpPr>
        <p:spPr>
          <a:xfrm>
            <a:off x="2926080" y="53949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Forecasting univariado</a:t>
            </a:r>
            <a:endParaRPr lang="en-US" sz="1200" dirty="0"/>
          </a:p>
        </p:txBody>
      </p:sp>
      <p:sp>
        <p:nvSpPr>
          <p:cNvPr id="24" name="Shape 21"/>
          <p:cNvSpPr/>
          <p:nvPr/>
        </p:nvSpPr>
        <p:spPr>
          <a:xfrm>
            <a:off x="6217920" y="1965960"/>
            <a:ext cx="5303520" cy="425196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25" name="Text 22"/>
          <p:cNvSpPr/>
          <p:nvPr/>
        </p:nvSpPr>
        <p:spPr>
          <a:xfrm>
            <a:off x="6400800" y="2103120"/>
            <a:ext cx="4937760"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Vista previa: 2 semanas de consumo</a:t>
            </a:r>
            <a:endParaRPr lang="en-US" sz="1300" dirty="0"/>
          </a:p>
        </p:txBody>
      </p:sp>
      <p:sp>
        <p:nvSpPr>
          <p:cNvPr id="26" name="Text 23"/>
          <p:cNvSpPr/>
          <p:nvPr/>
        </p:nvSpPr>
        <p:spPr>
          <a:xfrm>
            <a:off x="6400800" y="2423160"/>
            <a:ext cx="493776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Patrón diario claro · picos en la noche · ciclos repetitivos</a:t>
            </a:r>
            <a:endParaRPr lang="en-US" sz="1100" dirty="0"/>
          </a:p>
        </p:txBody>
      </p:sp>
      <p:graphicFrame>
        <p:nvGraphicFramePr>
          <p:cNvPr id="27" name="Chart 0"/>
          <p:cNvGraphicFramePr/>
          <p:nvPr/>
        </p:nvGraphicFramePr>
        <p:xfrm>
          <a:off x="6400800" y="2788920"/>
          <a:ext cx="502920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28" name="Shape 24"/>
          <p:cNvSpPr/>
          <p:nvPr/>
        </p:nvSpPr>
        <p:spPr>
          <a:xfrm>
            <a:off x="548640" y="6473952"/>
            <a:ext cx="11064240" cy="18288"/>
          </a:xfrm>
          <a:prstGeom prst="rect">
            <a:avLst/>
          </a:prstGeom>
          <a:solidFill>
            <a:srgbClr val="D1D5DB"/>
          </a:solidFill>
          <a:ln/>
        </p:spPr>
        <p:txBody>
          <a:bodyPr/>
          <a:lstStyle/>
          <a:p>
            <a:endParaRPr lang="es-PE"/>
          </a:p>
        </p:txBody>
      </p:sp>
      <p:sp>
        <p:nvSpPr>
          <p:cNvPr id="29"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0"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5 / 11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IV</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Metodología aplicada</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Pipeline completo: del dato bruto al pronóstico</a:t>
            </a:r>
            <a:endParaRPr lang="en-US" sz="1300" dirty="0"/>
          </a:p>
        </p:txBody>
      </p:sp>
      <p:sp>
        <p:nvSpPr>
          <p:cNvPr id="6" name="Shape 4"/>
          <p:cNvSpPr/>
          <p:nvPr/>
        </p:nvSpPr>
        <p:spPr>
          <a:xfrm>
            <a:off x="708660" y="1965960"/>
            <a:ext cx="1965960" cy="137160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7" name="Shape 5"/>
          <p:cNvSpPr/>
          <p:nvPr/>
        </p:nvSpPr>
        <p:spPr>
          <a:xfrm>
            <a:off x="708660" y="1965960"/>
            <a:ext cx="1965960" cy="73152"/>
          </a:xfrm>
          <a:prstGeom prst="rect">
            <a:avLst/>
          </a:prstGeom>
          <a:solidFill>
            <a:srgbClr val="1E2761"/>
          </a:solidFill>
          <a:ln/>
        </p:spPr>
        <p:txBody>
          <a:bodyPr/>
          <a:lstStyle/>
          <a:p>
            <a:endParaRPr lang="es-PE"/>
          </a:p>
        </p:txBody>
      </p:sp>
      <p:pic>
        <p:nvPicPr>
          <p:cNvPr id="8" name="Image 0" descr="preencoded.png"/>
          <p:cNvPicPr>
            <a:picLocks noChangeAspect="1"/>
          </p:cNvPicPr>
          <p:nvPr/>
        </p:nvPicPr>
        <p:blipFill>
          <a:blip r:embed="rId3"/>
          <a:stretch>
            <a:fillRect/>
          </a:stretch>
        </p:blipFill>
        <p:spPr>
          <a:xfrm>
            <a:off x="1417320" y="2194560"/>
            <a:ext cx="548640" cy="548640"/>
          </a:xfrm>
          <a:prstGeom prst="rect">
            <a:avLst/>
          </a:prstGeom>
        </p:spPr>
      </p:pic>
      <p:sp>
        <p:nvSpPr>
          <p:cNvPr id="9" name="Text 6"/>
          <p:cNvSpPr/>
          <p:nvPr/>
        </p:nvSpPr>
        <p:spPr>
          <a:xfrm>
            <a:off x="800100" y="2788920"/>
            <a:ext cx="1783080" cy="50292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Carga</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de datos</a:t>
            </a:r>
            <a:endParaRPr lang="en-US" sz="1200" dirty="0"/>
          </a:p>
        </p:txBody>
      </p:sp>
      <p:sp>
        <p:nvSpPr>
          <p:cNvPr id="10" name="Shape 7"/>
          <p:cNvSpPr/>
          <p:nvPr/>
        </p:nvSpPr>
        <p:spPr>
          <a:xfrm rot="5400000">
            <a:off x="2656332" y="2487168"/>
            <a:ext cx="228600" cy="329184"/>
          </a:xfrm>
          <a:prstGeom prst="rtTriangle">
            <a:avLst/>
          </a:prstGeom>
          <a:solidFill>
            <a:srgbClr val="B8860B"/>
          </a:solidFill>
          <a:ln/>
        </p:spPr>
        <p:txBody>
          <a:bodyPr/>
          <a:lstStyle/>
          <a:p>
            <a:endParaRPr lang="es-PE"/>
          </a:p>
        </p:txBody>
      </p:sp>
      <p:sp>
        <p:nvSpPr>
          <p:cNvPr id="11" name="Shape 8"/>
          <p:cNvSpPr/>
          <p:nvPr/>
        </p:nvSpPr>
        <p:spPr>
          <a:xfrm>
            <a:off x="2903220" y="1965960"/>
            <a:ext cx="1965960" cy="137160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12" name="Shape 9"/>
          <p:cNvSpPr/>
          <p:nvPr/>
        </p:nvSpPr>
        <p:spPr>
          <a:xfrm>
            <a:off x="2903220" y="1965960"/>
            <a:ext cx="1965960" cy="73152"/>
          </a:xfrm>
          <a:prstGeom prst="rect">
            <a:avLst/>
          </a:prstGeom>
          <a:solidFill>
            <a:srgbClr val="1E2761"/>
          </a:solidFill>
          <a:ln/>
        </p:spPr>
        <p:txBody>
          <a:bodyPr/>
          <a:lstStyle/>
          <a:p>
            <a:endParaRPr lang="es-PE"/>
          </a:p>
        </p:txBody>
      </p:sp>
      <p:pic>
        <p:nvPicPr>
          <p:cNvPr id="13" name="Image 1" descr="preencoded.png"/>
          <p:cNvPicPr>
            <a:picLocks noChangeAspect="1"/>
          </p:cNvPicPr>
          <p:nvPr/>
        </p:nvPicPr>
        <p:blipFill>
          <a:blip r:embed="rId4"/>
          <a:stretch>
            <a:fillRect/>
          </a:stretch>
        </p:blipFill>
        <p:spPr>
          <a:xfrm>
            <a:off x="3611880" y="2194560"/>
            <a:ext cx="548640" cy="548640"/>
          </a:xfrm>
          <a:prstGeom prst="rect">
            <a:avLst/>
          </a:prstGeom>
        </p:spPr>
      </p:pic>
      <p:sp>
        <p:nvSpPr>
          <p:cNvPr id="14" name="Text 10"/>
          <p:cNvSpPr/>
          <p:nvPr/>
        </p:nvSpPr>
        <p:spPr>
          <a:xfrm>
            <a:off x="2994660" y="2788920"/>
            <a:ext cx="1783080" cy="50292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Selección</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de cliente</a:t>
            </a:r>
            <a:endParaRPr lang="en-US" sz="1200" dirty="0"/>
          </a:p>
        </p:txBody>
      </p:sp>
      <p:sp>
        <p:nvSpPr>
          <p:cNvPr id="15" name="Shape 11"/>
          <p:cNvSpPr/>
          <p:nvPr/>
        </p:nvSpPr>
        <p:spPr>
          <a:xfrm rot="5400000">
            <a:off x="4850892" y="2487168"/>
            <a:ext cx="228600" cy="329184"/>
          </a:xfrm>
          <a:prstGeom prst="rtTriangle">
            <a:avLst/>
          </a:prstGeom>
          <a:solidFill>
            <a:srgbClr val="B8860B"/>
          </a:solidFill>
          <a:ln/>
        </p:spPr>
        <p:txBody>
          <a:bodyPr/>
          <a:lstStyle/>
          <a:p>
            <a:endParaRPr lang="es-PE"/>
          </a:p>
        </p:txBody>
      </p:sp>
      <p:sp>
        <p:nvSpPr>
          <p:cNvPr id="16" name="Shape 12"/>
          <p:cNvSpPr/>
          <p:nvPr/>
        </p:nvSpPr>
        <p:spPr>
          <a:xfrm>
            <a:off x="5097780" y="1965960"/>
            <a:ext cx="1965960" cy="137160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17" name="Shape 13"/>
          <p:cNvSpPr/>
          <p:nvPr/>
        </p:nvSpPr>
        <p:spPr>
          <a:xfrm>
            <a:off x="5097780" y="1965960"/>
            <a:ext cx="1965960" cy="73152"/>
          </a:xfrm>
          <a:prstGeom prst="rect">
            <a:avLst/>
          </a:prstGeom>
          <a:solidFill>
            <a:srgbClr val="1E2761"/>
          </a:solidFill>
          <a:ln/>
        </p:spPr>
        <p:txBody>
          <a:bodyPr/>
          <a:lstStyle/>
          <a:p>
            <a:endParaRPr lang="es-PE"/>
          </a:p>
        </p:txBody>
      </p:sp>
      <p:pic>
        <p:nvPicPr>
          <p:cNvPr id="18" name="Image 2" descr="preencoded.png"/>
          <p:cNvPicPr>
            <a:picLocks noChangeAspect="1"/>
          </p:cNvPicPr>
          <p:nvPr/>
        </p:nvPicPr>
        <p:blipFill>
          <a:blip r:embed="rId5"/>
          <a:stretch>
            <a:fillRect/>
          </a:stretch>
        </p:blipFill>
        <p:spPr>
          <a:xfrm>
            <a:off x="5806440" y="2194560"/>
            <a:ext cx="548640" cy="548640"/>
          </a:xfrm>
          <a:prstGeom prst="rect">
            <a:avLst/>
          </a:prstGeom>
        </p:spPr>
      </p:pic>
      <p:sp>
        <p:nvSpPr>
          <p:cNvPr id="19" name="Text 14"/>
          <p:cNvSpPr/>
          <p:nvPr/>
        </p:nvSpPr>
        <p:spPr>
          <a:xfrm>
            <a:off x="5189220" y="2788920"/>
            <a:ext cx="1783080" cy="50292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Preprocesar</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y limpiar</a:t>
            </a:r>
            <a:endParaRPr lang="en-US" sz="1200" dirty="0"/>
          </a:p>
        </p:txBody>
      </p:sp>
      <p:sp>
        <p:nvSpPr>
          <p:cNvPr id="20" name="Shape 15"/>
          <p:cNvSpPr/>
          <p:nvPr/>
        </p:nvSpPr>
        <p:spPr>
          <a:xfrm rot="5400000">
            <a:off x="7045452" y="2487168"/>
            <a:ext cx="228600" cy="329184"/>
          </a:xfrm>
          <a:prstGeom prst="rtTriangle">
            <a:avLst/>
          </a:prstGeom>
          <a:solidFill>
            <a:srgbClr val="B8860B"/>
          </a:solidFill>
          <a:ln/>
        </p:spPr>
        <p:txBody>
          <a:bodyPr/>
          <a:lstStyle/>
          <a:p>
            <a:endParaRPr lang="es-PE"/>
          </a:p>
        </p:txBody>
      </p:sp>
      <p:sp>
        <p:nvSpPr>
          <p:cNvPr id="21" name="Shape 16"/>
          <p:cNvSpPr/>
          <p:nvPr/>
        </p:nvSpPr>
        <p:spPr>
          <a:xfrm>
            <a:off x="7292340" y="1965960"/>
            <a:ext cx="1965960" cy="137160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22" name="Shape 17"/>
          <p:cNvSpPr/>
          <p:nvPr/>
        </p:nvSpPr>
        <p:spPr>
          <a:xfrm>
            <a:off x="7292340" y="1965960"/>
            <a:ext cx="1965960" cy="73152"/>
          </a:xfrm>
          <a:prstGeom prst="rect">
            <a:avLst/>
          </a:prstGeom>
          <a:solidFill>
            <a:srgbClr val="1E2761"/>
          </a:solidFill>
          <a:ln/>
        </p:spPr>
        <p:txBody>
          <a:bodyPr/>
          <a:lstStyle/>
          <a:p>
            <a:endParaRPr lang="es-PE"/>
          </a:p>
        </p:txBody>
      </p:sp>
      <p:pic>
        <p:nvPicPr>
          <p:cNvPr id="23" name="Image 3" descr="preencoded.png"/>
          <p:cNvPicPr>
            <a:picLocks noChangeAspect="1"/>
          </p:cNvPicPr>
          <p:nvPr/>
        </p:nvPicPr>
        <p:blipFill>
          <a:blip r:embed="rId6"/>
          <a:stretch>
            <a:fillRect/>
          </a:stretch>
        </p:blipFill>
        <p:spPr>
          <a:xfrm>
            <a:off x="8001000" y="2194560"/>
            <a:ext cx="548640" cy="548640"/>
          </a:xfrm>
          <a:prstGeom prst="rect">
            <a:avLst/>
          </a:prstGeom>
        </p:spPr>
      </p:pic>
      <p:sp>
        <p:nvSpPr>
          <p:cNvPr id="24" name="Text 18"/>
          <p:cNvSpPr/>
          <p:nvPr/>
        </p:nvSpPr>
        <p:spPr>
          <a:xfrm>
            <a:off x="7383780" y="2788920"/>
            <a:ext cx="1783080" cy="50292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Entrenar</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ETSformer</a:t>
            </a:r>
            <a:endParaRPr lang="en-US" sz="1200" dirty="0"/>
          </a:p>
        </p:txBody>
      </p:sp>
      <p:sp>
        <p:nvSpPr>
          <p:cNvPr id="25" name="Shape 19"/>
          <p:cNvSpPr/>
          <p:nvPr/>
        </p:nvSpPr>
        <p:spPr>
          <a:xfrm rot="5400000">
            <a:off x="9240012" y="2487168"/>
            <a:ext cx="228600" cy="329184"/>
          </a:xfrm>
          <a:prstGeom prst="rtTriangle">
            <a:avLst/>
          </a:prstGeom>
          <a:solidFill>
            <a:srgbClr val="B8860B"/>
          </a:solidFill>
          <a:ln/>
        </p:spPr>
        <p:txBody>
          <a:bodyPr/>
          <a:lstStyle/>
          <a:p>
            <a:endParaRPr lang="es-PE"/>
          </a:p>
        </p:txBody>
      </p:sp>
      <p:sp>
        <p:nvSpPr>
          <p:cNvPr id="26" name="Shape 20"/>
          <p:cNvSpPr/>
          <p:nvPr/>
        </p:nvSpPr>
        <p:spPr>
          <a:xfrm>
            <a:off x="9486900" y="1965960"/>
            <a:ext cx="1965960" cy="137160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27" name="Shape 21"/>
          <p:cNvSpPr/>
          <p:nvPr/>
        </p:nvSpPr>
        <p:spPr>
          <a:xfrm>
            <a:off x="9486900" y="1965960"/>
            <a:ext cx="1965960" cy="73152"/>
          </a:xfrm>
          <a:prstGeom prst="rect">
            <a:avLst/>
          </a:prstGeom>
          <a:solidFill>
            <a:srgbClr val="1E2761"/>
          </a:solidFill>
          <a:ln/>
        </p:spPr>
        <p:txBody>
          <a:bodyPr/>
          <a:lstStyle/>
          <a:p>
            <a:endParaRPr lang="es-PE"/>
          </a:p>
        </p:txBody>
      </p:sp>
      <p:pic>
        <p:nvPicPr>
          <p:cNvPr id="28" name="Image 4" descr="preencoded.png"/>
          <p:cNvPicPr>
            <a:picLocks noChangeAspect="1"/>
          </p:cNvPicPr>
          <p:nvPr/>
        </p:nvPicPr>
        <p:blipFill>
          <a:blip r:embed="rId7"/>
          <a:stretch>
            <a:fillRect/>
          </a:stretch>
        </p:blipFill>
        <p:spPr>
          <a:xfrm>
            <a:off x="10195560" y="2194560"/>
            <a:ext cx="548640" cy="548640"/>
          </a:xfrm>
          <a:prstGeom prst="rect">
            <a:avLst/>
          </a:prstGeom>
        </p:spPr>
      </p:pic>
      <p:sp>
        <p:nvSpPr>
          <p:cNvPr id="29" name="Text 22"/>
          <p:cNvSpPr/>
          <p:nvPr/>
        </p:nvSpPr>
        <p:spPr>
          <a:xfrm>
            <a:off x="9578340" y="2788920"/>
            <a:ext cx="1783080" cy="50292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Generar</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predicción</a:t>
            </a:r>
            <a:endParaRPr lang="en-US" sz="1200" dirty="0"/>
          </a:p>
        </p:txBody>
      </p:sp>
      <p:sp>
        <p:nvSpPr>
          <p:cNvPr id="30" name="Text 23"/>
          <p:cNvSpPr/>
          <p:nvPr/>
        </p:nvSpPr>
        <p:spPr>
          <a:xfrm>
            <a:off x="640080" y="3657600"/>
            <a:ext cx="10881360" cy="36576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Configuración del modelo (parámetros principales)</a:t>
            </a:r>
            <a:endParaRPr lang="en-US" sz="1600" dirty="0"/>
          </a:p>
        </p:txBody>
      </p:sp>
      <p:sp>
        <p:nvSpPr>
          <p:cNvPr id="31" name="Shape 24"/>
          <p:cNvSpPr/>
          <p:nvPr/>
        </p:nvSpPr>
        <p:spPr>
          <a:xfrm>
            <a:off x="640080" y="4023360"/>
            <a:ext cx="457200" cy="27432"/>
          </a:xfrm>
          <a:prstGeom prst="rect">
            <a:avLst/>
          </a:prstGeom>
          <a:solidFill>
            <a:srgbClr val="B8860B"/>
          </a:solidFill>
          <a:ln/>
        </p:spPr>
        <p:txBody>
          <a:bodyPr/>
          <a:lstStyle/>
          <a:p>
            <a:endParaRPr lang="es-PE"/>
          </a:p>
        </p:txBody>
      </p:sp>
      <p:sp>
        <p:nvSpPr>
          <p:cNvPr id="32" name="Shape 25"/>
          <p:cNvSpPr/>
          <p:nvPr/>
        </p:nvSpPr>
        <p:spPr>
          <a:xfrm>
            <a:off x="640080" y="4206240"/>
            <a:ext cx="2583180" cy="86868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33" name="Shape 26"/>
          <p:cNvSpPr/>
          <p:nvPr/>
        </p:nvSpPr>
        <p:spPr>
          <a:xfrm>
            <a:off x="640080" y="4206240"/>
            <a:ext cx="73152" cy="868680"/>
          </a:xfrm>
          <a:prstGeom prst="rect">
            <a:avLst/>
          </a:prstGeom>
          <a:solidFill>
            <a:srgbClr val="B8860B"/>
          </a:solidFill>
          <a:ln/>
        </p:spPr>
        <p:txBody>
          <a:bodyPr/>
          <a:lstStyle/>
          <a:p>
            <a:endParaRPr lang="es-PE"/>
          </a:p>
        </p:txBody>
      </p:sp>
      <p:sp>
        <p:nvSpPr>
          <p:cNvPr id="34" name="Text 27"/>
          <p:cNvSpPr/>
          <p:nvPr/>
        </p:nvSpPr>
        <p:spPr>
          <a:xfrm>
            <a:off x="868680" y="429768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seq_len</a:t>
            </a:r>
            <a:endParaRPr lang="en-US" sz="1100" dirty="0"/>
          </a:p>
        </p:txBody>
      </p:sp>
      <p:sp>
        <p:nvSpPr>
          <p:cNvPr id="35" name="Text 28"/>
          <p:cNvSpPr/>
          <p:nvPr/>
        </p:nvSpPr>
        <p:spPr>
          <a:xfrm>
            <a:off x="868680" y="452628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48</a:t>
            </a:r>
            <a:endParaRPr lang="en-US" sz="1800" dirty="0"/>
          </a:p>
        </p:txBody>
      </p:sp>
      <p:sp>
        <p:nvSpPr>
          <p:cNvPr id="36" name="Text 29"/>
          <p:cNvSpPr/>
          <p:nvPr/>
        </p:nvSpPr>
        <p:spPr>
          <a:xfrm>
            <a:off x="868680" y="484632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12 h de historia</a:t>
            </a:r>
            <a:endParaRPr lang="en-US" sz="1000" dirty="0"/>
          </a:p>
        </p:txBody>
      </p:sp>
      <p:sp>
        <p:nvSpPr>
          <p:cNvPr id="37" name="Shape 30"/>
          <p:cNvSpPr/>
          <p:nvPr/>
        </p:nvSpPr>
        <p:spPr>
          <a:xfrm>
            <a:off x="3360420" y="4206240"/>
            <a:ext cx="2583180" cy="86868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38" name="Shape 31"/>
          <p:cNvSpPr/>
          <p:nvPr/>
        </p:nvSpPr>
        <p:spPr>
          <a:xfrm>
            <a:off x="3360420" y="4206240"/>
            <a:ext cx="73152" cy="868680"/>
          </a:xfrm>
          <a:prstGeom prst="rect">
            <a:avLst/>
          </a:prstGeom>
          <a:solidFill>
            <a:srgbClr val="B8860B"/>
          </a:solidFill>
          <a:ln/>
        </p:spPr>
        <p:txBody>
          <a:bodyPr/>
          <a:lstStyle/>
          <a:p>
            <a:endParaRPr lang="es-PE"/>
          </a:p>
        </p:txBody>
      </p:sp>
      <p:sp>
        <p:nvSpPr>
          <p:cNvPr id="39" name="Text 32"/>
          <p:cNvSpPr/>
          <p:nvPr/>
        </p:nvSpPr>
        <p:spPr>
          <a:xfrm>
            <a:off x="3589020" y="429768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pred_len</a:t>
            </a:r>
            <a:endParaRPr lang="en-US" sz="1100" dirty="0"/>
          </a:p>
        </p:txBody>
      </p:sp>
      <p:sp>
        <p:nvSpPr>
          <p:cNvPr id="40" name="Text 33"/>
          <p:cNvSpPr/>
          <p:nvPr/>
        </p:nvSpPr>
        <p:spPr>
          <a:xfrm>
            <a:off x="3589020" y="452628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12</a:t>
            </a:r>
            <a:endParaRPr lang="en-US" sz="1800" dirty="0"/>
          </a:p>
        </p:txBody>
      </p:sp>
      <p:sp>
        <p:nvSpPr>
          <p:cNvPr id="41" name="Text 34"/>
          <p:cNvSpPr/>
          <p:nvPr/>
        </p:nvSpPr>
        <p:spPr>
          <a:xfrm>
            <a:off x="3589020" y="484632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3 h de predicción</a:t>
            </a:r>
            <a:endParaRPr lang="en-US" sz="1000" dirty="0"/>
          </a:p>
        </p:txBody>
      </p:sp>
      <p:sp>
        <p:nvSpPr>
          <p:cNvPr id="42" name="Shape 35"/>
          <p:cNvSpPr/>
          <p:nvPr/>
        </p:nvSpPr>
        <p:spPr>
          <a:xfrm>
            <a:off x="6080760" y="4206240"/>
            <a:ext cx="2583180" cy="86868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43" name="Shape 36"/>
          <p:cNvSpPr/>
          <p:nvPr/>
        </p:nvSpPr>
        <p:spPr>
          <a:xfrm>
            <a:off x="6080760" y="4206240"/>
            <a:ext cx="73152" cy="868680"/>
          </a:xfrm>
          <a:prstGeom prst="rect">
            <a:avLst/>
          </a:prstGeom>
          <a:solidFill>
            <a:srgbClr val="B8860B"/>
          </a:solidFill>
          <a:ln/>
        </p:spPr>
        <p:txBody>
          <a:bodyPr/>
          <a:lstStyle/>
          <a:p>
            <a:endParaRPr lang="es-PE"/>
          </a:p>
        </p:txBody>
      </p:sp>
      <p:sp>
        <p:nvSpPr>
          <p:cNvPr id="44" name="Text 37"/>
          <p:cNvSpPr/>
          <p:nvPr/>
        </p:nvSpPr>
        <p:spPr>
          <a:xfrm>
            <a:off x="6309360" y="429768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features</a:t>
            </a:r>
            <a:endParaRPr lang="en-US" sz="1100" dirty="0"/>
          </a:p>
        </p:txBody>
      </p:sp>
      <p:sp>
        <p:nvSpPr>
          <p:cNvPr id="45" name="Text 38"/>
          <p:cNvSpPr/>
          <p:nvPr/>
        </p:nvSpPr>
        <p:spPr>
          <a:xfrm>
            <a:off x="6309360" y="452628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S</a:t>
            </a:r>
            <a:endParaRPr lang="en-US" sz="1800" dirty="0"/>
          </a:p>
        </p:txBody>
      </p:sp>
      <p:sp>
        <p:nvSpPr>
          <p:cNvPr id="46" name="Text 39"/>
          <p:cNvSpPr/>
          <p:nvPr/>
        </p:nvSpPr>
        <p:spPr>
          <a:xfrm>
            <a:off x="6309360" y="484632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univariado</a:t>
            </a:r>
            <a:endParaRPr lang="en-US" sz="1000" dirty="0"/>
          </a:p>
        </p:txBody>
      </p:sp>
      <p:sp>
        <p:nvSpPr>
          <p:cNvPr id="47" name="Shape 40"/>
          <p:cNvSpPr/>
          <p:nvPr/>
        </p:nvSpPr>
        <p:spPr>
          <a:xfrm>
            <a:off x="8801100" y="4206240"/>
            <a:ext cx="2583180" cy="86868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48" name="Shape 41"/>
          <p:cNvSpPr/>
          <p:nvPr/>
        </p:nvSpPr>
        <p:spPr>
          <a:xfrm>
            <a:off x="8801100" y="4206240"/>
            <a:ext cx="73152" cy="868680"/>
          </a:xfrm>
          <a:prstGeom prst="rect">
            <a:avLst/>
          </a:prstGeom>
          <a:solidFill>
            <a:srgbClr val="B8860B"/>
          </a:solidFill>
          <a:ln/>
        </p:spPr>
        <p:txBody>
          <a:bodyPr/>
          <a:lstStyle/>
          <a:p>
            <a:endParaRPr lang="es-PE"/>
          </a:p>
        </p:txBody>
      </p:sp>
      <p:sp>
        <p:nvSpPr>
          <p:cNvPr id="49" name="Text 42"/>
          <p:cNvSpPr/>
          <p:nvPr/>
        </p:nvSpPr>
        <p:spPr>
          <a:xfrm>
            <a:off x="9029700" y="429768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K</a:t>
            </a:r>
            <a:endParaRPr lang="en-US" sz="1100" dirty="0"/>
          </a:p>
        </p:txBody>
      </p:sp>
      <p:sp>
        <p:nvSpPr>
          <p:cNvPr id="50" name="Text 43"/>
          <p:cNvSpPr/>
          <p:nvPr/>
        </p:nvSpPr>
        <p:spPr>
          <a:xfrm>
            <a:off x="9029700" y="452628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1</a:t>
            </a:r>
            <a:endParaRPr lang="en-US" sz="1800" dirty="0"/>
          </a:p>
        </p:txBody>
      </p:sp>
      <p:sp>
        <p:nvSpPr>
          <p:cNvPr id="51" name="Text 44"/>
          <p:cNvSpPr/>
          <p:nvPr/>
        </p:nvSpPr>
        <p:spPr>
          <a:xfrm>
            <a:off x="9029700" y="484632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1 frecuencia (FA)</a:t>
            </a:r>
            <a:endParaRPr lang="en-US" sz="1000" dirty="0"/>
          </a:p>
        </p:txBody>
      </p:sp>
      <p:sp>
        <p:nvSpPr>
          <p:cNvPr id="52" name="Shape 45"/>
          <p:cNvSpPr/>
          <p:nvPr/>
        </p:nvSpPr>
        <p:spPr>
          <a:xfrm>
            <a:off x="640080" y="5166360"/>
            <a:ext cx="2583180" cy="86868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53" name="Shape 46"/>
          <p:cNvSpPr/>
          <p:nvPr/>
        </p:nvSpPr>
        <p:spPr>
          <a:xfrm>
            <a:off x="640080" y="5166360"/>
            <a:ext cx="73152" cy="868680"/>
          </a:xfrm>
          <a:prstGeom prst="rect">
            <a:avLst/>
          </a:prstGeom>
          <a:solidFill>
            <a:srgbClr val="B8860B"/>
          </a:solidFill>
          <a:ln/>
        </p:spPr>
        <p:txBody>
          <a:bodyPr/>
          <a:lstStyle/>
          <a:p>
            <a:endParaRPr lang="es-PE"/>
          </a:p>
        </p:txBody>
      </p:sp>
      <p:sp>
        <p:nvSpPr>
          <p:cNvPr id="54" name="Text 47"/>
          <p:cNvSpPr/>
          <p:nvPr/>
        </p:nvSpPr>
        <p:spPr>
          <a:xfrm>
            <a:off x="868680" y="525780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d_model</a:t>
            </a:r>
            <a:endParaRPr lang="en-US" sz="1100" dirty="0"/>
          </a:p>
        </p:txBody>
      </p:sp>
      <p:sp>
        <p:nvSpPr>
          <p:cNvPr id="55" name="Text 48"/>
          <p:cNvSpPr/>
          <p:nvPr/>
        </p:nvSpPr>
        <p:spPr>
          <a:xfrm>
            <a:off x="868680" y="548640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32</a:t>
            </a:r>
            <a:endParaRPr lang="en-US" sz="1800" dirty="0"/>
          </a:p>
        </p:txBody>
      </p:sp>
      <p:sp>
        <p:nvSpPr>
          <p:cNvPr id="56" name="Text 49"/>
          <p:cNvSpPr/>
          <p:nvPr/>
        </p:nvSpPr>
        <p:spPr>
          <a:xfrm>
            <a:off x="868680" y="580644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tamaño interno</a:t>
            </a:r>
            <a:endParaRPr lang="en-US" sz="1000" dirty="0"/>
          </a:p>
        </p:txBody>
      </p:sp>
      <p:sp>
        <p:nvSpPr>
          <p:cNvPr id="57" name="Shape 50"/>
          <p:cNvSpPr/>
          <p:nvPr/>
        </p:nvSpPr>
        <p:spPr>
          <a:xfrm>
            <a:off x="3360420" y="5166360"/>
            <a:ext cx="2583180" cy="86868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58" name="Shape 51"/>
          <p:cNvSpPr/>
          <p:nvPr/>
        </p:nvSpPr>
        <p:spPr>
          <a:xfrm>
            <a:off x="3360420" y="5166360"/>
            <a:ext cx="73152" cy="868680"/>
          </a:xfrm>
          <a:prstGeom prst="rect">
            <a:avLst/>
          </a:prstGeom>
          <a:solidFill>
            <a:srgbClr val="B8860B"/>
          </a:solidFill>
          <a:ln/>
        </p:spPr>
        <p:txBody>
          <a:bodyPr/>
          <a:lstStyle/>
          <a:p>
            <a:endParaRPr lang="es-PE"/>
          </a:p>
        </p:txBody>
      </p:sp>
      <p:sp>
        <p:nvSpPr>
          <p:cNvPr id="59" name="Text 52"/>
          <p:cNvSpPr/>
          <p:nvPr/>
        </p:nvSpPr>
        <p:spPr>
          <a:xfrm>
            <a:off x="3589020" y="525780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epochs</a:t>
            </a:r>
            <a:endParaRPr lang="en-US" sz="1100" dirty="0"/>
          </a:p>
        </p:txBody>
      </p:sp>
      <p:sp>
        <p:nvSpPr>
          <p:cNvPr id="60" name="Text 53"/>
          <p:cNvSpPr/>
          <p:nvPr/>
        </p:nvSpPr>
        <p:spPr>
          <a:xfrm>
            <a:off x="3589020" y="548640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1</a:t>
            </a:r>
            <a:endParaRPr lang="en-US" sz="1800" dirty="0"/>
          </a:p>
        </p:txBody>
      </p:sp>
      <p:sp>
        <p:nvSpPr>
          <p:cNvPr id="61" name="Text 54"/>
          <p:cNvSpPr/>
          <p:nvPr/>
        </p:nvSpPr>
        <p:spPr>
          <a:xfrm>
            <a:off x="3589020" y="580644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demo rápida</a:t>
            </a:r>
            <a:endParaRPr lang="en-US" sz="1000" dirty="0"/>
          </a:p>
        </p:txBody>
      </p:sp>
      <p:sp>
        <p:nvSpPr>
          <p:cNvPr id="62" name="Shape 55"/>
          <p:cNvSpPr/>
          <p:nvPr/>
        </p:nvSpPr>
        <p:spPr>
          <a:xfrm>
            <a:off x="6080760" y="5166360"/>
            <a:ext cx="2583180" cy="86868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63" name="Shape 56"/>
          <p:cNvSpPr/>
          <p:nvPr/>
        </p:nvSpPr>
        <p:spPr>
          <a:xfrm>
            <a:off x="6080760" y="5166360"/>
            <a:ext cx="73152" cy="868680"/>
          </a:xfrm>
          <a:prstGeom prst="rect">
            <a:avLst/>
          </a:prstGeom>
          <a:solidFill>
            <a:srgbClr val="B8860B"/>
          </a:solidFill>
          <a:ln/>
        </p:spPr>
        <p:txBody>
          <a:bodyPr/>
          <a:lstStyle/>
          <a:p>
            <a:endParaRPr lang="es-PE"/>
          </a:p>
        </p:txBody>
      </p:sp>
      <p:sp>
        <p:nvSpPr>
          <p:cNvPr id="64" name="Text 57"/>
          <p:cNvSpPr/>
          <p:nvPr/>
        </p:nvSpPr>
        <p:spPr>
          <a:xfrm>
            <a:off x="6309360" y="525780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batch</a:t>
            </a:r>
            <a:endParaRPr lang="en-US" sz="1100" dirty="0"/>
          </a:p>
        </p:txBody>
      </p:sp>
      <p:sp>
        <p:nvSpPr>
          <p:cNvPr id="65" name="Text 58"/>
          <p:cNvSpPr/>
          <p:nvPr/>
        </p:nvSpPr>
        <p:spPr>
          <a:xfrm>
            <a:off x="6309360" y="548640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16</a:t>
            </a:r>
            <a:endParaRPr lang="en-US" sz="1800" dirty="0"/>
          </a:p>
        </p:txBody>
      </p:sp>
      <p:sp>
        <p:nvSpPr>
          <p:cNvPr id="66" name="Text 59"/>
          <p:cNvSpPr/>
          <p:nvPr/>
        </p:nvSpPr>
        <p:spPr>
          <a:xfrm>
            <a:off x="6309360" y="580644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tamaño de lote</a:t>
            </a:r>
            <a:endParaRPr lang="en-US" sz="1000" dirty="0"/>
          </a:p>
        </p:txBody>
      </p:sp>
      <p:sp>
        <p:nvSpPr>
          <p:cNvPr id="67" name="Shape 60"/>
          <p:cNvSpPr/>
          <p:nvPr/>
        </p:nvSpPr>
        <p:spPr>
          <a:xfrm>
            <a:off x="8801100" y="5166360"/>
            <a:ext cx="2583180" cy="86868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68" name="Shape 61"/>
          <p:cNvSpPr/>
          <p:nvPr/>
        </p:nvSpPr>
        <p:spPr>
          <a:xfrm>
            <a:off x="8801100" y="5166360"/>
            <a:ext cx="73152" cy="868680"/>
          </a:xfrm>
          <a:prstGeom prst="rect">
            <a:avLst/>
          </a:prstGeom>
          <a:solidFill>
            <a:srgbClr val="B8860B"/>
          </a:solidFill>
          <a:ln/>
        </p:spPr>
        <p:txBody>
          <a:bodyPr/>
          <a:lstStyle/>
          <a:p>
            <a:endParaRPr lang="es-PE"/>
          </a:p>
        </p:txBody>
      </p:sp>
      <p:sp>
        <p:nvSpPr>
          <p:cNvPr id="69" name="Text 62"/>
          <p:cNvSpPr/>
          <p:nvPr/>
        </p:nvSpPr>
        <p:spPr>
          <a:xfrm>
            <a:off x="9029700" y="525780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lr</a:t>
            </a:r>
            <a:endParaRPr lang="en-US" sz="1100" dirty="0"/>
          </a:p>
        </p:txBody>
      </p:sp>
      <p:sp>
        <p:nvSpPr>
          <p:cNvPr id="70" name="Text 63"/>
          <p:cNvSpPr/>
          <p:nvPr/>
        </p:nvSpPr>
        <p:spPr>
          <a:xfrm>
            <a:off x="9029700" y="548640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1e-4</a:t>
            </a:r>
            <a:endParaRPr lang="en-US" sz="1800" dirty="0"/>
          </a:p>
        </p:txBody>
      </p:sp>
      <p:sp>
        <p:nvSpPr>
          <p:cNvPr id="71" name="Text 64"/>
          <p:cNvSpPr/>
          <p:nvPr/>
        </p:nvSpPr>
        <p:spPr>
          <a:xfrm>
            <a:off x="9029700" y="580644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tasa de aprendizaje</a:t>
            </a:r>
            <a:endParaRPr lang="en-US" sz="1000" dirty="0"/>
          </a:p>
        </p:txBody>
      </p:sp>
      <p:sp>
        <p:nvSpPr>
          <p:cNvPr id="72" name="Shape 65"/>
          <p:cNvSpPr/>
          <p:nvPr/>
        </p:nvSpPr>
        <p:spPr>
          <a:xfrm>
            <a:off x="548640" y="6473952"/>
            <a:ext cx="11064240" cy="18288"/>
          </a:xfrm>
          <a:prstGeom prst="rect">
            <a:avLst/>
          </a:prstGeom>
          <a:solidFill>
            <a:srgbClr val="D1D5DB"/>
          </a:solidFill>
          <a:ln/>
        </p:spPr>
        <p:txBody>
          <a:bodyPr/>
          <a:lstStyle/>
          <a:p>
            <a:endParaRPr lang="es-PE"/>
          </a:p>
        </p:txBody>
      </p:sp>
      <p:sp>
        <p:nvSpPr>
          <p:cNvPr id="73" name="Text 66"/>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74" name="Text 67"/>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6 / 11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7">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V</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Resultados obtenidos</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Métricas y comparación predicción vs valor real</a:t>
            </a:r>
            <a:endParaRPr lang="en-US" sz="1300" dirty="0"/>
          </a:p>
        </p:txBody>
      </p:sp>
      <p:sp>
        <p:nvSpPr>
          <p:cNvPr id="6" name="Shape 4"/>
          <p:cNvSpPr/>
          <p:nvPr/>
        </p:nvSpPr>
        <p:spPr>
          <a:xfrm>
            <a:off x="640080" y="1965960"/>
            <a:ext cx="3840480" cy="4251960"/>
          </a:xfrm>
          <a:prstGeom prst="rect">
            <a:avLst/>
          </a:prstGeom>
          <a:solidFill>
            <a:srgbClr val="1E2761"/>
          </a:solidFill>
          <a:ln/>
          <a:effectLst>
            <a:outerShdw blurRad="101600" dist="12700" dir="5400000" algn="bl" rotWithShape="0">
              <a:srgbClr val="1E2761">
                <a:alpha val="8000"/>
              </a:srgbClr>
            </a:outerShdw>
          </a:effectLst>
        </p:spPr>
        <p:txBody>
          <a:bodyPr/>
          <a:lstStyle/>
          <a:p>
            <a:endParaRPr lang="es-PE"/>
          </a:p>
        </p:txBody>
      </p:sp>
      <p:pic>
        <p:nvPicPr>
          <p:cNvPr id="7" name="Image 0" descr="preencoded.png"/>
          <p:cNvPicPr>
            <a:picLocks noChangeAspect="1"/>
          </p:cNvPicPr>
          <p:nvPr/>
        </p:nvPicPr>
        <p:blipFill>
          <a:blip r:embed="rId3"/>
          <a:stretch>
            <a:fillRect/>
          </a:stretch>
        </p:blipFill>
        <p:spPr>
          <a:xfrm>
            <a:off x="868680" y="2148840"/>
            <a:ext cx="457200" cy="457200"/>
          </a:xfrm>
          <a:prstGeom prst="rect">
            <a:avLst/>
          </a:prstGeom>
        </p:spPr>
      </p:pic>
      <p:sp>
        <p:nvSpPr>
          <p:cNvPr id="8" name="Text 5"/>
          <p:cNvSpPr/>
          <p:nvPr/>
        </p:nvSpPr>
        <p:spPr>
          <a:xfrm>
            <a:off x="1417320" y="2194560"/>
            <a:ext cx="27432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Métricas del modelo</a:t>
            </a:r>
            <a:endParaRPr lang="en-US" sz="1400" dirty="0"/>
          </a:p>
        </p:txBody>
      </p:sp>
      <p:sp>
        <p:nvSpPr>
          <p:cNvPr id="9" name="Text 6"/>
          <p:cNvSpPr/>
          <p:nvPr/>
        </p:nvSpPr>
        <p:spPr>
          <a:xfrm>
            <a:off x="868680" y="2788920"/>
            <a:ext cx="3383280" cy="274320"/>
          </a:xfrm>
          <a:prstGeom prst="rect">
            <a:avLst/>
          </a:prstGeom>
          <a:noFill/>
          <a:ln/>
        </p:spPr>
        <p:txBody>
          <a:bodyPr wrap="square" lIns="0" tIns="0" rIns="0" bIns="0" rtlCol="0" anchor="ctr"/>
          <a:lstStyle/>
          <a:p>
            <a:pPr marL="0" indent="0">
              <a:buNone/>
            </a:pPr>
            <a:r>
              <a:rPr lang="en-US" sz="1000" b="1" kern="0" spc="300" dirty="0">
                <a:solidFill>
                  <a:srgbClr val="C9A961"/>
                </a:solidFill>
                <a:latin typeface="Calibri" pitchFamily="34" charset="0"/>
                <a:ea typeface="Calibri" pitchFamily="34" charset="-122"/>
                <a:cs typeface="Calibri" pitchFamily="34" charset="-120"/>
              </a:rPr>
              <a:t>VALIDACIÓN</a:t>
            </a:r>
            <a:endParaRPr lang="en-US" sz="1000" dirty="0"/>
          </a:p>
        </p:txBody>
      </p:sp>
      <p:sp>
        <p:nvSpPr>
          <p:cNvPr id="10" name="Text 7"/>
          <p:cNvSpPr/>
          <p:nvPr/>
        </p:nvSpPr>
        <p:spPr>
          <a:xfrm>
            <a:off x="868680" y="3063240"/>
            <a:ext cx="3383280" cy="4572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MSE  0.196</a:t>
            </a:r>
            <a:endParaRPr lang="en-US" sz="2400" dirty="0"/>
          </a:p>
        </p:txBody>
      </p:sp>
      <p:sp>
        <p:nvSpPr>
          <p:cNvPr id="11" name="Text 8"/>
          <p:cNvSpPr/>
          <p:nvPr/>
        </p:nvSpPr>
        <p:spPr>
          <a:xfrm>
            <a:off x="868680" y="3520440"/>
            <a:ext cx="3383280" cy="4572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MAE  0.352</a:t>
            </a:r>
            <a:endParaRPr lang="en-US" sz="2400" dirty="0"/>
          </a:p>
        </p:txBody>
      </p:sp>
      <p:sp>
        <p:nvSpPr>
          <p:cNvPr id="12" name="Shape 9"/>
          <p:cNvSpPr/>
          <p:nvPr/>
        </p:nvSpPr>
        <p:spPr>
          <a:xfrm>
            <a:off x="868680" y="4114800"/>
            <a:ext cx="3383280" cy="18288"/>
          </a:xfrm>
          <a:prstGeom prst="rect">
            <a:avLst/>
          </a:prstGeom>
          <a:solidFill>
            <a:srgbClr val="C9A961"/>
          </a:solidFill>
          <a:ln/>
        </p:spPr>
        <p:txBody>
          <a:bodyPr/>
          <a:lstStyle/>
          <a:p>
            <a:endParaRPr lang="es-PE"/>
          </a:p>
        </p:txBody>
      </p:sp>
      <p:sp>
        <p:nvSpPr>
          <p:cNvPr id="13" name="Text 10"/>
          <p:cNvSpPr/>
          <p:nvPr/>
        </p:nvSpPr>
        <p:spPr>
          <a:xfrm>
            <a:off x="868680" y="4206240"/>
            <a:ext cx="3383280" cy="274320"/>
          </a:xfrm>
          <a:prstGeom prst="rect">
            <a:avLst/>
          </a:prstGeom>
          <a:noFill/>
          <a:ln/>
        </p:spPr>
        <p:txBody>
          <a:bodyPr wrap="square" lIns="0" tIns="0" rIns="0" bIns="0" rtlCol="0" anchor="ctr"/>
          <a:lstStyle/>
          <a:p>
            <a:pPr marL="0" indent="0">
              <a:buNone/>
            </a:pPr>
            <a:r>
              <a:rPr lang="en-US" sz="1000" b="1" kern="0" spc="300" dirty="0">
                <a:solidFill>
                  <a:srgbClr val="C9A961"/>
                </a:solidFill>
                <a:latin typeface="Calibri" pitchFamily="34" charset="0"/>
                <a:ea typeface="Calibri" pitchFamily="34" charset="-122"/>
                <a:cs typeface="Calibri" pitchFamily="34" charset="-120"/>
              </a:rPr>
              <a:t>TEST</a:t>
            </a:r>
            <a:endParaRPr lang="en-US" sz="1000" dirty="0"/>
          </a:p>
        </p:txBody>
      </p:sp>
      <p:sp>
        <p:nvSpPr>
          <p:cNvPr id="14" name="Text 11"/>
          <p:cNvSpPr/>
          <p:nvPr/>
        </p:nvSpPr>
        <p:spPr>
          <a:xfrm>
            <a:off x="868680" y="4480560"/>
            <a:ext cx="3383280" cy="4572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MSE  0.629</a:t>
            </a:r>
            <a:endParaRPr lang="en-US" sz="2400" dirty="0"/>
          </a:p>
        </p:txBody>
      </p:sp>
      <p:sp>
        <p:nvSpPr>
          <p:cNvPr id="15" name="Text 12"/>
          <p:cNvSpPr/>
          <p:nvPr/>
        </p:nvSpPr>
        <p:spPr>
          <a:xfrm>
            <a:off x="868680" y="4937760"/>
            <a:ext cx="3383280" cy="4572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MAE  0.609</a:t>
            </a:r>
            <a:endParaRPr lang="en-US" sz="2400" dirty="0"/>
          </a:p>
        </p:txBody>
      </p:sp>
      <p:sp>
        <p:nvSpPr>
          <p:cNvPr id="16" name="Text 13"/>
          <p:cNvSpPr/>
          <p:nvPr/>
        </p:nvSpPr>
        <p:spPr>
          <a:xfrm>
            <a:off x="868680" y="5532120"/>
            <a:ext cx="3383280" cy="594360"/>
          </a:xfrm>
          <a:prstGeom prst="rect">
            <a:avLst/>
          </a:prstGeom>
          <a:noFill/>
          <a:ln/>
        </p:spPr>
        <p:txBody>
          <a:bodyPr wrap="square" lIns="0" tIns="0" rIns="0" bIns="0" rtlCol="0" anchor="ctr"/>
          <a:lstStyle/>
          <a:p>
            <a:pPr marL="0" indent="0">
              <a:buNone/>
            </a:pPr>
            <a:r>
              <a:rPr lang="en-US" sz="1000" i="1" dirty="0">
                <a:solidFill>
                  <a:srgbClr val="E8EDF5"/>
                </a:solidFill>
                <a:latin typeface="Calibri" pitchFamily="34" charset="0"/>
                <a:ea typeface="Calibri" pitchFamily="34" charset="-122"/>
                <a:cs typeface="Calibri" pitchFamily="34" charset="-120"/>
              </a:rPr>
              <a:t>Solo 1 época de entrenamiento</a:t>
            </a:r>
            <a:endParaRPr lang="en-US" sz="1000" dirty="0"/>
          </a:p>
          <a:p>
            <a:pPr marL="0" indent="0">
              <a:buNone/>
            </a:pPr>
            <a:r>
              <a:rPr lang="en-US" sz="1000" i="1" dirty="0">
                <a:solidFill>
                  <a:srgbClr val="E8EDF5"/>
                </a:solidFill>
                <a:latin typeface="Calibri" pitchFamily="34" charset="0"/>
                <a:ea typeface="Calibri" pitchFamily="34" charset="-122"/>
                <a:cs typeface="Calibri" pitchFamily="34" charset="-120"/>
              </a:rPr>
              <a:t>(demostración rápida)</a:t>
            </a:r>
            <a:endParaRPr lang="en-US" sz="1000" dirty="0"/>
          </a:p>
        </p:txBody>
      </p:sp>
      <p:sp>
        <p:nvSpPr>
          <p:cNvPr id="17" name="Shape 14"/>
          <p:cNvSpPr/>
          <p:nvPr/>
        </p:nvSpPr>
        <p:spPr>
          <a:xfrm>
            <a:off x="4754880" y="1965960"/>
            <a:ext cx="6766560" cy="425196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18" name="Text 15"/>
          <p:cNvSpPr/>
          <p:nvPr/>
        </p:nvSpPr>
        <p:spPr>
          <a:xfrm>
            <a:off x="4937760" y="2103120"/>
            <a:ext cx="6400800"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Predicción vs valor real — primer ejemplo del test</a:t>
            </a:r>
            <a:endParaRPr lang="en-US" sz="1300" dirty="0"/>
          </a:p>
        </p:txBody>
      </p:sp>
      <p:sp>
        <p:nvSpPr>
          <p:cNvPr id="19" name="Text 16"/>
          <p:cNvSpPr/>
          <p:nvPr/>
        </p:nvSpPr>
        <p:spPr>
          <a:xfrm>
            <a:off x="4937760" y="2377440"/>
            <a:ext cx="640080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Horizonte: 12 pasos × 15 min = 3 horas hacia el futuro</a:t>
            </a:r>
            <a:endParaRPr lang="en-US" sz="1100" dirty="0"/>
          </a:p>
        </p:txBody>
      </p:sp>
      <p:graphicFrame>
        <p:nvGraphicFramePr>
          <p:cNvPr id="20" name="Chart 0"/>
          <p:cNvGraphicFramePr/>
          <p:nvPr/>
        </p:nvGraphicFramePr>
        <p:xfrm>
          <a:off x="4846320" y="2743200"/>
          <a:ext cx="658368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 17"/>
          <p:cNvSpPr/>
          <p:nvPr/>
        </p:nvSpPr>
        <p:spPr>
          <a:xfrm>
            <a:off x="4846320" y="6217920"/>
            <a:ext cx="6766560" cy="274320"/>
          </a:xfrm>
          <a:prstGeom prst="rect">
            <a:avLst/>
          </a:prstGeom>
          <a:noFill/>
          <a:ln/>
        </p:spPr>
        <p:txBody>
          <a:bodyPr wrap="square" lIns="0" tIns="0" rIns="0" bIns="0" rtlCol="0" anchor="ctr"/>
          <a:lstStyle/>
          <a:p>
            <a:pPr marL="0" indent="0" algn="ctr">
              <a:buNone/>
            </a:pPr>
            <a:r>
              <a:rPr lang="en-US" sz="1100" b="1" i="1" dirty="0">
                <a:solidFill>
                  <a:srgbClr val="1E2761"/>
                </a:solidFill>
                <a:latin typeface="Calibri" pitchFamily="34" charset="0"/>
                <a:ea typeface="Calibri" pitchFamily="34" charset="-122"/>
                <a:cs typeface="Calibri" pitchFamily="34" charset="-120"/>
              </a:rPr>
              <a:t>El modelo captura la dirección y suaviza fluctuaciones de corto plazo.</a:t>
            </a:r>
            <a:endParaRPr lang="en-US" sz="1100" dirty="0"/>
          </a:p>
        </p:txBody>
      </p:sp>
      <p:sp>
        <p:nvSpPr>
          <p:cNvPr id="22" name="Shape 18"/>
          <p:cNvSpPr/>
          <p:nvPr/>
        </p:nvSpPr>
        <p:spPr>
          <a:xfrm>
            <a:off x="548640" y="6473952"/>
            <a:ext cx="11064240" cy="18288"/>
          </a:xfrm>
          <a:prstGeom prst="rect">
            <a:avLst/>
          </a:prstGeom>
          <a:solidFill>
            <a:srgbClr val="D1D5DB"/>
          </a:solidFill>
          <a:ln/>
        </p:spPr>
        <p:txBody>
          <a:bodyPr/>
          <a:lstStyle/>
          <a:p>
            <a:endParaRPr lang="es-PE"/>
          </a:p>
        </p:txBody>
      </p:sp>
      <p:sp>
        <p:nvSpPr>
          <p:cNvPr id="23" name="Text 19"/>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24" name="Text 20"/>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7 / 11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VI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Interpretación desde el negocio</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¿Para qué le sirve esto a una empresa eléctrica?</a:t>
            </a:r>
            <a:endParaRPr lang="en-US" sz="1300" dirty="0"/>
          </a:p>
        </p:txBody>
      </p:sp>
      <p:sp>
        <p:nvSpPr>
          <p:cNvPr id="6" name="Shape 4"/>
          <p:cNvSpPr/>
          <p:nvPr/>
        </p:nvSpPr>
        <p:spPr>
          <a:xfrm>
            <a:off x="640080" y="2011680"/>
            <a:ext cx="5349240" cy="187452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7" name="Shape 5"/>
          <p:cNvSpPr/>
          <p:nvPr/>
        </p:nvSpPr>
        <p:spPr>
          <a:xfrm>
            <a:off x="640080" y="2011680"/>
            <a:ext cx="73152" cy="1874520"/>
          </a:xfrm>
          <a:prstGeom prst="rect">
            <a:avLst/>
          </a:prstGeom>
          <a:solidFill>
            <a:srgbClr val="B8860B"/>
          </a:solidFill>
          <a:ln/>
        </p:spPr>
        <p:txBody>
          <a:bodyPr/>
          <a:lstStyle/>
          <a:p>
            <a:endParaRPr lang="es-PE"/>
          </a:p>
        </p:txBody>
      </p:sp>
      <p:pic>
        <p:nvPicPr>
          <p:cNvPr id="8" name="Image 0" descr="preencoded.png"/>
          <p:cNvPicPr>
            <a:picLocks noChangeAspect="1"/>
          </p:cNvPicPr>
          <p:nvPr/>
        </p:nvPicPr>
        <p:blipFill>
          <a:blip r:embed="rId3"/>
          <a:stretch>
            <a:fillRect/>
          </a:stretch>
        </p:blipFill>
        <p:spPr>
          <a:xfrm>
            <a:off x="914400" y="2377440"/>
            <a:ext cx="594360" cy="594360"/>
          </a:xfrm>
          <a:prstGeom prst="rect">
            <a:avLst/>
          </a:prstGeom>
        </p:spPr>
      </p:pic>
      <p:sp>
        <p:nvSpPr>
          <p:cNvPr id="9" name="Text 6"/>
          <p:cNvSpPr/>
          <p:nvPr/>
        </p:nvSpPr>
        <p:spPr>
          <a:xfrm>
            <a:off x="1737360" y="233172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Planificación de la red</a:t>
            </a:r>
            <a:endParaRPr lang="en-US" sz="1600" dirty="0"/>
          </a:p>
        </p:txBody>
      </p:sp>
      <p:sp>
        <p:nvSpPr>
          <p:cNvPr id="10" name="Text 7"/>
          <p:cNvSpPr/>
          <p:nvPr/>
        </p:nvSpPr>
        <p:spPr>
          <a:xfrm>
            <a:off x="1737360" y="2788920"/>
            <a:ext cx="4114800" cy="10515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Saber con 3 horas de anticipación cuánto se va a consumir permite encender o apagar generadores más eficientes, reduciendo costos operativos.</a:t>
            </a:r>
            <a:endParaRPr lang="en-US" sz="1200" dirty="0"/>
          </a:p>
        </p:txBody>
      </p:sp>
      <p:sp>
        <p:nvSpPr>
          <p:cNvPr id="11" name="Shape 8"/>
          <p:cNvSpPr/>
          <p:nvPr/>
        </p:nvSpPr>
        <p:spPr>
          <a:xfrm>
            <a:off x="6263640" y="2011680"/>
            <a:ext cx="5349240" cy="187452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12" name="Shape 9"/>
          <p:cNvSpPr/>
          <p:nvPr/>
        </p:nvSpPr>
        <p:spPr>
          <a:xfrm>
            <a:off x="6263640" y="2011680"/>
            <a:ext cx="73152" cy="1874520"/>
          </a:xfrm>
          <a:prstGeom prst="rect">
            <a:avLst/>
          </a:prstGeom>
          <a:solidFill>
            <a:srgbClr val="B8860B"/>
          </a:solidFill>
          <a:ln/>
        </p:spPr>
        <p:txBody>
          <a:bodyPr/>
          <a:lstStyle/>
          <a:p>
            <a:endParaRPr lang="es-PE"/>
          </a:p>
        </p:txBody>
      </p:sp>
      <p:pic>
        <p:nvPicPr>
          <p:cNvPr id="13" name="Image 1" descr="preencoded.png"/>
          <p:cNvPicPr>
            <a:picLocks noChangeAspect="1"/>
          </p:cNvPicPr>
          <p:nvPr/>
        </p:nvPicPr>
        <p:blipFill>
          <a:blip r:embed="rId4"/>
          <a:stretch>
            <a:fillRect/>
          </a:stretch>
        </p:blipFill>
        <p:spPr>
          <a:xfrm>
            <a:off x="6537960" y="2377440"/>
            <a:ext cx="594360" cy="594360"/>
          </a:xfrm>
          <a:prstGeom prst="rect">
            <a:avLst/>
          </a:prstGeom>
        </p:spPr>
      </p:pic>
      <p:sp>
        <p:nvSpPr>
          <p:cNvPr id="14" name="Text 10"/>
          <p:cNvSpPr/>
          <p:nvPr/>
        </p:nvSpPr>
        <p:spPr>
          <a:xfrm>
            <a:off x="7360920" y="233172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Anticipar picos de demanda</a:t>
            </a:r>
            <a:endParaRPr lang="en-US" sz="1600" dirty="0"/>
          </a:p>
        </p:txBody>
      </p:sp>
      <p:sp>
        <p:nvSpPr>
          <p:cNvPr id="15" name="Text 11"/>
          <p:cNvSpPr/>
          <p:nvPr/>
        </p:nvSpPr>
        <p:spPr>
          <a:xfrm>
            <a:off x="7360920" y="2788920"/>
            <a:ext cx="4114800" cy="10515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Detectar antes los picos críticos (verano a las 8 PM, eventos masivos) permite preparar la red y evitar apagones o sobrecarga de equipos.</a:t>
            </a:r>
            <a:endParaRPr lang="en-US" sz="1200" dirty="0"/>
          </a:p>
        </p:txBody>
      </p:sp>
      <p:sp>
        <p:nvSpPr>
          <p:cNvPr id="16" name="Shape 12"/>
          <p:cNvSpPr/>
          <p:nvPr/>
        </p:nvSpPr>
        <p:spPr>
          <a:xfrm>
            <a:off x="640080" y="4023360"/>
            <a:ext cx="5349240" cy="187452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17" name="Shape 13"/>
          <p:cNvSpPr/>
          <p:nvPr/>
        </p:nvSpPr>
        <p:spPr>
          <a:xfrm>
            <a:off x="640080" y="4023360"/>
            <a:ext cx="73152" cy="1874520"/>
          </a:xfrm>
          <a:prstGeom prst="rect">
            <a:avLst/>
          </a:prstGeom>
          <a:solidFill>
            <a:srgbClr val="B8860B"/>
          </a:solidFill>
          <a:ln/>
        </p:spPr>
        <p:txBody>
          <a:bodyPr/>
          <a:lstStyle/>
          <a:p>
            <a:endParaRPr lang="es-PE"/>
          </a:p>
        </p:txBody>
      </p:sp>
      <p:pic>
        <p:nvPicPr>
          <p:cNvPr id="18" name="Image 2" descr="preencoded.png"/>
          <p:cNvPicPr>
            <a:picLocks noChangeAspect="1"/>
          </p:cNvPicPr>
          <p:nvPr/>
        </p:nvPicPr>
        <p:blipFill>
          <a:blip r:embed="rId5"/>
          <a:stretch>
            <a:fillRect/>
          </a:stretch>
        </p:blipFill>
        <p:spPr>
          <a:xfrm>
            <a:off x="914400" y="4389120"/>
            <a:ext cx="594360" cy="594360"/>
          </a:xfrm>
          <a:prstGeom prst="rect">
            <a:avLst/>
          </a:prstGeom>
        </p:spPr>
      </p:pic>
      <p:sp>
        <p:nvSpPr>
          <p:cNvPr id="19" name="Text 14"/>
          <p:cNvSpPr/>
          <p:nvPr/>
        </p:nvSpPr>
        <p:spPr>
          <a:xfrm>
            <a:off x="1737360" y="434340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Negociación y trading</a:t>
            </a:r>
            <a:endParaRPr lang="en-US" sz="1600" dirty="0"/>
          </a:p>
        </p:txBody>
      </p:sp>
      <p:sp>
        <p:nvSpPr>
          <p:cNvPr id="20" name="Text 15"/>
          <p:cNvSpPr/>
          <p:nvPr/>
        </p:nvSpPr>
        <p:spPr>
          <a:xfrm>
            <a:off x="1737360" y="4800600"/>
            <a:ext cx="4114800" cy="10515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Pronósticos precisos mejoran la compra de energía en mercados spot y la oferta de contratos a futuro. Diferencia directa en márgenes.</a:t>
            </a:r>
            <a:endParaRPr lang="en-US" sz="1200" dirty="0"/>
          </a:p>
        </p:txBody>
      </p:sp>
      <p:sp>
        <p:nvSpPr>
          <p:cNvPr id="21" name="Shape 16"/>
          <p:cNvSpPr/>
          <p:nvPr/>
        </p:nvSpPr>
        <p:spPr>
          <a:xfrm>
            <a:off x="6263640" y="4023360"/>
            <a:ext cx="5349240" cy="187452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22" name="Shape 17"/>
          <p:cNvSpPr/>
          <p:nvPr/>
        </p:nvSpPr>
        <p:spPr>
          <a:xfrm>
            <a:off x="6263640" y="4023360"/>
            <a:ext cx="73152" cy="1874520"/>
          </a:xfrm>
          <a:prstGeom prst="rect">
            <a:avLst/>
          </a:prstGeom>
          <a:solidFill>
            <a:srgbClr val="B8860B"/>
          </a:solidFill>
          <a:ln/>
        </p:spPr>
        <p:txBody>
          <a:bodyPr/>
          <a:lstStyle/>
          <a:p>
            <a:endParaRPr lang="es-PE"/>
          </a:p>
        </p:txBody>
      </p:sp>
      <p:pic>
        <p:nvPicPr>
          <p:cNvPr id="23" name="Image 3" descr="preencoded.png"/>
          <p:cNvPicPr>
            <a:picLocks noChangeAspect="1"/>
          </p:cNvPicPr>
          <p:nvPr/>
        </p:nvPicPr>
        <p:blipFill>
          <a:blip r:embed="rId6"/>
          <a:stretch>
            <a:fillRect/>
          </a:stretch>
        </p:blipFill>
        <p:spPr>
          <a:xfrm>
            <a:off x="6537960" y="4389120"/>
            <a:ext cx="594360" cy="594360"/>
          </a:xfrm>
          <a:prstGeom prst="rect">
            <a:avLst/>
          </a:prstGeom>
        </p:spPr>
      </p:pic>
      <p:sp>
        <p:nvSpPr>
          <p:cNvPr id="24" name="Text 18"/>
          <p:cNvSpPr/>
          <p:nvPr/>
        </p:nvSpPr>
        <p:spPr>
          <a:xfrm>
            <a:off x="7360920" y="434340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Atención al cliente</a:t>
            </a:r>
            <a:endParaRPr lang="en-US" sz="1600" dirty="0"/>
          </a:p>
        </p:txBody>
      </p:sp>
      <p:sp>
        <p:nvSpPr>
          <p:cNvPr id="25" name="Text 19"/>
          <p:cNvSpPr/>
          <p:nvPr/>
        </p:nvSpPr>
        <p:spPr>
          <a:xfrm>
            <a:off x="7360920" y="4800600"/>
            <a:ext cx="4114800" cy="10515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Detectar consumos anómalos por cliente permite alertar de equipos defectuosos, fugas eléctricas o fraudes — generando valor agregado.</a:t>
            </a:r>
            <a:endParaRPr lang="en-US" sz="1200" dirty="0"/>
          </a:p>
        </p:txBody>
      </p:sp>
      <p:sp>
        <p:nvSpPr>
          <p:cNvPr id="26" name="Shape 20"/>
          <p:cNvSpPr/>
          <p:nvPr/>
        </p:nvSpPr>
        <p:spPr>
          <a:xfrm>
            <a:off x="640080" y="5897880"/>
            <a:ext cx="10881360" cy="502920"/>
          </a:xfrm>
          <a:prstGeom prst="rect">
            <a:avLst/>
          </a:prstGeom>
          <a:solidFill>
            <a:srgbClr val="E8EDF5"/>
          </a:solidFill>
          <a:ln/>
        </p:spPr>
        <p:txBody>
          <a:bodyPr/>
          <a:lstStyle/>
          <a:p>
            <a:endParaRPr lang="es-PE"/>
          </a:p>
        </p:txBody>
      </p:sp>
      <p:sp>
        <p:nvSpPr>
          <p:cNvPr id="27" name="Text 21"/>
          <p:cNvSpPr/>
          <p:nvPr/>
        </p:nvSpPr>
        <p:spPr>
          <a:xfrm>
            <a:off x="868680" y="5943600"/>
            <a:ext cx="10515600"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En resumen:  </a:t>
            </a:r>
            <a:r>
              <a:rPr lang="en-US" sz="1300" i="1" dirty="0">
                <a:solidFill>
                  <a:srgbClr val="1A1A2E"/>
                </a:solidFill>
                <a:latin typeface="Calibri" pitchFamily="34" charset="0"/>
                <a:ea typeface="Calibri" pitchFamily="34" charset="-122"/>
                <a:cs typeface="Calibri" pitchFamily="34" charset="-120"/>
              </a:rPr>
              <a:t>predecir bien la demanda eléctrica reduce costos, evita pérdidas y mejora el servicio.</a:t>
            </a:r>
            <a:endParaRPr lang="en-US" sz="1300" dirty="0"/>
          </a:p>
        </p:txBody>
      </p:sp>
      <p:sp>
        <p:nvSpPr>
          <p:cNvPr id="28" name="Shape 22"/>
          <p:cNvSpPr/>
          <p:nvPr/>
        </p:nvSpPr>
        <p:spPr>
          <a:xfrm>
            <a:off x="548640" y="6473952"/>
            <a:ext cx="11064240" cy="18288"/>
          </a:xfrm>
          <a:prstGeom prst="rect">
            <a:avLst/>
          </a:prstGeom>
          <a:solidFill>
            <a:srgbClr val="D1D5DB"/>
          </a:solidFill>
          <a:ln/>
        </p:spPr>
        <p:txBody>
          <a:bodyPr/>
          <a:lstStyle/>
          <a:p>
            <a:endParaRPr lang="es-PE"/>
          </a:p>
        </p:txBody>
      </p:sp>
      <p:sp>
        <p:nvSpPr>
          <p:cNvPr id="29" name="Text 23"/>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0" name="Text 24"/>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8 / 11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860B"/>
          </a:solidFill>
          <a:ln/>
        </p:spPr>
        <p:txBody>
          <a:bodyPr/>
          <a:lstStyle/>
          <a:p>
            <a:endParaRPr lang="es-PE"/>
          </a:p>
        </p:txBody>
      </p:sp>
      <p:sp>
        <p:nvSpPr>
          <p:cNvPr id="3" name="Shape 1"/>
          <p:cNvSpPr/>
          <p:nvPr/>
        </p:nvSpPr>
        <p:spPr>
          <a:xfrm>
            <a:off x="0" y="6693408"/>
            <a:ext cx="12161520" cy="164592"/>
          </a:xfrm>
          <a:prstGeom prst="rect">
            <a:avLst/>
          </a:prstGeom>
          <a:solidFill>
            <a:srgbClr val="B8860B"/>
          </a:solidFill>
          <a:ln/>
        </p:spPr>
        <p:txBody>
          <a:bodyPr/>
          <a:lstStyle/>
          <a:p>
            <a:endParaRPr lang="es-PE"/>
          </a:p>
        </p:txBody>
      </p:sp>
      <p:sp>
        <p:nvSpPr>
          <p:cNvPr id="4" name="Text 2"/>
          <p:cNvSpPr/>
          <p:nvPr/>
        </p:nvSpPr>
        <p:spPr>
          <a:xfrm>
            <a:off x="548640" y="640080"/>
            <a:ext cx="11064240" cy="365760"/>
          </a:xfrm>
          <a:prstGeom prst="rect">
            <a:avLst/>
          </a:prstGeom>
          <a:noFill/>
          <a:ln/>
        </p:spPr>
        <p:txBody>
          <a:bodyPr wrap="square" lIns="0" tIns="0" rIns="0" bIns="0" rtlCol="0" anchor="ctr"/>
          <a:lstStyle/>
          <a:p>
            <a:pPr marL="0" indent="0" algn="ctr">
              <a:buNone/>
            </a:pPr>
            <a:r>
              <a:rPr lang="en-US" sz="1200" b="1" kern="0" spc="800" dirty="0">
                <a:solidFill>
                  <a:srgbClr val="C9A961"/>
                </a:solidFill>
                <a:latin typeface="Calibri" pitchFamily="34" charset="0"/>
                <a:ea typeface="Calibri" pitchFamily="34" charset="-122"/>
                <a:cs typeface="Calibri" pitchFamily="34" charset="-120"/>
              </a:rPr>
              <a:t>PARTE  ·  II</a:t>
            </a:r>
            <a:endParaRPr lang="en-US" sz="1200" dirty="0"/>
          </a:p>
        </p:txBody>
      </p:sp>
      <p:sp>
        <p:nvSpPr>
          <p:cNvPr id="5" name="Shape 3"/>
          <p:cNvSpPr/>
          <p:nvPr/>
        </p:nvSpPr>
        <p:spPr>
          <a:xfrm>
            <a:off x="5532120" y="1188720"/>
            <a:ext cx="1097280" cy="1097280"/>
          </a:xfrm>
          <a:prstGeom prst="ellipse">
            <a:avLst/>
          </a:prstGeom>
          <a:solidFill>
            <a:srgbClr val="B8860B"/>
          </a:solidFill>
          <a:ln/>
        </p:spPr>
        <p:txBody>
          <a:bodyPr/>
          <a:lstStyle/>
          <a:p>
            <a:endParaRPr lang="es-PE"/>
          </a:p>
        </p:txBody>
      </p:sp>
      <p:pic>
        <p:nvPicPr>
          <p:cNvPr id="6" name="Image 0" descr="preencoded.png"/>
          <p:cNvPicPr>
            <a:picLocks noChangeAspect="1"/>
          </p:cNvPicPr>
          <p:nvPr/>
        </p:nvPicPr>
        <p:blipFill>
          <a:blip r:embed="rId3"/>
          <a:stretch>
            <a:fillRect/>
          </a:stretch>
        </p:blipFill>
        <p:spPr>
          <a:xfrm>
            <a:off x="5852160" y="1508760"/>
            <a:ext cx="457200" cy="457200"/>
          </a:xfrm>
          <a:prstGeom prst="rect">
            <a:avLst/>
          </a:prstGeom>
        </p:spPr>
      </p:pic>
      <p:sp>
        <p:nvSpPr>
          <p:cNvPr id="7" name="Text 4"/>
          <p:cNvSpPr/>
          <p:nvPr/>
        </p:nvSpPr>
        <p:spPr>
          <a:xfrm>
            <a:off x="548640" y="2560320"/>
            <a:ext cx="11064240" cy="914400"/>
          </a:xfrm>
          <a:prstGeom prst="rect">
            <a:avLst/>
          </a:prstGeom>
          <a:noFill/>
          <a:ln/>
        </p:spPr>
        <p:txBody>
          <a:bodyPr wrap="square" lIns="0" tIns="0" rIns="0" bIns="0" rtlCol="0" anchor="ctr"/>
          <a:lstStyle/>
          <a:p>
            <a:pPr marL="0" indent="0" algn="ctr">
              <a:buNone/>
            </a:pPr>
            <a:r>
              <a:rPr lang="en-US" sz="6000" b="1" dirty="0">
                <a:solidFill>
                  <a:srgbClr val="FFFFFF"/>
                </a:solidFill>
                <a:latin typeface="Georgia" pitchFamily="34" charset="0"/>
                <a:ea typeface="Georgia" pitchFamily="34" charset="-122"/>
                <a:cs typeface="Georgia" pitchFamily="34" charset="-120"/>
              </a:rPr>
              <a:t>Demo en vivo</a:t>
            </a:r>
            <a:endParaRPr lang="en-US" sz="6000" dirty="0"/>
          </a:p>
        </p:txBody>
      </p:sp>
      <p:sp>
        <p:nvSpPr>
          <p:cNvPr id="8" name="Shape 5"/>
          <p:cNvSpPr/>
          <p:nvPr/>
        </p:nvSpPr>
        <p:spPr>
          <a:xfrm>
            <a:off x="5623560" y="3566160"/>
            <a:ext cx="914400" cy="54864"/>
          </a:xfrm>
          <a:prstGeom prst="rect">
            <a:avLst/>
          </a:prstGeom>
          <a:solidFill>
            <a:srgbClr val="B8860B"/>
          </a:solidFill>
          <a:ln/>
        </p:spPr>
        <p:txBody>
          <a:bodyPr/>
          <a:lstStyle/>
          <a:p>
            <a:endParaRPr lang="es-PE"/>
          </a:p>
        </p:txBody>
      </p:sp>
      <p:sp>
        <p:nvSpPr>
          <p:cNvPr id="9" name="Text 6"/>
          <p:cNvSpPr/>
          <p:nvPr/>
        </p:nvSpPr>
        <p:spPr>
          <a:xfrm>
            <a:off x="548640" y="3749040"/>
            <a:ext cx="11064240" cy="457200"/>
          </a:xfrm>
          <a:prstGeom prst="rect">
            <a:avLst/>
          </a:prstGeom>
          <a:noFill/>
          <a:ln/>
        </p:spPr>
        <p:txBody>
          <a:bodyPr wrap="square" lIns="0" tIns="0" rIns="0" bIns="0" rtlCol="0" anchor="ctr"/>
          <a:lstStyle/>
          <a:p>
            <a:pPr marL="0" indent="0" algn="ctr">
              <a:buNone/>
            </a:pPr>
            <a:r>
              <a:rPr lang="en-US" sz="1800" i="1" dirty="0">
                <a:solidFill>
                  <a:srgbClr val="E8EDF5"/>
                </a:solidFill>
                <a:latin typeface="Calibri" pitchFamily="34" charset="0"/>
                <a:ea typeface="Calibri" pitchFamily="34" charset="-122"/>
                <a:cs typeface="Calibri" pitchFamily="34" charset="-120"/>
              </a:rPr>
              <a:t>Vamos a ver ETSformer ejecutándose sobre datos reales</a:t>
            </a:r>
            <a:endParaRPr lang="en-US" sz="1800" dirty="0"/>
          </a:p>
        </p:txBody>
      </p:sp>
      <p:sp>
        <p:nvSpPr>
          <p:cNvPr id="10" name="Shape 7"/>
          <p:cNvSpPr/>
          <p:nvPr/>
        </p:nvSpPr>
        <p:spPr>
          <a:xfrm>
            <a:off x="2743200" y="4572000"/>
            <a:ext cx="6675120" cy="1280160"/>
          </a:xfrm>
          <a:prstGeom prst="rect">
            <a:avLst/>
          </a:prstGeom>
          <a:solidFill>
            <a:srgbClr val="2F3C7E"/>
          </a:solidFill>
          <a:ln/>
        </p:spPr>
        <p:txBody>
          <a:bodyPr/>
          <a:lstStyle/>
          <a:p>
            <a:endParaRPr lang="es-PE"/>
          </a:p>
        </p:txBody>
      </p:sp>
      <p:sp>
        <p:nvSpPr>
          <p:cNvPr id="11" name="Shape 8"/>
          <p:cNvSpPr/>
          <p:nvPr/>
        </p:nvSpPr>
        <p:spPr>
          <a:xfrm>
            <a:off x="2743200" y="4572000"/>
            <a:ext cx="91440" cy="1280160"/>
          </a:xfrm>
          <a:prstGeom prst="rect">
            <a:avLst/>
          </a:prstGeom>
          <a:solidFill>
            <a:srgbClr val="B8860B"/>
          </a:solidFill>
          <a:ln/>
        </p:spPr>
        <p:txBody>
          <a:bodyPr/>
          <a:lstStyle/>
          <a:p>
            <a:endParaRPr lang="es-PE"/>
          </a:p>
        </p:txBody>
      </p:sp>
      <p:sp>
        <p:nvSpPr>
          <p:cNvPr id="12" name="Text 9"/>
          <p:cNvSpPr/>
          <p:nvPr/>
        </p:nvSpPr>
        <p:spPr>
          <a:xfrm>
            <a:off x="3017520" y="4709160"/>
            <a:ext cx="6217920" cy="274320"/>
          </a:xfrm>
          <a:prstGeom prst="rect">
            <a:avLst/>
          </a:prstGeom>
          <a:noFill/>
          <a:ln/>
        </p:spPr>
        <p:txBody>
          <a:bodyPr wrap="square" lIns="0" tIns="0" rIns="0" bIns="0" rtlCol="0" anchor="ctr"/>
          <a:lstStyle/>
          <a:p>
            <a:pPr marL="0" indent="0">
              <a:buNone/>
            </a:pPr>
            <a:r>
              <a:rPr lang="en-US" sz="1000" b="1" kern="0" spc="400" dirty="0">
                <a:solidFill>
                  <a:srgbClr val="C9A961"/>
                </a:solidFill>
                <a:latin typeface="Calibri" pitchFamily="34" charset="0"/>
                <a:ea typeface="Calibri" pitchFamily="34" charset="-122"/>
                <a:cs typeface="Calibri" pitchFamily="34" charset="-120"/>
              </a:rPr>
              <a:t>EXPONE</a:t>
            </a:r>
            <a:endParaRPr lang="en-US" sz="1000" dirty="0"/>
          </a:p>
        </p:txBody>
      </p:sp>
      <p:sp>
        <p:nvSpPr>
          <p:cNvPr id="13" name="Text 10"/>
          <p:cNvSpPr/>
          <p:nvPr/>
        </p:nvSpPr>
        <p:spPr>
          <a:xfrm>
            <a:off x="3017520" y="4983480"/>
            <a:ext cx="621792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[Nombre del compañero/a]</a:t>
            </a:r>
            <a:endParaRPr lang="en-US" sz="2200" dirty="0"/>
          </a:p>
        </p:txBody>
      </p:sp>
      <p:sp>
        <p:nvSpPr>
          <p:cNvPr id="14" name="Text 11"/>
          <p:cNvSpPr/>
          <p:nvPr/>
        </p:nvSpPr>
        <p:spPr>
          <a:xfrm>
            <a:off x="3017520" y="5440680"/>
            <a:ext cx="6217920" cy="320040"/>
          </a:xfrm>
          <a:prstGeom prst="rect">
            <a:avLst/>
          </a:prstGeom>
          <a:noFill/>
          <a:ln/>
        </p:spPr>
        <p:txBody>
          <a:bodyPr wrap="square" lIns="0" tIns="0" rIns="0" bIns="0" rtlCol="0" anchor="ctr"/>
          <a:lstStyle/>
          <a:p>
            <a:pPr marL="0" indent="0">
              <a:buNone/>
            </a:pPr>
            <a:r>
              <a:rPr lang="en-US" sz="1200" i="1" dirty="0">
                <a:solidFill>
                  <a:srgbClr val="E8EDF5"/>
                </a:solidFill>
                <a:latin typeface="Calibri" pitchFamily="34" charset="0"/>
                <a:ea typeface="Calibri" pitchFamily="34" charset="-122"/>
                <a:cs typeface="Calibri" pitchFamily="34" charset="-120"/>
              </a:rPr>
              <a:t>Notebook: ETSformer Consumo Eléctrico.ipynb  ·  Databricks</a:t>
            </a:r>
            <a:endParaRPr lang="en-US" sz="1200" dirty="0"/>
          </a:p>
        </p:txBody>
      </p:sp>
      <p:sp>
        <p:nvSpPr>
          <p:cNvPr id="15" name="Text 12"/>
          <p:cNvSpPr/>
          <p:nvPr/>
        </p:nvSpPr>
        <p:spPr>
          <a:xfrm>
            <a:off x="548640" y="6217920"/>
            <a:ext cx="11064240" cy="320040"/>
          </a:xfrm>
          <a:prstGeom prst="rect">
            <a:avLst/>
          </a:prstGeom>
          <a:noFill/>
          <a:ln/>
        </p:spPr>
        <p:txBody>
          <a:bodyPr wrap="square" lIns="0" tIns="0" rIns="0" bIns="0" rtlCol="0" anchor="ctr"/>
          <a:lstStyle/>
          <a:p>
            <a:pPr marL="0" indent="0" algn="ctr">
              <a:buNone/>
            </a:pPr>
            <a:r>
              <a:rPr lang="en-US" sz="1300" b="1" dirty="0">
                <a:solidFill>
                  <a:srgbClr val="C9A961"/>
                </a:solidFill>
                <a:latin typeface="Calibri" pitchFamily="34" charset="0"/>
                <a:ea typeface="Calibri" pitchFamily="34" charset="-122"/>
                <a:cs typeface="Calibri" pitchFamily="34" charset="-120"/>
              </a:rPr>
              <a:t>Duración estimada:  ~7 minutos</a:t>
            </a:r>
            <a:endParaRPr lang="en-US" sz="1300" dirty="0"/>
          </a:p>
        </p:txBody>
      </p:sp>
      <p:sp>
        <p:nvSpPr>
          <p:cNvPr id="16" name="Text 13"/>
          <p:cNvSpPr/>
          <p:nvPr/>
        </p:nvSpPr>
        <p:spPr>
          <a:xfrm>
            <a:off x="10789920" y="6446520"/>
            <a:ext cx="822960" cy="228600"/>
          </a:xfrm>
          <a:prstGeom prst="rect">
            <a:avLst/>
          </a:prstGeom>
          <a:noFill/>
          <a:ln/>
        </p:spPr>
        <p:txBody>
          <a:bodyPr wrap="square" lIns="0" tIns="0" rIns="0" bIns="0" rtlCol="0" anchor="ctr"/>
          <a:lstStyle/>
          <a:p>
            <a:pPr marL="0" indent="0" algn="r">
              <a:buNone/>
            </a:pPr>
            <a:r>
              <a:rPr lang="en-US" sz="900" dirty="0">
                <a:solidFill>
                  <a:srgbClr val="C9A961"/>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VII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Conclusiones</a:t>
            </a:r>
            <a:endParaRPr lang="en-US" sz="3000" dirty="0"/>
          </a:p>
        </p:txBody>
      </p:sp>
      <p:sp>
        <p:nvSpPr>
          <p:cNvPr id="4" name="Shape 2"/>
          <p:cNvSpPr/>
          <p:nvPr/>
        </p:nvSpPr>
        <p:spPr>
          <a:xfrm>
            <a:off x="548640" y="1371600"/>
            <a:ext cx="640080" cy="36576"/>
          </a:xfrm>
          <a:prstGeom prst="rect">
            <a:avLst/>
          </a:prstGeom>
          <a:solidFill>
            <a:srgbClr val="B8860B"/>
          </a:solidFill>
          <a:ln/>
        </p:spPr>
        <p:txBody>
          <a:bodyPr/>
          <a:lstStyle/>
          <a:p>
            <a:endParaRPr lang="es-PE"/>
          </a:p>
        </p:txBody>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Lo que demostramos con esta aplicación práctica</a:t>
            </a:r>
            <a:endParaRPr lang="en-US" sz="1300" dirty="0"/>
          </a:p>
        </p:txBody>
      </p:sp>
      <p:sp>
        <p:nvSpPr>
          <p:cNvPr id="6" name="Shape 4"/>
          <p:cNvSpPr/>
          <p:nvPr/>
        </p:nvSpPr>
        <p:spPr>
          <a:xfrm>
            <a:off x="640080" y="2011680"/>
            <a:ext cx="5349240" cy="182880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7" name="Shape 5"/>
          <p:cNvSpPr/>
          <p:nvPr/>
        </p:nvSpPr>
        <p:spPr>
          <a:xfrm>
            <a:off x="640080" y="2011680"/>
            <a:ext cx="73152" cy="1828800"/>
          </a:xfrm>
          <a:prstGeom prst="rect">
            <a:avLst/>
          </a:prstGeom>
          <a:solidFill>
            <a:srgbClr val="B8860B"/>
          </a:solidFill>
          <a:ln/>
        </p:spPr>
        <p:txBody>
          <a:bodyPr/>
          <a:lstStyle/>
          <a:p>
            <a:endParaRPr lang="es-PE"/>
          </a:p>
        </p:txBody>
      </p:sp>
      <p:pic>
        <p:nvPicPr>
          <p:cNvPr id="8" name="Image 0" descr="preencoded.png"/>
          <p:cNvPicPr>
            <a:picLocks noChangeAspect="1"/>
          </p:cNvPicPr>
          <p:nvPr/>
        </p:nvPicPr>
        <p:blipFill>
          <a:blip r:embed="rId3"/>
          <a:stretch>
            <a:fillRect/>
          </a:stretch>
        </p:blipFill>
        <p:spPr>
          <a:xfrm>
            <a:off x="1005840" y="2377440"/>
            <a:ext cx="594360" cy="594360"/>
          </a:xfrm>
          <a:prstGeom prst="rect">
            <a:avLst/>
          </a:prstGeom>
        </p:spPr>
      </p:pic>
      <p:sp>
        <p:nvSpPr>
          <p:cNvPr id="9" name="Text 6"/>
          <p:cNvSpPr/>
          <p:nvPr/>
        </p:nvSpPr>
        <p:spPr>
          <a:xfrm>
            <a:off x="1828800" y="233172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ETSformer es aplicable</a:t>
            </a:r>
            <a:endParaRPr lang="en-US" sz="1600" dirty="0"/>
          </a:p>
        </p:txBody>
      </p:sp>
      <p:sp>
        <p:nvSpPr>
          <p:cNvPr id="10" name="Text 7"/>
          <p:cNvSpPr/>
          <p:nvPr/>
        </p:nvSpPr>
        <p:spPr>
          <a:xfrm>
            <a:off x="1828800" y="2788920"/>
            <a:ext cx="4114800"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Se pudo entrenar sobre un dataset real (LD2011_2014) con código del repositorio oficial.</a:t>
            </a:r>
            <a:endParaRPr lang="en-US" sz="1200" dirty="0"/>
          </a:p>
        </p:txBody>
      </p:sp>
      <p:sp>
        <p:nvSpPr>
          <p:cNvPr id="11" name="Shape 8"/>
          <p:cNvSpPr/>
          <p:nvPr/>
        </p:nvSpPr>
        <p:spPr>
          <a:xfrm>
            <a:off x="6263640" y="2011680"/>
            <a:ext cx="5349240" cy="182880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12" name="Shape 9"/>
          <p:cNvSpPr/>
          <p:nvPr/>
        </p:nvSpPr>
        <p:spPr>
          <a:xfrm>
            <a:off x="6263640" y="2011680"/>
            <a:ext cx="73152" cy="1828800"/>
          </a:xfrm>
          <a:prstGeom prst="rect">
            <a:avLst/>
          </a:prstGeom>
          <a:solidFill>
            <a:srgbClr val="B8860B"/>
          </a:solidFill>
          <a:ln/>
        </p:spPr>
        <p:txBody>
          <a:bodyPr/>
          <a:lstStyle/>
          <a:p>
            <a:endParaRPr lang="es-PE"/>
          </a:p>
        </p:txBody>
      </p:sp>
      <p:pic>
        <p:nvPicPr>
          <p:cNvPr id="13" name="Image 1" descr="preencoded.png"/>
          <p:cNvPicPr>
            <a:picLocks noChangeAspect="1"/>
          </p:cNvPicPr>
          <p:nvPr/>
        </p:nvPicPr>
        <p:blipFill>
          <a:blip r:embed="rId4"/>
          <a:stretch>
            <a:fillRect/>
          </a:stretch>
        </p:blipFill>
        <p:spPr>
          <a:xfrm>
            <a:off x="6629400" y="2377440"/>
            <a:ext cx="594360" cy="594360"/>
          </a:xfrm>
          <a:prstGeom prst="rect">
            <a:avLst/>
          </a:prstGeom>
        </p:spPr>
      </p:pic>
      <p:sp>
        <p:nvSpPr>
          <p:cNvPr id="14" name="Text 10"/>
          <p:cNvSpPr/>
          <p:nvPr/>
        </p:nvSpPr>
        <p:spPr>
          <a:xfrm>
            <a:off x="7452360" y="233172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Captura patrones temporales</a:t>
            </a:r>
            <a:endParaRPr lang="en-US" sz="1600" dirty="0"/>
          </a:p>
        </p:txBody>
      </p:sp>
      <p:sp>
        <p:nvSpPr>
          <p:cNvPr id="15" name="Text 11"/>
          <p:cNvSpPr/>
          <p:nvPr/>
        </p:nvSpPr>
        <p:spPr>
          <a:xfrm>
            <a:off x="7452360" y="2788920"/>
            <a:ext cx="4114800"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Reconoce ciclos diarios y suaviza ruido, alineándose con la lógica del suavizado exponencial.</a:t>
            </a:r>
            <a:endParaRPr lang="en-US" sz="1200" dirty="0"/>
          </a:p>
        </p:txBody>
      </p:sp>
      <p:sp>
        <p:nvSpPr>
          <p:cNvPr id="16" name="Shape 12"/>
          <p:cNvSpPr/>
          <p:nvPr/>
        </p:nvSpPr>
        <p:spPr>
          <a:xfrm>
            <a:off x="640080" y="3977640"/>
            <a:ext cx="5349240" cy="182880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17" name="Shape 13"/>
          <p:cNvSpPr/>
          <p:nvPr/>
        </p:nvSpPr>
        <p:spPr>
          <a:xfrm>
            <a:off x="640080" y="3977640"/>
            <a:ext cx="73152" cy="1828800"/>
          </a:xfrm>
          <a:prstGeom prst="rect">
            <a:avLst/>
          </a:prstGeom>
          <a:solidFill>
            <a:srgbClr val="B8860B"/>
          </a:solidFill>
          <a:ln/>
        </p:spPr>
        <p:txBody>
          <a:bodyPr/>
          <a:lstStyle/>
          <a:p>
            <a:endParaRPr lang="es-PE"/>
          </a:p>
        </p:txBody>
      </p:sp>
      <p:pic>
        <p:nvPicPr>
          <p:cNvPr id="18" name="Image 2" descr="preencoded.png"/>
          <p:cNvPicPr>
            <a:picLocks noChangeAspect="1"/>
          </p:cNvPicPr>
          <p:nvPr/>
        </p:nvPicPr>
        <p:blipFill>
          <a:blip r:embed="rId5"/>
          <a:stretch>
            <a:fillRect/>
          </a:stretch>
        </p:blipFill>
        <p:spPr>
          <a:xfrm>
            <a:off x="1005840" y="4343400"/>
            <a:ext cx="594360" cy="594360"/>
          </a:xfrm>
          <a:prstGeom prst="rect">
            <a:avLst/>
          </a:prstGeom>
        </p:spPr>
      </p:pic>
      <p:sp>
        <p:nvSpPr>
          <p:cNvPr id="19" name="Text 14"/>
          <p:cNvSpPr/>
          <p:nvPr/>
        </p:nvSpPr>
        <p:spPr>
          <a:xfrm>
            <a:off x="1828800" y="429768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Valor de negocio claro</a:t>
            </a:r>
            <a:endParaRPr lang="en-US" sz="1600" dirty="0"/>
          </a:p>
        </p:txBody>
      </p:sp>
      <p:sp>
        <p:nvSpPr>
          <p:cNvPr id="20" name="Text 15"/>
          <p:cNvSpPr/>
          <p:nvPr/>
        </p:nvSpPr>
        <p:spPr>
          <a:xfrm>
            <a:off x="1828800" y="4754880"/>
            <a:ext cx="4114800"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Para una empresa eléctrica significa ahorro, anticipación y mejor servicio.</a:t>
            </a:r>
            <a:endParaRPr lang="en-US" sz="1200" dirty="0"/>
          </a:p>
        </p:txBody>
      </p:sp>
      <p:sp>
        <p:nvSpPr>
          <p:cNvPr id="21" name="Shape 16"/>
          <p:cNvSpPr/>
          <p:nvPr/>
        </p:nvSpPr>
        <p:spPr>
          <a:xfrm>
            <a:off x="6263640" y="3977640"/>
            <a:ext cx="5349240" cy="182880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a:p>
        </p:txBody>
      </p:sp>
      <p:sp>
        <p:nvSpPr>
          <p:cNvPr id="22" name="Shape 17"/>
          <p:cNvSpPr/>
          <p:nvPr/>
        </p:nvSpPr>
        <p:spPr>
          <a:xfrm>
            <a:off x="6263640" y="3977640"/>
            <a:ext cx="73152" cy="1828800"/>
          </a:xfrm>
          <a:prstGeom prst="rect">
            <a:avLst/>
          </a:prstGeom>
          <a:solidFill>
            <a:srgbClr val="B8860B"/>
          </a:solidFill>
          <a:ln/>
        </p:spPr>
        <p:txBody>
          <a:bodyPr/>
          <a:lstStyle/>
          <a:p>
            <a:endParaRPr lang="es-PE"/>
          </a:p>
        </p:txBody>
      </p:sp>
      <p:pic>
        <p:nvPicPr>
          <p:cNvPr id="23" name="Image 3" descr="preencoded.png"/>
          <p:cNvPicPr>
            <a:picLocks noChangeAspect="1"/>
          </p:cNvPicPr>
          <p:nvPr/>
        </p:nvPicPr>
        <p:blipFill>
          <a:blip r:embed="rId6"/>
          <a:stretch>
            <a:fillRect/>
          </a:stretch>
        </p:blipFill>
        <p:spPr>
          <a:xfrm>
            <a:off x="6629400" y="4343400"/>
            <a:ext cx="594360" cy="594360"/>
          </a:xfrm>
          <a:prstGeom prst="rect">
            <a:avLst/>
          </a:prstGeom>
        </p:spPr>
      </p:pic>
      <p:sp>
        <p:nvSpPr>
          <p:cNvPr id="24" name="Text 18"/>
          <p:cNvSpPr/>
          <p:nvPr/>
        </p:nvSpPr>
        <p:spPr>
          <a:xfrm>
            <a:off x="7452360" y="429768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Camino a producción</a:t>
            </a:r>
            <a:endParaRPr lang="en-US" sz="1600" dirty="0"/>
          </a:p>
        </p:txBody>
      </p:sp>
      <p:sp>
        <p:nvSpPr>
          <p:cNvPr id="25" name="Text 19"/>
          <p:cNvSpPr/>
          <p:nvPr/>
        </p:nvSpPr>
        <p:spPr>
          <a:xfrm>
            <a:off x="7452360" y="4754880"/>
            <a:ext cx="4114800"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Con más entrenamiento (más épocas y datos) y horizonte ajustado, el modelo es desplegable.</a:t>
            </a:r>
            <a:endParaRPr lang="en-US" sz="1200" dirty="0"/>
          </a:p>
        </p:txBody>
      </p:sp>
      <p:sp>
        <p:nvSpPr>
          <p:cNvPr id="26" name="Shape 20"/>
          <p:cNvSpPr/>
          <p:nvPr/>
        </p:nvSpPr>
        <p:spPr>
          <a:xfrm>
            <a:off x="640080" y="5989320"/>
            <a:ext cx="10881360" cy="411480"/>
          </a:xfrm>
          <a:prstGeom prst="rect">
            <a:avLst/>
          </a:prstGeom>
          <a:solidFill>
            <a:srgbClr val="E8EDF5"/>
          </a:solidFill>
          <a:ln/>
        </p:spPr>
        <p:txBody>
          <a:bodyPr/>
          <a:lstStyle/>
          <a:p>
            <a:endParaRPr lang="es-PE"/>
          </a:p>
        </p:txBody>
      </p:sp>
      <p:sp>
        <p:nvSpPr>
          <p:cNvPr id="27" name="Text 21"/>
          <p:cNvSpPr/>
          <p:nvPr/>
        </p:nvSpPr>
        <p:spPr>
          <a:xfrm>
            <a:off x="640080" y="6035040"/>
            <a:ext cx="10881360" cy="365760"/>
          </a:xfrm>
          <a:prstGeom prst="rect">
            <a:avLst/>
          </a:prstGeom>
          <a:noFill/>
          <a:ln/>
        </p:spPr>
        <p:txBody>
          <a:bodyPr wrap="square" lIns="0" tIns="0" rIns="0" bIns="0" rtlCol="0" anchor="ctr"/>
          <a:lstStyle/>
          <a:p>
            <a:pPr marL="0" indent="0" algn="ctr">
              <a:buNone/>
            </a:pPr>
            <a:r>
              <a:rPr lang="en-US" sz="1300" b="1" i="1" dirty="0">
                <a:solidFill>
                  <a:srgbClr val="1E2761"/>
                </a:solidFill>
                <a:latin typeface="Georgia" pitchFamily="34" charset="0"/>
                <a:ea typeface="Georgia" pitchFamily="34" charset="-122"/>
                <a:cs typeface="Georgia" pitchFamily="34" charset="-120"/>
              </a:rPr>
              <a:t>Combinar teoría (paper) + práctica (notebook) = aprendizaje completo.</a:t>
            </a:r>
            <a:endParaRPr lang="en-US" sz="1300" dirty="0"/>
          </a:p>
        </p:txBody>
      </p:sp>
      <p:sp>
        <p:nvSpPr>
          <p:cNvPr id="28" name="Shape 22"/>
          <p:cNvSpPr/>
          <p:nvPr/>
        </p:nvSpPr>
        <p:spPr>
          <a:xfrm>
            <a:off x="548640" y="6473952"/>
            <a:ext cx="11064240" cy="18288"/>
          </a:xfrm>
          <a:prstGeom prst="rect">
            <a:avLst/>
          </a:prstGeom>
          <a:solidFill>
            <a:srgbClr val="D1D5DB"/>
          </a:solidFill>
          <a:ln/>
        </p:spPr>
        <p:txBody>
          <a:bodyPr/>
          <a:lstStyle/>
          <a:p>
            <a:endParaRPr lang="es-PE"/>
          </a:p>
        </p:txBody>
      </p:sp>
      <p:sp>
        <p:nvSpPr>
          <p:cNvPr id="29" name="Text 23"/>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0" name="Text 24"/>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10 / 11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860B"/>
          </a:solidFill>
          <a:ln/>
        </p:spPr>
        <p:txBody>
          <a:bodyPr/>
          <a:lstStyle/>
          <a:p>
            <a:endParaRPr lang="es-PE"/>
          </a:p>
        </p:txBody>
      </p:sp>
      <p:sp>
        <p:nvSpPr>
          <p:cNvPr id="3" name="Text 1"/>
          <p:cNvSpPr/>
          <p:nvPr/>
        </p:nvSpPr>
        <p:spPr>
          <a:xfrm>
            <a:off x="914400" y="1188720"/>
            <a:ext cx="10332720" cy="640080"/>
          </a:xfrm>
          <a:prstGeom prst="rect">
            <a:avLst/>
          </a:prstGeom>
          <a:noFill/>
          <a:ln/>
        </p:spPr>
        <p:txBody>
          <a:bodyPr wrap="square" lIns="0" tIns="0" rIns="0" bIns="0" rtlCol="0" anchor="ctr"/>
          <a:lstStyle/>
          <a:p>
            <a:pPr marL="0" indent="0" algn="ctr">
              <a:buNone/>
            </a:pPr>
            <a:r>
              <a:rPr lang="en-US" sz="2000" i="1" dirty="0">
                <a:solidFill>
                  <a:srgbClr val="C9A961"/>
                </a:solidFill>
                <a:latin typeface="Calibri" pitchFamily="34" charset="0"/>
                <a:ea typeface="Calibri" pitchFamily="34" charset="-122"/>
                <a:cs typeface="Calibri" pitchFamily="34" charset="-120"/>
              </a:rPr>
              <a:t>Gracias por su atención</a:t>
            </a:r>
            <a:endParaRPr lang="en-US" sz="2000" dirty="0"/>
          </a:p>
        </p:txBody>
      </p:sp>
      <p:sp>
        <p:nvSpPr>
          <p:cNvPr id="4" name="Text 2"/>
          <p:cNvSpPr/>
          <p:nvPr/>
        </p:nvSpPr>
        <p:spPr>
          <a:xfrm>
            <a:off x="914400" y="1920240"/>
            <a:ext cx="10332720" cy="1097280"/>
          </a:xfrm>
          <a:prstGeom prst="rect">
            <a:avLst/>
          </a:prstGeom>
          <a:noFill/>
          <a:ln/>
        </p:spPr>
        <p:txBody>
          <a:bodyPr wrap="square" lIns="0" tIns="0" rIns="0" bIns="0" rtlCol="0" anchor="ctr"/>
          <a:lstStyle/>
          <a:p>
            <a:pPr marL="0" indent="0" algn="ctr">
              <a:buNone/>
            </a:pPr>
            <a:r>
              <a:rPr lang="en-US" sz="7000" b="1" dirty="0">
                <a:solidFill>
                  <a:srgbClr val="FFFFFF"/>
                </a:solidFill>
                <a:latin typeface="Georgia" pitchFamily="34" charset="0"/>
                <a:ea typeface="Georgia" pitchFamily="34" charset="-122"/>
                <a:cs typeface="Georgia" pitchFamily="34" charset="-120"/>
              </a:rPr>
              <a:t>¿Preguntas?</a:t>
            </a:r>
            <a:endParaRPr lang="en-US" sz="7000" dirty="0"/>
          </a:p>
        </p:txBody>
      </p:sp>
      <p:sp>
        <p:nvSpPr>
          <p:cNvPr id="5" name="Shape 3"/>
          <p:cNvSpPr/>
          <p:nvPr/>
        </p:nvSpPr>
        <p:spPr>
          <a:xfrm>
            <a:off x="5623560" y="3291840"/>
            <a:ext cx="914400" cy="54864"/>
          </a:xfrm>
          <a:prstGeom prst="rect">
            <a:avLst/>
          </a:prstGeom>
          <a:solidFill>
            <a:srgbClr val="B8860B"/>
          </a:solidFill>
          <a:ln/>
        </p:spPr>
        <p:txBody>
          <a:bodyPr/>
          <a:lstStyle/>
          <a:p>
            <a:endParaRPr lang="es-PE"/>
          </a:p>
        </p:txBody>
      </p:sp>
      <p:sp>
        <p:nvSpPr>
          <p:cNvPr id="6" name="Shape 4"/>
          <p:cNvSpPr/>
          <p:nvPr/>
        </p:nvSpPr>
        <p:spPr>
          <a:xfrm>
            <a:off x="1371600" y="3840480"/>
            <a:ext cx="9418320" cy="1920240"/>
          </a:xfrm>
          <a:prstGeom prst="rect">
            <a:avLst/>
          </a:prstGeom>
          <a:solidFill>
            <a:srgbClr val="2F3C7E"/>
          </a:solidFill>
          <a:ln/>
        </p:spPr>
        <p:txBody>
          <a:bodyPr/>
          <a:lstStyle/>
          <a:p>
            <a:endParaRPr lang="es-PE"/>
          </a:p>
        </p:txBody>
      </p:sp>
      <p:sp>
        <p:nvSpPr>
          <p:cNvPr id="7" name="Text 5"/>
          <p:cNvSpPr/>
          <p:nvPr/>
        </p:nvSpPr>
        <p:spPr>
          <a:xfrm>
            <a:off x="1554480" y="3977640"/>
            <a:ext cx="9052560" cy="320040"/>
          </a:xfrm>
          <a:prstGeom prst="rect">
            <a:avLst/>
          </a:prstGeom>
          <a:noFill/>
          <a:ln/>
        </p:spPr>
        <p:txBody>
          <a:bodyPr wrap="square" lIns="0" tIns="0" rIns="0" bIns="0" rtlCol="0" anchor="ctr"/>
          <a:lstStyle/>
          <a:p>
            <a:pPr marL="0" indent="0" algn="ctr">
              <a:buNone/>
            </a:pPr>
            <a:r>
              <a:rPr lang="en-US" sz="1000" b="1" kern="0" spc="400" dirty="0">
                <a:solidFill>
                  <a:srgbClr val="C9A961"/>
                </a:solidFill>
                <a:latin typeface="Calibri" pitchFamily="34" charset="0"/>
                <a:ea typeface="Calibri" pitchFamily="34" charset="-122"/>
                <a:cs typeface="Calibri" pitchFamily="34" charset="-120"/>
              </a:rPr>
              <a:t>ENTREGABLES</a:t>
            </a:r>
            <a:endParaRPr lang="en-US" sz="1000" dirty="0"/>
          </a:p>
        </p:txBody>
      </p:sp>
      <p:sp>
        <p:nvSpPr>
          <p:cNvPr id="8" name="Text 6"/>
          <p:cNvSpPr/>
          <p:nvPr/>
        </p:nvSpPr>
        <p:spPr>
          <a:xfrm>
            <a:off x="1554480" y="4297680"/>
            <a:ext cx="9052560" cy="1417320"/>
          </a:xfrm>
          <a:prstGeom prst="rect">
            <a:avLst/>
          </a:prstGeom>
          <a:noFill/>
          <a:ln/>
        </p:spPr>
        <p:txBody>
          <a:bodyPr wrap="square" lIns="0" tIns="0" rIns="0" bIns="0" rtlCol="0" anchor="ctr"/>
          <a:lstStyle/>
          <a:p>
            <a:pPr marL="0" indent="0" algn="ctr">
              <a:spcAft>
                <a:spcPts val="300"/>
              </a:spcAft>
              <a:buNone/>
            </a:pPr>
            <a:r>
              <a:rPr lang="en-US" sz="1400" b="1" dirty="0">
                <a:solidFill>
                  <a:srgbClr val="FFFFFF"/>
                </a:solidFill>
                <a:latin typeface="Calibri" pitchFamily="34" charset="0"/>
                <a:ea typeface="Calibri" pitchFamily="34" charset="-122"/>
                <a:cs typeface="Calibri" pitchFamily="34" charset="-120"/>
              </a:rPr>
              <a:t>Esta presentación  </a:t>
            </a:r>
            <a:r>
              <a:rPr lang="en-US" sz="1300" i="1" dirty="0">
                <a:solidFill>
                  <a:srgbClr val="E8EDF5"/>
                </a:solidFill>
                <a:latin typeface="Calibri" pitchFamily="34" charset="0"/>
                <a:ea typeface="Calibri" pitchFamily="34" charset="-122"/>
                <a:cs typeface="Calibri" pitchFamily="34" charset="-120"/>
              </a:rPr>
              <a:t>(.pptx)</a:t>
            </a:r>
            <a:endParaRPr lang="en-US" sz="1300" dirty="0"/>
          </a:p>
          <a:p>
            <a:pPr marL="0" indent="0" algn="ctr">
              <a:spcAft>
                <a:spcPts val="300"/>
              </a:spcAft>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marL="0" indent="0" algn="ctr">
              <a:spcAft>
                <a:spcPts val="300"/>
              </a:spcAft>
              <a:buNone/>
            </a:pPr>
            <a:r>
              <a:rPr lang="en-US" sz="1400" b="1" dirty="0">
                <a:solidFill>
                  <a:srgbClr val="FFFFFF"/>
                </a:solidFill>
                <a:latin typeface="Calibri" pitchFamily="34" charset="0"/>
                <a:ea typeface="Calibri" pitchFamily="34" charset="-122"/>
                <a:cs typeface="Calibri" pitchFamily="34" charset="-120"/>
              </a:rPr>
              <a:t>Notebook completo  </a:t>
            </a:r>
            <a:r>
              <a:rPr lang="en-US" sz="1300" i="1" dirty="0">
                <a:solidFill>
                  <a:srgbClr val="E8EDF5"/>
                </a:solidFill>
                <a:latin typeface="Calibri" pitchFamily="34" charset="0"/>
                <a:ea typeface="Calibri" pitchFamily="34" charset="-122"/>
                <a:cs typeface="Calibri" pitchFamily="34" charset="-120"/>
              </a:rPr>
              <a:t>(.ipynb en GitHub)</a:t>
            </a:r>
            <a:endParaRPr lang="en-US" sz="1300" dirty="0"/>
          </a:p>
          <a:p>
            <a:pPr marL="0" indent="0" algn="ctr">
              <a:spcAft>
                <a:spcPts val="300"/>
              </a:spcAft>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marL="0" indent="0" algn="ctr">
              <a:spcAft>
                <a:spcPts val="300"/>
              </a:spcAft>
              <a:buNone/>
            </a:pPr>
            <a:r>
              <a:rPr lang="en-US" sz="1100" dirty="0">
                <a:solidFill>
                  <a:srgbClr val="C9A961"/>
                </a:solidFill>
                <a:latin typeface="Calibri" pitchFamily="34" charset="0"/>
                <a:ea typeface="Calibri" pitchFamily="34" charset="-122"/>
                <a:cs typeface="Calibri" pitchFamily="34" charset="-120"/>
              </a:rPr>
              <a:t>Referencia: </a:t>
            </a:r>
            <a:r>
              <a:rPr lang="en-US" sz="1100" dirty="0">
                <a:solidFill>
                  <a:srgbClr val="FFFFFF"/>
                </a:solidFill>
                <a:latin typeface="Calibri" pitchFamily="34" charset="0"/>
                <a:ea typeface="Calibri" pitchFamily="34" charset="-122"/>
                <a:cs typeface="Calibri" pitchFamily="34" charset="-120"/>
              </a:rPr>
              <a:t>Woo et al. (2022). </a:t>
            </a:r>
            <a:r>
              <a:rPr lang="en-US" sz="1100" i="1" dirty="0">
                <a:solidFill>
                  <a:srgbClr val="FFFFFF"/>
                </a:solidFill>
                <a:latin typeface="Calibri" pitchFamily="34" charset="0"/>
                <a:ea typeface="Calibri" pitchFamily="34" charset="-122"/>
                <a:cs typeface="Calibri" pitchFamily="34" charset="-120"/>
              </a:rPr>
              <a:t>ETSformer.</a:t>
            </a:r>
            <a:r>
              <a:rPr lang="en-US" sz="1100" b="1" dirty="0">
                <a:solidFill>
                  <a:srgbClr val="C9A961"/>
                </a:solidFill>
                <a:latin typeface="Calibri" pitchFamily="34" charset="0"/>
                <a:ea typeface="Calibri" pitchFamily="34" charset="-122"/>
                <a:cs typeface="Calibri" pitchFamily="34" charset="-120"/>
              </a:rPr>
              <a:t>  arXiv:2202.01381</a:t>
            </a:r>
            <a:endParaRPr lang="en-US" sz="1300" dirty="0"/>
          </a:p>
        </p:txBody>
      </p:sp>
      <p:sp>
        <p:nvSpPr>
          <p:cNvPr id="9" name="Text 7"/>
          <p:cNvSpPr/>
          <p:nvPr/>
        </p:nvSpPr>
        <p:spPr>
          <a:xfrm>
            <a:off x="914400" y="6355080"/>
            <a:ext cx="10332720" cy="274320"/>
          </a:xfrm>
          <a:prstGeom prst="rect">
            <a:avLst/>
          </a:prstGeom>
          <a:noFill/>
          <a:ln/>
        </p:spPr>
        <p:txBody>
          <a:bodyPr wrap="square" lIns="0" tIns="0" rIns="0" bIns="0" rtlCol="0" anchor="ctr"/>
          <a:lstStyle/>
          <a:p>
            <a:pPr marL="0" indent="0" algn="ctr">
              <a:buNone/>
            </a:pPr>
            <a:r>
              <a:rPr lang="en-US" sz="1100" i="1" dirty="0">
                <a:solidFill>
                  <a:srgbClr val="E8EDF5"/>
                </a:solidFill>
                <a:latin typeface="Calibri" pitchFamily="34" charset="0"/>
                <a:ea typeface="Calibri" pitchFamily="34" charset="-122"/>
                <a:cs typeface="Calibri" pitchFamily="34" charset="-120"/>
              </a:rPr>
              <a:t>Presentado por  Analy Quesquen  ·  Mayo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3571</Words>
  <Application>Microsoft Office PowerPoint</Application>
  <PresentationFormat>Panorámica</PresentationFormat>
  <Paragraphs>442</Paragraphs>
  <Slides>23</Slides>
  <Notes>23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23</vt:i4>
      </vt:variant>
    </vt:vector>
  </HeadingPairs>
  <TitlesOfParts>
    <vt:vector size="29" baseType="lpstr">
      <vt:lpstr>-apple-system</vt:lpstr>
      <vt:lpstr>Aptos</vt: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ETSformer aplicado a consumo eléctrico</dc:title>
  <dc:subject>PptxGenJS Presentation</dc:subject>
  <dc:creator>Analy Quesquen</dc:creator>
  <cp:lastModifiedBy>Analy Quesquén Carvallo</cp:lastModifiedBy>
  <cp:revision>11</cp:revision>
  <dcterms:created xsi:type="dcterms:W3CDTF">2026-05-25T22:55:07Z</dcterms:created>
  <dcterms:modified xsi:type="dcterms:W3CDTF">2026-05-27T18:35:40Z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757377-0401-407d-8b98-6c128e7b9603_Enabled">
    <vt:lpwstr>true</vt:lpwstr>
  </property>
  <property fmtid="{D5CDD505-2E9C-101B-9397-08002B2CF9AE}" pid="3" name="MSIP_Label_4f757377-0401-407d-8b98-6c128e7b9603_SetDate">
    <vt:lpwstr>2026-05-27T18:34:53Z</vt:lpwstr>
  </property>
  <property fmtid="{D5CDD505-2E9C-101B-9397-08002B2CF9AE}" pid="4" name="MSIP_Label_4f757377-0401-407d-8b98-6c128e7b9603_Method">
    <vt:lpwstr>Privileged</vt:lpwstr>
  </property>
  <property fmtid="{D5CDD505-2E9C-101B-9397-08002B2CF9AE}" pid="5" name="MSIP_Label_4f757377-0401-407d-8b98-6c128e7b9603_Name">
    <vt:lpwstr>D Público</vt:lpwstr>
  </property>
  <property fmtid="{D5CDD505-2E9C-101B-9397-08002B2CF9AE}" pid="6" name="MSIP_Label_4f757377-0401-407d-8b98-6c128e7b9603_SiteId">
    <vt:lpwstr>93bad4f3-de97-4780-8264-06f1530eeef6</vt:lpwstr>
  </property>
  <property fmtid="{D5CDD505-2E9C-101B-9397-08002B2CF9AE}" pid="7" name="MSIP_Label_4f757377-0401-407d-8b98-6c128e7b9603_ActionId">
    <vt:lpwstr>1483ba85-1b9e-409d-ad96-8483ff27c5ba</vt:lpwstr>
  </property>
  <property fmtid="{D5CDD505-2E9C-101B-9397-08002B2CF9AE}" pid="8" name="MSIP_Label_4f757377-0401-407d-8b98-6c128e7b9603_ContentBits">
    <vt:lpwstr>2</vt:lpwstr>
  </property>
  <property fmtid="{D5CDD505-2E9C-101B-9397-08002B2CF9AE}" pid="9" name="MSIP_Label_4f757377-0401-407d-8b98-6c128e7b9603_Tag">
    <vt:lpwstr>10, 0, 1, 1</vt:lpwstr>
  </property>
  <property fmtid="{D5CDD505-2E9C-101B-9397-08002B2CF9AE}" pid="10" name="ClassificationContentMarkingFooterLocations">
    <vt:lpwstr>Office Theme:3</vt:lpwstr>
  </property>
  <property fmtid="{D5CDD505-2E9C-101B-9397-08002B2CF9AE}" pid="11" name="ClassificationContentMarkingFooterText">
    <vt:lpwstr>Confidencialidad - D</vt:lpwstr>
  </property>
</Properties>
</file>